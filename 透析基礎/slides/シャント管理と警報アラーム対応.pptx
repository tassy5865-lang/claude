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透析基礎 研修スライド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83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A4F54"/>
                </a:solidFill>
                <a:latin typeface="Yu Gothic UI"/>
              </a:rPr>
              <a:t>シャント管理と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0A4F54"/>
                </a:solidFill>
                <a:latin typeface="Yu Gothic UI"/>
              </a:rPr>
              <a:t>警報アラーム対応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C6B72"/>
                </a:solidFill>
                <a:latin typeface="Yu Gothic UI"/>
              </a:rPr>
              <a:t>透析未経験看護師・新人臨床工学技士向け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51960"/>
            <a:ext cx="10881360" cy="12700"/>
          </a:xfrm>
          <a:prstGeom prst="rect">
            <a:avLst/>
          </a:prstGeom>
          <a:solidFill>
            <a:srgbClr val="E1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5C6B72"/>
                </a:solidFill>
                <a:latin typeface="Yu Gothic UI"/>
              </a:rPr>
              <a:t>出典: shunt_basics.pptx / 透析警報アラーム研修資料_全体版(修復済み)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5C6B72"/>
                </a:solidFill>
                <a:latin typeface="Yu Gothic UI"/>
              </a:rPr>
              <a:t>構成: 09_シャント管理とトラブル対応.md ・ 10_透析中の警報アラーム対応.md を基に作成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本日の内容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4864" cy="18288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56816"/>
            <a:ext cx="4901184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A4F54"/>
                </a:solidFill>
                <a:latin typeface="Yu Gothic UI"/>
              </a:rPr>
              <a:t>PART 1. シャント管理とトラブル対応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50">
                <a:solidFill>
                  <a:srgbClr val="5C6B72"/>
                </a:solidFill>
                <a:latin typeface="Yu Gothic UI"/>
              </a:rPr>
              <a:t>VAの基礎、視診・触診・聴診による観察、代表的なシャントトラブル(脱血不良・静脈圧上昇・再循環・止血/穿刺困難)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4864" cy="18288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56816"/>
            <a:ext cx="4901184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>PART 2. 透析中の警報アラーム対応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50">
                <a:solidFill>
                  <a:srgbClr val="7A2E2A"/>
                </a:solidFill>
                <a:latin typeface="Yu Gothic UI"/>
              </a:rPr>
              <a:t>回路の基本構造、各アラームの原因・確認・対応、緊急度別の初動フロー、ヒヤリハット事例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6B72"/>
                </a:solidFill>
                <a:latin typeface="Yu Gothic UI"/>
              </a:rPr>
              <a:t>体外循環という透析の特性上、シャントと回路の異常はどちらも早期発見・早期対応が患者の安全に直結します。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>
                <a:solidFill>
                  <a:srgbClr val="E4F1F1"/>
                </a:solidFill>
                <a:latin typeface="Yu Gothic U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2491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06324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A4F54"/>
                </a:solidFill>
                <a:latin typeface="Yu Gothic UI"/>
              </a:rPr>
              <a:t>シャント管理と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0A4F54"/>
                </a:solidFill>
                <a:latin typeface="Yu Gothic UI"/>
              </a:rPr>
              <a:t>トラブル対応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出典: shunt_basics.pptx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バスキュラーアクセス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VA(バスキュラーアクセス)とは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血液浄化(血液透析など)を施行するために必要な、血液の出入り口。血液透析患者にとって必要不可欠なもの。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4864" cy="210312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59736"/>
            <a:ext cx="3099816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>AVF (自己血管内シャント)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50">
                <a:solidFill>
                  <a:srgbClr val="5C6B72"/>
                </a:solidFill>
                <a:latin typeface="Yu Gothic UI"/>
              </a:rPr>
              <a:t>動脈と静脈を外科的に吻合。動脈血流が直接静脈へ流入。最も割合が多く、開存性に優れる。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33172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2331720"/>
            <a:ext cx="54864" cy="210312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459736"/>
            <a:ext cx="3099816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>AVG (人工血管内シャント)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50">
                <a:solidFill>
                  <a:srgbClr val="5C6B72"/>
                </a:solidFill>
                <a:latin typeface="Yu Gothic UI"/>
              </a:rPr>
              <a:t>人工血管を移植して動静脈をそれぞれ吻合。動静脈が細くAVFが作製できない場合に適応。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331720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18704" y="2331720"/>
            <a:ext cx="54864" cy="210312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2459736"/>
            <a:ext cx="3099816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>動脈表在化 (非シャント)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50">
                <a:solidFill>
                  <a:srgbClr val="5C6B72"/>
                </a:solidFill>
                <a:latin typeface="Yu Gothic UI"/>
              </a:rPr>
              <a:t>動脈を皮下浅くに移動し穿刺しやすくする。短絡は作らず返血用静脈が別途必要。心機能不良などで適応。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6B72"/>
                </a:solidFill>
                <a:latin typeface="Yu Gothic UI"/>
              </a:rPr>
              <a:t>超音波検査はVAの機能・形態を評価し、管理・治療方針に活用する情報を提供する。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基礎知識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血管解剖(上肢)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VAの構造・異常部位を把握するための土台となる知識。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303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54864" cy="292608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14016"/>
            <a:ext cx="4901184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>動脈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300">
                <a:solidFill>
                  <a:srgbClr val="5C6B72"/>
                </a:solidFill>
                <a:latin typeface="Yu Gothic UI"/>
              </a:rPr>
              <a:t>鎖骨下動脈 → 腋窩動脈 → 上腕動脈 → 橈骨動脈・尺骨動脈 → 深掌動脈弓・浅掌動脈弓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303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54864" cy="292608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14016"/>
            <a:ext cx="4901184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>静脈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50">
                <a:solidFill>
                  <a:srgbClr val="5C6B72"/>
                </a:solidFill>
                <a:latin typeface="Yu Gothic UI"/>
              </a:rPr>
              <a:t>【表在静脈(吻合部に使用)】
橈側皮静脈(AVFでよく使用)・尺側皮静脈・副橈側皮静脈・肘正中皮静脈
【深部静脈】
腕頭静脈 ← 鎖骨下静脈 ← 腋窩静脈 ← 上腕静脈 ← 橈骨静脈・尺骨静脈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日常観察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身体所見によるシャント観察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視診・触診・聴診によって、血流の程度や病変部位をおおまかに推測できる。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4864" cy="146304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59736"/>
            <a:ext cx="309981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6B72"/>
                </a:solidFill>
                <a:latin typeface="Yu Gothic UI"/>
              </a:rPr>
              <a:t>視診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50">
                <a:solidFill>
                  <a:srgbClr val="5C6B72"/>
                </a:solidFill>
                <a:latin typeface="Yu Gothic UI"/>
              </a:rPr>
              <a:t>腫脹・色調・膨隆など、見た目の変化を確認する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33172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2331720"/>
            <a:ext cx="54864" cy="146304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459736"/>
            <a:ext cx="309981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6B72"/>
                </a:solidFill>
                <a:latin typeface="Yu Gothic UI"/>
              </a:rPr>
              <a:t>触診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50">
                <a:solidFill>
                  <a:srgbClr val="5C6B72"/>
                </a:solidFill>
                <a:latin typeface="Yu Gothic UI"/>
              </a:rPr>
              <a:t>スリル(振動)を3本指で全体評価、1本指で局所評価する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33172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18704" y="2331720"/>
            <a:ext cx="54864" cy="146304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2459736"/>
            <a:ext cx="309981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6B72"/>
                </a:solidFill>
                <a:latin typeface="Yu Gothic UI"/>
              </a:rPr>
              <a:t>聴診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50">
                <a:solidFill>
                  <a:srgbClr val="5C6B72"/>
                </a:solidFill>
                <a:latin typeface="Yu Gothic UI"/>
              </a:rPr>
              <a:t>シャント音の性状(音の高さ・強さ)を聴取する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6B72"/>
                </a:solidFill>
                <a:latin typeface="Yu Gothic UI"/>
              </a:rPr>
              <a:t>所見のみでは確定診断はできない。異常を疑う場合は超音波検査による精密評価と組み合わせる。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観察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視診で見るポイント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所見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疑われる病態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腫脹・皮下血管拡張・顔面浮腫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静脈高血圧症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手指の潰瘍形成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スチール症候群 / 静脈高血圧症(ソアサム症候群)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発赤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感染 / 血栓性静脈炎 / 接触性皮膚炎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膨隆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真性瘤 / 仮性瘤 / 血管の蛇行 / 血腫 / 感染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手指・爪の色調不良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スチール症候群 / 末梢循環障害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観察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触診で見るポイント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所見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疑われる病態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拍動性(断続的)に触知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中枢側の狭窄・閉塞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局所のスリルを触知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その近傍の狭窄(1本指で評価)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スリルの減弱・血管の虚脱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末梢側の狭窄・閉塞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血管そのものが硬い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血栓形成・石灰化沈着・壁在血栓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スリル・拍動が消失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シャント閉塞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6B72"/>
                </a:solidFill>
                <a:latin typeface="Yu Gothic UI"/>
              </a:rPr>
              <a:t>スリルは3本指で全体評価、1本指で局所評価(狭窄が疑われる部位の特定)を行う。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観察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聴診で見るポイント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所見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疑われる病態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高調音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その部位の狭窄病変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拍動音(断続的)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中枢側の狭窄・閉塞病変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中枢側まで届く大きな音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過剰血流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微弱な音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低血圧 / 脱水 / 動脈硬化 など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6B72"/>
                </a:solidFill>
                <a:latin typeface="Yu Gothic UI"/>
              </a:rPr>
              <a:t>高調音が聴取されても狭窄がない場合、狭窄があっても高調音を聴取しない場合もあり、所見のみで確定診断はできない。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シャントトラブル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代表的な4つのトラブル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54864" cy="146304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31136"/>
            <a:ext cx="2203704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>脱血不良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7A2E2A"/>
                </a:solidFill>
                <a:latin typeface="Yu Gothic UI"/>
              </a:rPr>
              <a:t>最も多く遭遇する異常所見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1031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2103120"/>
            <a:ext cx="54864" cy="146304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231136"/>
            <a:ext cx="2203704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>静脈圧上昇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7A2E2A"/>
                </a:solidFill>
                <a:latin typeface="Yu Gothic UI"/>
              </a:rPr>
              <a:t>返血部位の血管内圧上昇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1031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2103120"/>
            <a:ext cx="54864" cy="146304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231136"/>
            <a:ext cx="2203704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>再循環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7A2E2A"/>
                </a:solidFill>
                <a:latin typeface="Yu Gothic UI"/>
              </a:rPr>
              <a:t>返血血液の再脱血、効率低下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210312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24544" y="2103120"/>
            <a:ext cx="54864" cy="146304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2231136"/>
            <a:ext cx="2203704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>止血・穿刺困難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7A2E2A"/>
                </a:solidFill>
                <a:latin typeface="Yu Gothic UI"/>
              </a:rPr>
              <a:t>抜針後の止血/穿刺手技の困難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6B72"/>
                </a:solidFill>
                <a:latin typeface="Yu Gothic UI"/>
              </a:rPr>
              <a:t>次のスライドから、それぞれの原因を詳しく見ていきます。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トラブル 1/4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脱血不良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所定の血流量がVAから脱血できない状態。 透析治療で最も多く遭遇する異常所見のひとつ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088136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227685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203704"/>
            <a:ext cx="10104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穿刺部位の血流量低下(吻合部〜脱血穿刺部位間の狭窄・閉塞、側副静脈の存在、流入動脈・中枢動脈の狭窄・閉塞、脱水・低血圧・心機能低下などの全身状態)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88136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309981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026664"/>
            <a:ext cx="10104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穿刺針外套が正しく血管内に留置されていない(狭窄部・血栓・血管壁・静脈弁に先端が当たっているなど)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88136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96" y="392277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849624"/>
            <a:ext cx="10104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透析用血液回路内の異常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トラブル 2/4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静脈圧の上昇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返血部位の血管内圧が上昇すること。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218541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112264"/>
            <a:ext cx="10104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返血穿刺部(針先近傍)、もしくはより中枢側の狭窄・閉塞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34056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2862072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788920"/>
            <a:ext cx="10104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血液回路内の異常、Qb(血流量)に比して返血穿刺針のサイズが小さい場合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96" y="3538728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465576"/>
            <a:ext cx="10104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血管蛇行・隔壁・血管荒廃、または過剰血流による相対的な血管内圧上昇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33088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33088"/>
            <a:ext cx="54864" cy="777240"/>
          </a:xfrm>
          <a:prstGeom prst="rect">
            <a:avLst/>
          </a:prstGeom>
          <a:solidFill>
            <a:srgbClr val="C7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261104"/>
            <a:ext cx="1047902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7891F"/>
                </a:solidFill>
                <a:latin typeface="Yu Gothic UI"/>
              </a:rPr>
              <a:t/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00">
                <a:solidFill>
                  <a:srgbClr val="6B4E10"/>
                </a:solidFill>
                <a:latin typeface="Yu Gothic UI"/>
              </a:rPr>
              <a:t>脱血部と返血部の間に狭窄病変がある場合、静脈圧の異常所見が出にくいことがある(末梢側での脱血・中枢側での返血では静脈圧は上昇しない)。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トラブル 3/4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再循環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返血された血液の一部または大半が、脱血部位から再度透析用血液回路側に引き込まれる現象。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53035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54864" cy="155448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05456"/>
            <a:ext cx="4901184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>目安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300">
                <a:solidFill>
                  <a:srgbClr val="5C6B72"/>
                </a:solidFill>
                <a:latin typeface="Yu Gothic UI"/>
              </a:rPr>
              <a:t>概ね10%以上の再循環率がある場合は原因を精査する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53035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54864" cy="155448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505456"/>
            <a:ext cx="4901184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>影響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300">
                <a:solidFill>
                  <a:srgbClr val="5C6B72"/>
                </a:solidFill>
                <a:latin typeface="Yu Gothic UI"/>
              </a:rPr>
              <a:t>脱血不良に気づきにくくなる / 除水経過に伴う回路内濃縮 / 著しい透析効率の低下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6B72"/>
                </a:solidFill>
                <a:latin typeface="Yu Gothic UI"/>
              </a:rPr>
              <a:t>主な要因: 脱血部・返血部の位置関係、その間の血管の狭窄・閉塞など。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トラブル 4/4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止血困難・穿刺困難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4864" cy="3749039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65376"/>
            <a:ext cx="4901184" cy="3529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>止血困難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50">
                <a:solidFill>
                  <a:srgbClr val="5C6B72"/>
                </a:solidFill>
                <a:latin typeface="Yu Gothic UI"/>
              </a:rPr>
              <a:t>抜針後の止血に要する時間が長くなる。
・穿刺部位より中枢側の狭窄・閉塞(止血部位の血管内圧上昇)
・抗凝固薬/抗血小板薬の影響
・皮膚の脆弱、血管壁の荒廃、皮膚〜血管の距離が短い等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0352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" cy="3749039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65376"/>
            <a:ext cx="4901184" cy="3529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>穿刺困難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50">
                <a:solidFill>
                  <a:srgbClr val="5C6B72"/>
                </a:solidFill>
                <a:latin typeface="Yu Gothic UI"/>
              </a:rPr>
              <a:t>血管内の適切な位置に穿刺針を留置することが困難。
【内針挿入困難】狭窄・閉塞・壁在血栓・石灰化・血管径/深さ・血流低下
【外套が進まない】狭窄・閉塞・血栓・静脈弁・蛇行・隔壁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PART 1 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シャント管理のポイント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8813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86537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104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VAは血液透析の生命線。シャントが使えなければ透析治療自体が継続できない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108813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250545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432304"/>
            <a:ext cx="10104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短絡を形成する「シャント(AVF/AVG)」と、短絡のない「非シャント」に大別される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8813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8096" y="314553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072384"/>
            <a:ext cx="10104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上肢の血管解剖の理解が、VAの構造・異常部位を把握する土台になる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096" y="378561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712464"/>
            <a:ext cx="10104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視診・触診・聴診による日常観察が、トラブルの早期発見につながる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97680"/>
            <a:ext cx="108813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8096" y="442569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352544"/>
            <a:ext cx="10104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基礎知識の多職種共有 + 超音波検査による精密評価が、安全な透析管理を支える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>
                <a:solidFill>
                  <a:srgbClr val="F6D8D6"/>
                </a:solidFill>
                <a:latin typeface="Yu Gothic U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2491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06324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C6423C"/>
                </a:solidFill>
                <a:latin typeface="Yu Gothic UI"/>
              </a:rPr>
              <a:t>透析中の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C6423C"/>
                </a:solidFill>
                <a:latin typeface="Yu Gothic UI"/>
              </a:rPr>
              <a:t>警報アラーム対応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出典: 透析警報アラーム研修資料_全体版(修復済み)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なぜ学ぶのか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対応の遅れが致死的合併症につながる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透析は体外循環という特性上、対応の遅れがそのまま致死的な合併症につながり得る。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4864" cy="16002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59736"/>
            <a:ext cx="2203704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>大量出血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7A2E2A"/>
                </a:solidFill>
                <a:latin typeface="Yu Gothic UI"/>
              </a:rPr>
              <a:t>抜針・回路離断で短時間に大量出血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33172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2331720"/>
            <a:ext cx="54864" cy="16002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2459736"/>
            <a:ext cx="2203704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>回路閉塞・凝血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7A2E2A"/>
                </a:solidFill>
                <a:latin typeface="Yu Gothic UI"/>
              </a:rPr>
              <a:t>対応が遅れると血液浄化自体が不可能に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33172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2331720"/>
            <a:ext cx="54864" cy="16002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459736"/>
            <a:ext cx="2203704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>空気塞栓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7A2E2A"/>
                </a:solidFill>
                <a:latin typeface="Yu Gothic UI"/>
              </a:rPr>
              <a:t>微量の気泡でも心臓・脳に達すれば重篤化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233172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2331720"/>
            <a:ext cx="54864" cy="16002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459736"/>
            <a:ext cx="2203704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>血圧低下・ショック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7A2E2A"/>
                </a:solidFill>
                <a:latin typeface="Yu Gothic UI"/>
              </a:rPr>
              <a:t>除水・体外循環による急な循環動態変化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6423C"/>
                </a:solidFill>
                <a:latin typeface="Yu Gothic UI"/>
              </a:rPr>
              <a:t>アラームは、これらの致死的合併症を未然に防ぐための「最後の砦」。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前提知識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透析回路の基本構造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58952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構成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役割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脱血側(動脈側・A)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患者から血液を体外に引き出すライン。血液ポンプの吸引力がかかる区間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返血側(静脈側・V)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ダイアライザを通った血液を体内に戻すライン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ダイアライザ(人工腎臓)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半透膜を介して老廃物・余分な水分を除去する回路の中心部品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A4F54"/>
                          </a:solidFill>
                          <a:latin typeface="Yu Gothic UI"/>
                        </a:rPr>
                        <a:t>安全装置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A30"/>
                          </a:solidFill>
                          <a:latin typeface="Yu Gothic UI"/>
                        </a:rPr>
                        <a:t>気泡検知器・血液漏れ検知器など。異常を検知し自動でポンプを停止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アラーム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静脈圧上限アラーム(圧力系)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静脈側(返血路)のどこかで抵抗が生じている可能性(屈曲・穿刺針の位置ずれ・凝血など)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8813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223113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157984"/>
            <a:ext cx="10104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回路の屈曲・腕の角度 → 屈曲を解除、腕を伸ばす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71216"/>
            <a:ext cx="108813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2999232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926080"/>
            <a:ext cx="10104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Vチャンバの凝血(穿刺トラブルが原因の8割とも) → 軽度なら生食洗浄、完全凝固ならV側回路のみ交換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39312"/>
            <a:ext cx="108813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96" y="3767328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694176"/>
            <a:ext cx="10104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針先の凝血・血管壁への接触 → 生食洗浄・向き調整、改善なければ再穿刺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07408"/>
            <a:ext cx="108813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8096" y="4535424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462272"/>
            <a:ext cx="10104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穿刺部より中枢側の狭窄 → 穿刺部変更、エコー評価のうえPTA検討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アラーム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静脈圧下限アラーム(圧力系)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穿刺針の抜けかけ・回路接続部の外れなど、出血につながる異常の可能性がある。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08813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218541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112264"/>
            <a:ext cx="10104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脱血不良(穿刺トラブル・抜針) — 血圧低下→循環血流速低下→脱血不良の経路もあり、バイタルも併せて確認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108813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2816352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743200"/>
            <a:ext cx="10104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Vチャンバまでの回路の屈曲 → 屈曲を解除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19272"/>
            <a:ext cx="108813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96" y="3447288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374136"/>
            <a:ext cx="10104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Vチャンバまでの凝固(ダイアライザ内含む) → 膜素材/ヘパリン量を見直し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50208"/>
            <a:ext cx="108813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8096" y="4078224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005072"/>
            <a:ext cx="10104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回路接続の緩み・クランプ忘れ → 接続とクランプを確認・是正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08576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608576"/>
            <a:ext cx="54864" cy="50292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736592"/>
            <a:ext cx="1047902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/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300">
                <a:solidFill>
                  <a:srgbClr val="C6423C"/>
                </a:solidFill>
                <a:latin typeface="Yu Gothic UI"/>
              </a:rPr>
              <a:t>出血があれば直ちに圧迫止血・ポンプ停止。改善なければ医師へ報告。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その他の主要アラーム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透析液系・安全装置系のアラーム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97680"/>
                <a:gridCol w="4114800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Yu Gothic UI"/>
                        </a:rPr>
                        <a:t>アラーム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Yu Gothic UI"/>
                        </a:rPr>
                        <a:t>原因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Yu Gothic UI"/>
                        </a:rPr>
                        <a:t>対応</a:t>
                      </a:r>
                    </a:p>
                  </a:txBody>
                  <a:tcPr marL="109728" marR="109728" marT="36576" marB="36576" anchor="ctr">
                    <a:solidFill>
                      <a:srgbClr val="0F6B7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A4F54"/>
                          </a:solidFill>
                          <a:latin typeface="Yu Gothic UI"/>
                        </a:rPr>
                        <a:t>透析液圧低下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A30"/>
                          </a:solidFill>
                          <a:latin typeface="Yu Gothic UI"/>
                        </a:rPr>
                        <a:t>脱血不良、透析液回路のリーク、供給ポンプ故障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A30"/>
                          </a:solidFill>
                          <a:latin typeface="Yu Gothic UI"/>
                        </a:rPr>
                        <a:t>針先修正/再穿刺、補液速度を落とす、機器点検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A4F54"/>
                          </a:solidFill>
                          <a:latin typeface="Yu Gothic UI"/>
                        </a:rPr>
                        <a:t>気泡検知器作動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A30"/>
                          </a:solidFill>
                          <a:latin typeface="Yu Gothic UI"/>
                        </a:rPr>
                        <a:t>接続部の緩み、脱血不良による微小気泡、補液ボトルの空打ち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A30"/>
                          </a:solidFill>
                          <a:latin typeface="Yu Gothic UI"/>
                        </a:rPr>
                        <a:t>ポンプ自動停止を確認 → 気泡を安全に除去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A4F54"/>
                          </a:solidFill>
                          <a:latin typeface="Yu Gothic UI"/>
                        </a:rPr>
                        <a:t>TMP異常上昇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A30"/>
                          </a:solidFill>
                          <a:latin typeface="Yu Gothic UI"/>
                        </a:rPr>
                        <a:t>ダイアライザ内凝血・除水量設定過多・フィルター目詰まり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A30"/>
                          </a:solidFill>
                          <a:latin typeface="Yu Gothic UI"/>
                        </a:rPr>
                        <a:t>抗凝固剤の見直し、改善なければダイアライザ交換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A4F54"/>
                          </a:solidFill>
                          <a:latin typeface="Yu Gothic UI"/>
                        </a:rPr>
                        <a:t>血液漏れ検知器作動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A30"/>
                          </a:solidFill>
                          <a:latin typeface="Yu Gothic UI"/>
                        </a:rPr>
                        <a:t>ダイアライザの膜破損、気泡による誤検知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A30"/>
                          </a:solidFill>
                          <a:latin typeface="Yu Gothic UI"/>
                        </a:rPr>
                        <a:t>排液の血性確認 → 陽性ならダイアライザ交換</a:t>
                      </a:r>
                    </a:p>
                  </a:txBody>
                  <a:tcPr marL="109728" marR="109728" marT="36576" marB="36576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6423C"/>
                </a:solidFill>
                <a:latin typeface="Yu Gothic UI"/>
              </a:rPr>
              <a:t>初動判断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緊急度別の初動フローチャート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00200"/>
            <a:ext cx="5029200" cy="502920"/>
          </a:xfrm>
          <a:prstGeom prst="roundRect">
            <a:avLst>
              <a:gd name="adj" fmla="val 15000"/>
            </a:avLst>
          </a:prstGeom>
          <a:solidFill>
            <a:srgbClr val="E4F1F1"/>
          </a:solidFill>
          <a:ln w="19050">
            <a:solidFill>
              <a:srgbClr val="0F6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A4F54"/>
                </a:solidFill>
                <a:latin typeface="Yu Gothic UI"/>
              </a:rPr>
              <a:t>アラームが鳴った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2140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C6B72"/>
                </a:solidFill>
                <a:latin typeface="Yu Gothic U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423160"/>
            <a:ext cx="5943600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F6B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C6B72"/>
                </a:solidFill>
                <a:latin typeface="Yu Gothic UI"/>
              </a:rPr>
              <a:t>生命に関わる兆候があるか?
(出血・意識レベル低下・重度血圧低下 など)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154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C6B72"/>
                </a:solidFill>
                <a:latin typeface="Yu Gothic U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3291840" cy="411480"/>
          </a:xfrm>
          <a:prstGeom prst="roundRect">
            <a:avLst>
              <a:gd name="adj" fmla="val 15000"/>
            </a:avLst>
          </a:prstGeom>
          <a:solidFill>
            <a:srgbClr val="C6423C"/>
          </a:solidFill>
          <a:ln w="19050">
            <a:solidFill>
              <a:srgbClr val="C64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はい → 緊急対応(ただちに)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520440"/>
            <a:ext cx="3657600" cy="411480"/>
          </a:xfrm>
          <a:prstGeom prst="roundRect">
            <a:avLst>
              <a:gd name="adj" fmla="val 15000"/>
            </a:avLst>
          </a:prstGeom>
          <a:solidFill>
            <a:srgbClr val="0F6B72"/>
          </a:solidFill>
          <a:ln w="19050">
            <a:solidFill>
              <a:srgbClr val="0F6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いいえ → 通常対応(まず確認→是正)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BEAE9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54864" cy="1737360"/>
          </a:xfrm>
          <a:prstGeom prst="rect">
            <a:avLst/>
          </a:prstGeom>
          <a:solidFill>
            <a:srgbClr val="C6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151376"/>
            <a:ext cx="4718304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C6423C"/>
                </a:solidFill>
                <a:latin typeface="Yu Gothic UI"/>
              </a:rPr>
              <a:t/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00">
                <a:solidFill>
                  <a:srgbClr val="7A2E2A"/>
                </a:solidFill>
                <a:latin typeface="Yu Gothic UI"/>
              </a:rPr>
              <a:t>・ただちに血液ポンプを停止
・圧迫止血・体位保持など応急処置
・医師・当直CEへ緊急連絡
・バイタルサインを測定・記録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02336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E4F1F1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4023360"/>
            <a:ext cx="54864" cy="173736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4151376"/>
            <a:ext cx="4992624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6B72"/>
                </a:solidFill>
                <a:latin typeface="Yu Gothic UI"/>
              </a:rPr>
              <a:t/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00">
                <a:solidFill>
                  <a:srgbClr val="0A4F54"/>
                </a:solidFill>
                <a:latin typeface="Yu Gothic UI"/>
              </a:rPr>
              <a:t>・表示内容と回路を確認
・該当箇所を是正(屈曲直し・接続確認等)
・是正後にポンプを再開
・改善しなければ医師/CEへ報告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6423C"/>
                </a:solidFill>
                <a:latin typeface="Yu Gothic UI"/>
              </a:rPr>
              <a:t>判断に迷ったら、常に「緊急対応」を優先する。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7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C7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7891F"/>
                </a:solidFill>
                <a:latin typeface="Yu Gothic UI"/>
              </a:rPr>
              <a:t>ヒヤリハット事例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よくある誤対応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B72"/>
                </a:solidFill>
                <a:latin typeface="Yu Gothic UI"/>
              </a:rPr>
              <a:t>「よくあること」という思い込みが、対応の遅れにつながる。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54864" cy="1828800"/>
          </a:xfrm>
          <a:prstGeom prst="rect">
            <a:avLst/>
          </a:prstGeom>
          <a:solidFill>
            <a:srgbClr val="C7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76856"/>
            <a:ext cx="4901184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C7891F"/>
                </a:solidFill>
                <a:latin typeface="Yu Gothic UI"/>
              </a:rPr>
              <a:t>抜針アラームへの対応遅れ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6B4E10"/>
                </a:solidFill>
                <a:latin typeface="Yu Gothic UI"/>
              </a:rPr>
              <a:t>「体動による誤作動だろう」と判断し目視確認を後回しに
教訓: 確認より先に「止める・見る」を最優先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54864" cy="1828800"/>
          </a:xfrm>
          <a:prstGeom prst="rect">
            <a:avLst/>
          </a:prstGeom>
          <a:solidFill>
            <a:srgbClr val="C7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276856"/>
            <a:ext cx="4901184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C7891F"/>
                </a:solidFill>
                <a:latin typeface="Yu Gothic UI"/>
              </a:rPr>
              <a:t>頻回の静脈圧上昇を軽視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6B4E10"/>
                </a:solidFill>
                <a:latin typeface="Yu Gothic UI"/>
              </a:rPr>
              <a:t>毎回鳴るからと原因確認せずリセットを繰り返す
教訓: 頻回のアラームこそ根本原因を都度見直す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54864" cy="1828800"/>
          </a:xfrm>
          <a:prstGeom prst="rect">
            <a:avLst/>
          </a:prstGeom>
          <a:solidFill>
            <a:srgbClr val="C7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88536"/>
            <a:ext cx="4901184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C7891F"/>
                </a:solidFill>
                <a:latin typeface="Yu Gothic UI"/>
              </a:rPr>
              <a:t>エア検知後クランプ確認省略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6B4E10"/>
                </a:solidFill>
                <a:latin typeface="Yu Gothic UI"/>
              </a:rPr>
              <a:t>ポンプ停止だけ確認しクランプを見ずに気泡除去
教訓: 「ポンプ停止」と「クランプ確認」は必ずセットで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4864" cy="1828800"/>
          </a:xfrm>
          <a:prstGeom prst="rect">
            <a:avLst/>
          </a:prstGeom>
          <a:solidFill>
            <a:srgbClr val="C78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4288536"/>
            <a:ext cx="4901184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C7891F"/>
                </a:solidFill>
                <a:latin typeface="Yu Gothic UI"/>
              </a:rPr>
              <a:t>原因を確認せずにリセット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100">
                <a:solidFill>
                  <a:srgbClr val="6B4E10"/>
                </a:solidFill>
                <a:latin typeface="Yu Gothic UI"/>
              </a:rPr>
              <a:t>表示をリセットして再開を優先し原因を確認しない
教訓: リセット前に「なぜ鳴ったか」を一呼吸おいて確認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C6B72"/>
                </a:solidFill>
                <a:latin typeface="Yu Gothic UI"/>
              </a:rP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76072"/>
            <a:ext cx="256032" cy="38100"/>
          </a:xfrm>
          <a:prstGeom prst="rect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B72"/>
                </a:solidFill>
                <a:latin typeface="Yu Gothic UI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E2A30"/>
                </a:solidFill>
                <a:latin typeface="Yu Gothic UI"/>
              </a:rPr>
              <a:t>本日のポイント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819656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46504"/>
            <a:ext cx="10104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シャント(VA)は透析の生命線。日々の視診・触診・聴診による観察が異常の早期発見につながる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68296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2496312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423160"/>
            <a:ext cx="10104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脱血不良・静脈圧上昇・再循環・止血/穿刺困難、それぞれの原因を整理して初動対応する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44952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8096" y="3172968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099816"/>
            <a:ext cx="10104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アラームは致死的合併症を防ぐ「最後の砦」。原因→確認→対応の流れで落ち着いて対処する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21608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096" y="3849624"/>
            <a:ext cx="310896" cy="310896"/>
          </a:xfrm>
          <a:prstGeom prst="ellipse">
            <a:avLst/>
          </a:prstGeom>
          <a:solidFill>
            <a:srgbClr val="0F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776472"/>
            <a:ext cx="10104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2A30"/>
                </a:solidFill>
                <a:latin typeface="Yu Gothic UI"/>
              </a:rPr>
              <a:t>生命に関わる兆候があれば、判断に迷わずただちに緊急対応を優先する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6B72"/>
                </a:solidFill>
                <a:latin typeface="Yu Gothic UI"/>
              </a:rPr>
              <a:t>詳細は 09_シャント管理とトラブル対応.md / 10_透析中の警報アラーム対応.md を参照。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