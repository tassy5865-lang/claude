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6" r:id="rId8"/>
    <p:sldId id="269" r:id="rId9"/>
    <p:sldId id="267" r:id="rId10"/>
    <p:sldId id="268" r:id="rId11"/>
    <p:sldId id="262" r:id="rId12"/>
    <p:sldId id="263" r:id="rId13"/>
    <p:sldId id="264" r:id="rId14"/>
    <p:sldId id="280" r:id="rId15"/>
    <p:sldId id="289" r:id="rId16"/>
    <p:sldId id="282" r:id="rId17"/>
    <p:sldId id="284" r:id="rId18"/>
    <p:sldId id="290" r:id="rId19"/>
    <p:sldId id="286" r:id="rId20"/>
    <p:sldId id="288" r:id="rId21"/>
    <p:sldId id="26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24353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13A2-C69C-0C32-1612-275D10292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5E74C-7CA6-21FF-1A9A-2D717EEE7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6F872F-C735-E5A5-0E03-6B16EDAD19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940A9-525D-536A-2DB7-ADA6FF4803E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44966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7DFC713-0CFE-407D-B6FB-44FA5A815E78}" type="slidenum">
              <a:rPr kumimoji="1" lang="ja-JP" altLang="en-US" smtClean="0"/>
              <a:t>9</a:t>
            </a:fld>
            <a:endParaRPr kumimoji="1" lang="ja-JP" altLang="en-US"/>
          </a:p>
        </p:txBody>
      </p:sp>
    </p:spTree>
    <p:extLst>
      <p:ext uri="{BB962C8B-B14F-4D97-AF65-F5344CB8AC3E}">
        <p14:creationId xmlns:p14="http://schemas.microsoft.com/office/powerpoint/2010/main" val="353962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橈骨動脈と橈側皮静脈を用いた，前腕末梢での </a:t>
            </a:r>
            <a:r>
              <a:rPr lang="en-US" altLang="ja-JP" dirty="0"/>
              <a:t>AVF </a:t>
            </a:r>
            <a:r>
              <a:rPr lang="ja-JP" altLang="en-US" dirty="0"/>
              <a:t>作製（</a:t>
            </a:r>
            <a:r>
              <a:rPr lang="en-US" altLang="ja-JP" dirty="0" err="1"/>
              <a:t>radiocephalic</a:t>
            </a:r>
            <a:r>
              <a:rPr lang="en-US" altLang="ja-JP" dirty="0"/>
              <a:t> AVF</a:t>
            </a:r>
            <a:r>
              <a:rPr lang="ja-JP" altLang="en-US" dirty="0"/>
              <a:t>： </a:t>
            </a:r>
            <a:r>
              <a:rPr lang="en-US" altLang="ja-JP" dirty="0"/>
              <a:t>RCAVF</a:t>
            </a:r>
            <a:r>
              <a:rPr lang="ja-JP" altLang="en-US" dirty="0"/>
              <a:t>）を第一選択としている．</a:t>
            </a:r>
            <a:endParaRPr lang="en-US" altLang="ja-JP" dirty="0"/>
          </a:p>
          <a:p>
            <a:r>
              <a:rPr lang="ja-JP" altLang="en-US" dirty="0"/>
              <a:t>前腕末梢での </a:t>
            </a:r>
            <a:r>
              <a:rPr lang="en-US" altLang="ja-JP" dirty="0"/>
              <a:t>RCAVF </a:t>
            </a:r>
            <a:r>
              <a:rPr lang="ja-JP" altLang="en-US" dirty="0"/>
              <a:t>の利点</a:t>
            </a:r>
            <a:endParaRPr lang="en-US" altLang="ja-JP" dirty="0"/>
          </a:p>
          <a:p>
            <a:r>
              <a:rPr lang="ja-JP" altLang="en-US" dirty="0"/>
              <a:t>①開存率が優れている</a:t>
            </a:r>
            <a:endParaRPr lang="en-US" altLang="ja-JP" dirty="0"/>
          </a:p>
          <a:p>
            <a:r>
              <a:rPr lang="ja-JP" altLang="en-US" dirty="0"/>
              <a:t>②閉塞した時に中枢で再建術が可能で 将来の </a:t>
            </a:r>
            <a:r>
              <a:rPr lang="en-US" altLang="ja-JP" dirty="0"/>
              <a:t>AVF </a:t>
            </a:r>
            <a:r>
              <a:rPr lang="ja-JP" altLang="en-US" dirty="0"/>
              <a:t>作製に際してより多くの静脈を温存できる</a:t>
            </a:r>
            <a:endParaRPr lang="en-US" altLang="ja-JP" dirty="0"/>
          </a:p>
          <a:p>
            <a:r>
              <a:rPr lang="ja-JP" altLang="en-US" dirty="0"/>
              <a:t>③穿刺できる静脈がよ り長く確保できる</a:t>
            </a:r>
            <a:endParaRPr lang="en-US" altLang="ja-JP" dirty="0"/>
          </a:p>
          <a:p>
            <a:r>
              <a:rPr lang="ja-JP" altLang="en-US" dirty="0"/>
              <a:t>④スチール症候群や血栓性閉塞，感染 などの合併も少ない</a:t>
            </a:r>
            <a:endParaRPr lang="en-US" altLang="ja-JP" dirty="0"/>
          </a:p>
          <a:p>
            <a:endParaRPr lang="en-US" altLang="ja-JP" dirty="0"/>
          </a:p>
          <a:p>
            <a:r>
              <a:rPr kumimoji="1" lang="ja-JP" altLang="en-US" dirty="0"/>
              <a:t>橈側に良好な血管を認めない場合は尺側での </a:t>
            </a:r>
            <a:r>
              <a:rPr kumimoji="1" lang="en-US" altLang="ja-JP" dirty="0"/>
              <a:t>AVF </a:t>
            </a:r>
            <a:r>
              <a:rPr kumimoji="1" lang="ja-JP" altLang="en-US" dirty="0"/>
              <a:t>作製を検討する．</a:t>
            </a:r>
            <a:endParaRPr kumimoji="1" lang="en-US" altLang="ja-JP" dirty="0"/>
          </a:p>
          <a:p>
            <a:r>
              <a:rPr kumimoji="1" lang="ja-JP" altLang="en-US" dirty="0"/>
              <a:t>尺側の </a:t>
            </a:r>
            <a:r>
              <a:rPr kumimoji="1" lang="en-US" altLang="ja-JP" dirty="0"/>
              <a:t>AVF</a:t>
            </a:r>
            <a:r>
              <a:rPr kumimoji="1" lang="ja-JP" altLang="en-US" dirty="0"/>
              <a:t>としては尺骨動脈と尺側皮静脈を吻合（</a:t>
            </a:r>
            <a:r>
              <a:rPr kumimoji="1" lang="en-US" altLang="ja-JP" dirty="0" err="1"/>
              <a:t>ulnobasilic</a:t>
            </a:r>
            <a:r>
              <a:rPr kumimoji="1" lang="en-US" altLang="ja-JP" dirty="0"/>
              <a:t> AVF</a:t>
            </a:r>
            <a:r>
              <a:rPr kumimoji="1" lang="ja-JP" altLang="en-US" dirty="0"/>
              <a:t>： </a:t>
            </a:r>
            <a:r>
              <a:rPr kumimoji="1" lang="en-US" altLang="ja-JP" dirty="0"/>
              <a:t>UBAVF</a:t>
            </a:r>
            <a:r>
              <a:rPr kumimoji="1" lang="ja-JP" altLang="en-US" dirty="0"/>
              <a:t>）することが多い．</a:t>
            </a:r>
            <a:endParaRPr kumimoji="1" lang="en-US" altLang="ja-JP" dirty="0"/>
          </a:p>
          <a:p>
            <a:r>
              <a:rPr kumimoji="1" lang="ja-JP" altLang="en-US" dirty="0"/>
              <a:t>尺骨動脈が十分な太さが得られない場合は尺側皮静脈を剥離して橈骨動脈と吻合する（</a:t>
            </a:r>
            <a:r>
              <a:rPr kumimoji="1" lang="en-US" altLang="ja-JP" dirty="0" err="1"/>
              <a:t>radiobasilic</a:t>
            </a:r>
            <a:r>
              <a:rPr kumimoji="1" lang="en-US" altLang="ja-JP" dirty="0"/>
              <a:t> AVF</a:t>
            </a:r>
            <a:r>
              <a:rPr kumimoji="1" lang="ja-JP" altLang="en-US" dirty="0"/>
              <a:t>： </a:t>
            </a:r>
            <a:r>
              <a:rPr kumimoji="1" lang="en-US" altLang="ja-JP" dirty="0"/>
              <a:t>RBAVF</a:t>
            </a:r>
            <a:r>
              <a:rPr kumimoji="1" lang="ja-JP" altLang="en-US" dirty="0"/>
              <a:t>）ことも検討する．</a:t>
            </a:r>
          </a:p>
        </p:txBody>
      </p:sp>
      <p:sp>
        <p:nvSpPr>
          <p:cNvPr id="4" name="スライド番号プレースホルダー 3"/>
          <p:cNvSpPr>
            <a:spLocks noGrp="1"/>
          </p:cNvSpPr>
          <p:nvPr>
            <p:ph type="sldNum" sz="quarter" idx="5"/>
          </p:nvPr>
        </p:nvSpPr>
        <p:spPr/>
        <p:txBody>
          <a:bodyPr/>
          <a:lstStyle/>
          <a:p>
            <a:fld id="{77DFC713-0CFE-407D-B6FB-44FA5A815E78}" type="slidenum">
              <a:rPr kumimoji="1" lang="ja-JP" altLang="en-US" smtClean="0"/>
              <a:t>10</a:t>
            </a:fld>
            <a:endParaRPr kumimoji="1" lang="ja-JP" altLang="en-US"/>
          </a:p>
        </p:txBody>
      </p:sp>
    </p:spTree>
    <p:extLst>
      <p:ext uri="{BB962C8B-B14F-4D97-AF65-F5344CB8AC3E}">
        <p14:creationId xmlns:p14="http://schemas.microsoft.com/office/powerpoint/2010/main" val="1107488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E8F202E-9DA9-E764-A7FC-DF1BD41A47BA}"/>
              </a:ext>
            </a:extLst>
          </p:cNvPr>
          <p:cNvSpPr>
            <a:spLocks noGrp="1"/>
          </p:cNvSpPr>
          <p:nvPr>
            <p:ph type="dt" sz="half" idx="10"/>
          </p:nvPr>
        </p:nvSpPr>
        <p:spPr/>
        <p:txBody>
          <a:bodyPr/>
          <a:lstStyle/>
          <a:p>
            <a:fld id="{B2836D04-024D-40BF-8679-DCA0288BD93D}" type="datetimeFigureOut">
              <a:rPr kumimoji="1" lang="ja-JP" altLang="en-US" smtClean="0"/>
              <a:t>2026/9/14</a:t>
            </a:fld>
            <a:endParaRPr kumimoji="1" lang="ja-JP" altLang="en-US"/>
          </a:p>
        </p:txBody>
      </p:sp>
      <p:sp>
        <p:nvSpPr>
          <p:cNvPr id="3" name="フッター プレースホルダー 2">
            <a:extLst>
              <a:ext uri="{FF2B5EF4-FFF2-40B4-BE49-F238E27FC236}">
                <a16:creationId xmlns:a16="http://schemas.microsoft.com/office/drawing/2014/main" id="{4AD1F5A6-EAF6-15D4-3501-745A62A719C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1A362CA-C965-8A4E-CEA3-C2FF1DAB03A8}"/>
              </a:ext>
            </a:extLst>
          </p:cNvPr>
          <p:cNvSpPr>
            <a:spLocks noGrp="1"/>
          </p:cNvSpPr>
          <p:nvPr>
            <p:ph type="sldNum" sz="quarter" idx="12"/>
          </p:nvPr>
        </p:nvSpPr>
        <p:spPr/>
        <p:txBody>
          <a:bodyPr/>
          <a:lstStyle/>
          <a:p>
            <a:fld id="{375878CE-5D58-4D92-AAA0-3573A1819C1B}" type="slidenum">
              <a:rPr kumimoji="1" lang="ja-JP" altLang="en-US" smtClean="0"/>
              <a:t>‹#›</a:t>
            </a:fld>
            <a:endParaRPr kumimoji="1" lang="ja-JP" altLang="en-US"/>
          </a:p>
        </p:txBody>
      </p:sp>
    </p:spTree>
    <p:extLst>
      <p:ext uri="{BB962C8B-B14F-4D97-AF65-F5344CB8AC3E}">
        <p14:creationId xmlns:p14="http://schemas.microsoft.com/office/powerpoint/2010/main" val="2344751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8643A0-95E1-7AC3-2E8B-9F093FE93A1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D03E2E8-1274-8C94-48B5-64E0F0B8825E}"/>
              </a:ext>
            </a:extLst>
          </p:cNvPr>
          <p:cNvSpPr>
            <a:spLocks noGrp="1"/>
          </p:cNvSpPr>
          <p:nvPr>
            <p:ph type="dt" sz="half" idx="10"/>
          </p:nvPr>
        </p:nvSpPr>
        <p:spPr/>
        <p:txBody>
          <a:bodyPr/>
          <a:lstStyle/>
          <a:p>
            <a:fld id="{B2836D04-024D-40BF-8679-DCA0288BD93D}" type="datetimeFigureOut">
              <a:rPr kumimoji="1" lang="ja-JP" altLang="en-US" smtClean="0"/>
              <a:t>2026/9/14</a:t>
            </a:fld>
            <a:endParaRPr kumimoji="1" lang="ja-JP" altLang="en-US"/>
          </a:p>
        </p:txBody>
      </p:sp>
      <p:sp>
        <p:nvSpPr>
          <p:cNvPr id="4" name="フッター プレースホルダー 3">
            <a:extLst>
              <a:ext uri="{FF2B5EF4-FFF2-40B4-BE49-F238E27FC236}">
                <a16:creationId xmlns:a16="http://schemas.microsoft.com/office/drawing/2014/main" id="{94B89CC2-BFEE-B398-AD0D-3BB496FAA1E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47C7DB0-DC39-2BE2-8FCC-561CED19B3D6}"/>
              </a:ext>
            </a:extLst>
          </p:cNvPr>
          <p:cNvSpPr>
            <a:spLocks noGrp="1"/>
          </p:cNvSpPr>
          <p:nvPr>
            <p:ph type="sldNum" sz="quarter" idx="12"/>
          </p:nvPr>
        </p:nvSpPr>
        <p:spPr/>
        <p:txBody>
          <a:bodyPr/>
          <a:lstStyle/>
          <a:p>
            <a:fld id="{375878CE-5D58-4D92-AAA0-3573A1819C1B}" type="slidenum">
              <a:rPr kumimoji="1" lang="ja-JP" altLang="en-US" smtClean="0"/>
              <a:t>‹#›</a:t>
            </a:fld>
            <a:endParaRPr kumimoji="1" lang="ja-JP" altLang="en-US"/>
          </a:p>
        </p:txBody>
      </p:sp>
    </p:spTree>
    <p:extLst>
      <p:ext uri="{BB962C8B-B14F-4D97-AF65-F5344CB8AC3E}">
        <p14:creationId xmlns:p14="http://schemas.microsoft.com/office/powerpoint/2010/main" val="3086196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733"/>
        </a:solidFill>
        <a:effectLst/>
      </p:bgPr>
    </p:bg>
    <p:spTree>
      <p:nvGrpSpPr>
        <p:cNvPr id="1" name=""/>
        <p:cNvGrpSpPr/>
        <p:nvPr/>
      </p:nvGrpSpPr>
      <p:grpSpPr>
        <a:xfrm>
          <a:off x="0" y="0"/>
          <a:ext cx="0" cy="0"/>
          <a:chOff x="0" y="0"/>
          <a:chExt cx="0" cy="0"/>
        </a:xfrm>
      </p:grpSpPr>
      <p:sp>
        <p:nvSpPr>
          <p:cNvPr id="2" name="Text 0"/>
          <p:cNvSpPr txBox="1"/>
          <p:nvPr/>
        </p:nvSpPr>
        <p:spPr>
          <a:xfrm>
            <a:off x="822960" y="2331720"/>
            <a:ext cx="10515600" cy="822960"/>
          </a:xfrm>
          <a:prstGeom prst="rect">
            <a:avLst/>
          </a:prstGeom>
          <a:noFill/>
          <a:ln/>
        </p:spPr>
        <p:txBody>
          <a:bodyPr wrap="square" lIns="0" tIns="0" rIns="0" bIns="0" rtlCol="0" anchor="ctr"/>
          <a:lstStyle/>
          <a:p>
            <a:pPr marL="0" indent="0" algn="l">
              <a:buNone/>
            </a:pPr>
            <a:r>
              <a:rPr lang="en-US" sz="4000" b="1" dirty="0">
                <a:solidFill>
                  <a:srgbClr val="FFFFFF"/>
                </a:solidFill>
                <a:latin typeface="Yu Gothic" pitchFamily="34" charset="0"/>
                <a:ea typeface="Yu Gothic" pitchFamily="34" charset="-122"/>
                <a:cs typeface="Yu Gothic" pitchFamily="34" charset="-120"/>
              </a:rPr>
              <a:t>シャントの基礎</a:t>
            </a:r>
            <a:endParaRPr lang="en-US" sz="4000" dirty="0"/>
          </a:p>
        </p:txBody>
      </p:sp>
      <p:sp>
        <p:nvSpPr>
          <p:cNvPr id="3" name="Text 1"/>
          <p:cNvSpPr txBox="1"/>
          <p:nvPr/>
        </p:nvSpPr>
        <p:spPr>
          <a:xfrm>
            <a:off x="822960" y="3154680"/>
            <a:ext cx="10058400" cy="411480"/>
          </a:xfrm>
          <a:prstGeom prst="rect">
            <a:avLst/>
          </a:prstGeom>
          <a:noFill/>
          <a:ln/>
        </p:spPr>
        <p:txBody>
          <a:bodyPr wrap="square" lIns="0" tIns="0" rIns="0" bIns="0" rtlCol="0" anchor="ctr"/>
          <a:lstStyle/>
          <a:p>
            <a:pPr marL="0" indent="0" algn="l">
              <a:buNone/>
            </a:pPr>
            <a:r>
              <a:rPr lang="en-US" sz="1700" dirty="0">
                <a:solidFill>
                  <a:srgbClr val="C6D0D6"/>
                </a:solidFill>
                <a:latin typeface="Yu Gothic" pitchFamily="34" charset="0"/>
                <a:ea typeface="Yu Gothic" pitchFamily="34" charset="-122"/>
                <a:cs typeface="Yu Gothic" pitchFamily="34" charset="-120"/>
              </a:rPr>
              <a:t>透析未経験看護師・新人臨床工学技士向け</a:t>
            </a:r>
            <a:endParaRPr lang="en-US" sz="1700" dirty="0"/>
          </a:p>
        </p:txBody>
      </p:sp>
      <p:sp>
        <p:nvSpPr>
          <p:cNvPr id="4" name="Shape 2"/>
          <p:cNvSpPr/>
          <p:nvPr/>
        </p:nvSpPr>
        <p:spPr>
          <a:xfrm>
            <a:off x="822960" y="3730752"/>
            <a:ext cx="2926080" cy="0"/>
          </a:xfrm>
          <a:prstGeom prst="line">
            <a:avLst/>
          </a:prstGeom>
          <a:noFill/>
          <a:ln w="19050">
            <a:solidFill>
              <a:srgbClr val="4FC3A1"/>
            </a:solidFill>
            <a:prstDash val="solid"/>
          </a:ln>
        </p:spPr>
        <p:txBody>
          <a:bodyPr/>
          <a:lstStyle/>
          <a:p>
            <a:endParaRPr lang="ja-JP" altLang="en-US"/>
          </a:p>
        </p:txBody>
      </p:sp>
      <p:sp>
        <p:nvSpPr>
          <p:cNvPr id="5" name="Text 3"/>
          <p:cNvSpPr txBox="1"/>
          <p:nvPr/>
        </p:nvSpPr>
        <p:spPr>
          <a:xfrm>
            <a:off x="822960" y="3886200"/>
            <a:ext cx="10058400" cy="365760"/>
          </a:xfrm>
          <a:prstGeom prst="rect">
            <a:avLst/>
          </a:prstGeom>
          <a:noFill/>
          <a:ln/>
        </p:spPr>
        <p:txBody>
          <a:bodyPr wrap="square" lIns="0" tIns="0" rIns="0" bIns="0" rtlCol="0" anchor="ctr"/>
          <a:lstStyle/>
          <a:p>
            <a:pPr marL="0" indent="0" algn="l">
              <a:buNone/>
            </a:pPr>
            <a:r>
              <a:rPr lang="en-US" sz="1300" i="1" dirty="0">
                <a:solidFill>
                  <a:srgbClr val="8C99A3"/>
                </a:solidFill>
                <a:latin typeface="Yu Gothic" pitchFamily="34" charset="0"/>
                <a:ea typeface="Yu Gothic" pitchFamily="34" charset="-122"/>
                <a:cs typeface="Yu Gothic" pitchFamily="34" charset="-120"/>
              </a:rPr>
              <a:t>バスキュラーアクセス（VA）の定義・構造・観察のポイント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73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15600" cy="685800"/>
          </a:xfrm>
          <a:prstGeom prst="rect">
            <a:avLst/>
          </a:prstGeom>
          <a:noFill/>
          <a:ln/>
        </p:spPr>
        <p:txBody>
          <a:bodyPr wrap="square" lIns="0" tIns="0" rIns="0" bIns="0" rtlCol="0" anchor="ctr"/>
          <a:lstStyle/>
          <a:p>
            <a:pPr marL="0" indent="0" algn="l">
              <a:buNone/>
            </a:pPr>
            <a:r>
              <a:rPr lang="en-US" sz="3200" b="1" dirty="0">
                <a:solidFill>
                  <a:srgbClr val="FFFFFF"/>
                </a:solidFill>
                <a:latin typeface="Yu Gothic" pitchFamily="34" charset="0"/>
                <a:ea typeface="Yu Gothic" pitchFamily="34" charset="-122"/>
                <a:cs typeface="Yu Gothic" pitchFamily="34" charset="-120"/>
              </a:rPr>
              <a:t>なぜシャントの基礎を学ぶのか</a:t>
            </a:r>
            <a:endParaRPr lang="en-US" sz="3200" dirty="0"/>
          </a:p>
        </p:txBody>
      </p:sp>
      <p:sp>
        <p:nvSpPr>
          <p:cNvPr id="4" name="Shape 2"/>
          <p:cNvSpPr/>
          <p:nvPr/>
        </p:nvSpPr>
        <p:spPr>
          <a:xfrm>
            <a:off x="822960" y="2057400"/>
            <a:ext cx="5120640" cy="1783080"/>
          </a:xfrm>
          <a:prstGeom prst="roundRect">
            <a:avLst>
              <a:gd name="adj" fmla="val 5128"/>
            </a:avLst>
          </a:prstGeom>
          <a:solidFill>
            <a:srgbClr val="26333F"/>
          </a:solidFill>
          <a:ln/>
        </p:spPr>
        <p:txBody>
          <a:bodyPr/>
          <a:lstStyle/>
          <a:p>
            <a:endParaRPr lang="ja-JP" altLang="en-US"/>
          </a:p>
        </p:txBody>
      </p:sp>
      <p:sp>
        <p:nvSpPr>
          <p:cNvPr id="5" name="Shape 3"/>
          <p:cNvSpPr/>
          <p:nvPr/>
        </p:nvSpPr>
        <p:spPr>
          <a:xfrm>
            <a:off x="1097280" y="2331720"/>
            <a:ext cx="685800" cy="685800"/>
          </a:xfrm>
          <a:prstGeom prst="ellipse">
            <a:avLst/>
          </a:prstGeom>
          <a:solidFill>
            <a:srgbClr val="FFFFFF"/>
          </a:solidFill>
          <a:ln/>
        </p:spPr>
        <p:txBody>
          <a:bodyPr/>
          <a:lstStyle/>
          <a:p>
            <a:endParaRPr lang="ja-JP" altLang="en-US"/>
          </a:p>
        </p:txBody>
      </p:sp>
      <p:pic>
        <p:nvPicPr>
          <p:cNvPr id="6" name="Image 0" descr="/home/claude/shunt_slides/icon_heartbeat.png"/>
          <p:cNvPicPr>
            <a:picLocks noChangeAspect="1"/>
          </p:cNvPicPr>
          <p:nvPr/>
        </p:nvPicPr>
        <p:blipFill>
          <a:blip r:embed="rId3"/>
          <a:stretch>
            <a:fillRect/>
          </a:stretch>
        </p:blipFill>
        <p:spPr>
          <a:xfrm>
            <a:off x="1234440" y="2468880"/>
            <a:ext cx="411480" cy="411480"/>
          </a:xfrm>
          <a:prstGeom prst="rect">
            <a:avLst/>
          </a:prstGeom>
        </p:spPr>
      </p:pic>
      <p:sp>
        <p:nvSpPr>
          <p:cNvPr id="7" name="Text 4"/>
          <p:cNvSpPr txBox="1"/>
          <p:nvPr/>
        </p:nvSpPr>
        <p:spPr>
          <a:xfrm>
            <a:off x="1965960" y="231343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透析患者の生命線</a:t>
            </a:r>
            <a:endParaRPr lang="en-US" sz="1600" dirty="0"/>
          </a:p>
        </p:txBody>
      </p:sp>
      <p:sp>
        <p:nvSpPr>
          <p:cNvPr id="8" name="Text 5"/>
          <p:cNvSpPr txBox="1"/>
          <p:nvPr/>
        </p:nvSpPr>
        <p:spPr>
          <a:xfrm>
            <a:off x="1965960" y="274320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シャントが使えなければ血液浄化そのものができず、透析治療が継続できない</a:t>
            </a:r>
            <a:endParaRPr lang="en-US" sz="1250" dirty="0"/>
          </a:p>
        </p:txBody>
      </p:sp>
      <p:sp>
        <p:nvSpPr>
          <p:cNvPr id="9" name="Shape 6"/>
          <p:cNvSpPr/>
          <p:nvPr/>
        </p:nvSpPr>
        <p:spPr>
          <a:xfrm>
            <a:off x="6309360" y="2057400"/>
            <a:ext cx="5120640" cy="1783080"/>
          </a:xfrm>
          <a:prstGeom prst="roundRect">
            <a:avLst>
              <a:gd name="adj" fmla="val 5128"/>
            </a:avLst>
          </a:prstGeom>
          <a:solidFill>
            <a:srgbClr val="26333F"/>
          </a:solidFill>
          <a:ln/>
        </p:spPr>
        <p:txBody>
          <a:bodyPr/>
          <a:lstStyle/>
          <a:p>
            <a:endParaRPr lang="ja-JP" altLang="en-US"/>
          </a:p>
        </p:txBody>
      </p:sp>
      <p:sp>
        <p:nvSpPr>
          <p:cNvPr id="10" name="Shape 7"/>
          <p:cNvSpPr/>
          <p:nvPr/>
        </p:nvSpPr>
        <p:spPr>
          <a:xfrm>
            <a:off x="6583680" y="2331720"/>
            <a:ext cx="685800" cy="685800"/>
          </a:xfrm>
          <a:prstGeom prst="ellipse">
            <a:avLst/>
          </a:prstGeom>
          <a:solidFill>
            <a:srgbClr val="FFFFFF"/>
          </a:solidFill>
          <a:ln/>
        </p:spPr>
        <p:txBody>
          <a:bodyPr/>
          <a:lstStyle/>
          <a:p>
            <a:endParaRPr lang="ja-JP" altLang="en-US"/>
          </a:p>
        </p:txBody>
      </p:sp>
      <p:pic>
        <p:nvPicPr>
          <p:cNvPr id="11" name="Image 1" descr="/home/claude/shunt_slides/icon_search.png"/>
          <p:cNvPicPr>
            <a:picLocks noChangeAspect="1"/>
          </p:cNvPicPr>
          <p:nvPr/>
        </p:nvPicPr>
        <p:blipFill>
          <a:blip r:embed="rId4"/>
          <a:stretch>
            <a:fillRect/>
          </a:stretch>
        </p:blipFill>
        <p:spPr>
          <a:xfrm>
            <a:off x="6720840" y="2468880"/>
            <a:ext cx="411480" cy="411480"/>
          </a:xfrm>
          <a:prstGeom prst="rect">
            <a:avLst/>
          </a:prstGeom>
        </p:spPr>
      </p:pic>
      <p:sp>
        <p:nvSpPr>
          <p:cNvPr id="12" name="Text 8"/>
          <p:cNvSpPr txBox="1"/>
          <p:nvPr/>
        </p:nvSpPr>
        <p:spPr>
          <a:xfrm>
            <a:off x="7452360" y="231343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異常の早期発見につながる</a:t>
            </a:r>
            <a:endParaRPr lang="en-US" sz="1600" dirty="0"/>
          </a:p>
        </p:txBody>
      </p:sp>
      <p:sp>
        <p:nvSpPr>
          <p:cNvPr id="13" name="Text 9"/>
          <p:cNvSpPr txBox="1"/>
          <p:nvPr/>
        </p:nvSpPr>
        <p:spPr>
          <a:xfrm>
            <a:off x="7452360" y="274320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基礎知識があることで、視診・触診・聴診での小さな変化に気づける</a:t>
            </a:r>
            <a:endParaRPr lang="en-US" sz="1250" dirty="0"/>
          </a:p>
        </p:txBody>
      </p:sp>
      <p:sp>
        <p:nvSpPr>
          <p:cNvPr id="14" name="Shape 10"/>
          <p:cNvSpPr/>
          <p:nvPr/>
        </p:nvSpPr>
        <p:spPr>
          <a:xfrm>
            <a:off x="822960" y="4160520"/>
            <a:ext cx="5120640" cy="1783080"/>
          </a:xfrm>
          <a:prstGeom prst="roundRect">
            <a:avLst>
              <a:gd name="adj" fmla="val 5128"/>
            </a:avLst>
          </a:prstGeom>
          <a:solidFill>
            <a:srgbClr val="26333F"/>
          </a:solidFill>
          <a:ln/>
        </p:spPr>
        <p:txBody>
          <a:bodyPr/>
          <a:lstStyle/>
          <a:p>
            <a:endParaRPr lang="ja-JP" altLang="en-US"/>
          </a:p>
        </p:txBody>
      </p:sp>
      <p:sp>
        <p:nvSpPr>
          <p:cNvPr id="15" name="Shape 11"/>
          <p:cNvSpPr/>
          <p:nvPr/>
        </p:nvSpPr>
        <p:spPr>
          <a:xfrm>
            <a:off x="1097280" y="4434840"/>
            <a:ext cx="685800" cy="685800"/>
          </a:xfrm>
          <a:prstGeom prst="ellipse">
            <a:avLst/>
          </a:prstGeom>
          <a:solidFill>
            <a:srgbClr val="FFFFFF"/>
          </a:solidFill>
          <a:ln/>
        </p:spPr>
        <p:txBody>
          <a:bodyPr/>
          <a:lstStyle/>
          <a:p>
            <a:endParaRPr lang="ja-JP" altLang="en-US"/>
          </a:p>
        </p:txBody>
      </p:sp>
      <p:pic>
        <p:nvPicPr>
          <p:cNvPr id="16" name="Image 2" descr="/home/claude/shunt_slides/icon_warning.png"/>
          <p:cNvPicPr>
            <a:picLocks noChangeAspect="1"/>
          </p:cNvPicPr>
          <p:nvPr/>
        </p:nvPicPr>
        <p:blipFill>
          <a:blip r:embed="rId5"/>
          <a:stretch>
            <a:fillRect/>
          </a:stretch>
        </p:blipFill>
        <p:spPr>
          <a:xfrm>
            <a:off x="1234440" y="4572000"/>
            <a:ext cx="411480" cy="411480"/>
          </a:xfrm>
          <a:prstGeom prst="rect">
            <a:avLst/>
          </a:prstGeom>
        </p:spPr>
      </p:pic>
      <p:sp>
        <p:nvSpPr>
          <p:cNvPr id="17" name="Text 12"/>
          <p:cNvSpPr txBox="1"/>
          <p:nvPr/>
        </p:nvSpPr>
        <p:spPr>
          <a:xfrm>
            <a:off x="1965960" y="441655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トラブルは決して稀ではない</a:t>
            </a:r>
            <a:endParaRPr lang="en-US" sz="1600" dirty="0"/>
          </a:p>
        </p:txBody>
      </p:sp>
      <p:sp>
        <p:nvSpPr>
          <p:cNvPr id="18" name="Text 13"/>
          <p:cNvSpPr txBox="1"/>
          <p:nvPr/>
        </p:nvSpPr>
        <p:spPr>
          <a:xfrm>
            <a:off x="1965960" y="484632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脱血不良、静脈圧上昇、狭窄などは日常的に起こりうる合併症</a:t>
            </a:r>
            <a:endParaRPr lang="en-US" sz="1250" dirty="0"/>
          </a:p>
        </p:txBody>
      </p:sp>
      <p:sp>
        <p:nvSpPr>
          <p:cNvPr id="19" name="Shape 14"/>
          <p:cNvSpPr/>
          <p:nvPr/>
        </p:nvSpPr>
        <p:spPr>
          <a:xfrm>
            <a:off x="6309360" y="4160520"/>
            <a:ext cx="5120640" cy="1783080"/>
          </a:xfrm>
          <a:prstGeom prst="roundRect">
            <a:avLst>
              <a:gd name="adj" fmla="val 5128"/>
            </a:avLst>
          </a:prstGeom>
          <a:solidFill>
            <a:srgbClr val="26333F"/>
          </a:solidFill>
          <a:ln/>
        </p:spPr>
        <p:txBody>
          <a:bodyPr/>
          <a:lstStyle/>
          <a:p>
            <a:endParaRPr lang="ja-JP" altLang="en-US"/>
          </a:p>
        </p:txBody>
      </p:sp>
      <p:sp>
        <p:nvSpPr>
          <p:cNvPr id="20" name="Shape 15"/>
          <p:cNvSpPr/>
          <p:nvPr/>
        </p:nvSpPr>
        <p:spPr>
          <a:xfrm>
            <a:off x="6583680" y="4434840"/>
            <a:ext cx="685800" cy="685800"/>
          </a:xfrm>
          <a:prstGeom prst="ellipse">
            <a:avLst/>
          </a:prstGeom>
          <a:solidFill>
            <a:srgbClr val="FFFFFF"/>
          </a:solidFill>
          <a:ln/>
        </p:spPr>
        <p:txBody>
          <a:bodyPr/>
          <a:lstStyle/>
          <a:p>
            <a:endParaRPr lang="ja-JP" altLang="en-US"/>
          </a:p>
        </p:txBody>
      </p:sp>
      <p:pic>
        <p:nvPicPr>
          <p:cNvPr id="21" name="Image 3" descr="/home/claude/shunt_slides/icon_users.png"/>
          <p:cNvPicPr>
            <a:picLocks noChangeAspect="1"/>
          </p:cNvPicPr>
          <p:nvPr/>
        </p:nvPicPr>
        <p:blipFill>
          <a:blip r:embed="rId6"/>
          <a:stretch>
            <a:fillRect/>
          </a:stretch>
        </p:blipFill>
        <p:spPr>
          <a:xfrm>
            <a:off x="6720840" y="4572000"/>
            <a:ext cx="411480" cy="411480"/>
          </a:xfrm>
          <a:prstGeom prst="rect">
            <a:avLst/>
          </a:prstGeom>
        </p:spPr>
      </p:pic>
      <p:sp>
        <p:nvSpPr>
          <p:cNvPr id="22" name="Text 16"/>
          <p:cNvSpPr txBox="1"/>
          <p:nvPr/>
        </p:nvSpPr>
        <p:spPr>
          <a:xfrm>
            <a:off x="7452360" y="441655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多職種連携の共通言語になる</a:t>
            </a:r>
            <a:endParaRPr lang="en-US" sz="1600" dirty="0"/>
          </a:p>
        </p:txBody>
      </p:sp>
      <p:sp>
        <p:nvSpPr>
          <p:cNvPr id="23" name="Text 17"/>
          <p:cNvSpPr txBox="1"/>
          <p:nvPr/>
        </p:nvSpPr>
        <p:spPr>
          <a:xfrm>
            <a:off x="7452360" y="484632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看護師と臨床工学技士が同じ基礎を共有することでケアの質が上がる</a:t>
            </a:r>
            <a:endParaRPr lang="en-US" sz="1250" dirty="0"/>
          </a:p>
        </p:txBody>
      </p:sp>
      <p:sp>
        <p:nvSpPr>
          <p:cNvPr id="24" name="Shape 18"/>
          <p:cNvSpPr/>
          <p:nvPr/>
        </p:nvSpPr>
        <p:spPr>
          <a:xfrm>
            <a:off x="822960" y="6172200"/>
            <a:ext cx="10515600" cy="0"/>
          </a:xfrm>
          <a:prstGeom prst="line">
            <a:avLst/>
          </a:prstGeom>
          <a:noFill/>
          <a:ln w="19050">
            <a:solidFill>
              <a:srgbClr val="4FC3A1"/>
            </a:solidFill>
            <a:prstDash val="solid"/>
          </a:ln>
        </p:spPr>
        <p:txBody>
          <a:bodyPr/>
          <a:lstStyle/>
          <a:p>
            <a:endParaRPr lang="ja-JP" altLang="en-US"/>
          </a:p>
        </p:txBody>
      </p:sp>
      <p:sp>
        <p:nvSpPr>
          <p:cNvPr id="25" name="Text 19"/>
          <p:cNvSpPr txBox="1"/>
          <p:nvPr/>
        </p:nvSpPr>
        <p:spPr>
          <a:xfrm>
            <a:off x="822960" y="6355080"/>
            <a:ext cx="10515600" cy="457200"/>
          </a:xfrm>
          <a:prstGeom prst="rect">
            <a:avLst/>
          </a:prstGeom>
          <a:noFill/>
          <a:ln/>
        </p:spPr>
        <p:txBody>
          <a:bodyPr wrap="square" lIns="0" tIns="0" rIns="0" bIns="0" rtlCol="0" anchor="ctr"/>
          <a:lstStyle/>
          <a:p>
            <a:pPr marL="0" indent="0" algn="ctr">
              <a:buNone/>
            </a:pPr>
            <a:r>
              <a:rPr lang="en-US" sz="1600" b="1" i="1" dirty="0" err="1">
                <a:solidFill>
                  <a:srgbClr val="4FC3A1"/>
                </a:solidFill>
                <a:latin typeface="Yu Gothic" pitchFamily="34" charset="0"/>
                <a:ea typeface="Yu Gothic" pitchFamily="34" charset="-122"/>
                <a:cs typeface="Yu Gothic" pitchFamily="34" charset="-120"/>
              </a:rPr>
              <a:t>シャントを正しく理解することが、安全な透析と早期のトラブル発見につな</a:t>
            </a:r>
            <a:r>
              <a:rPr lang="ja-JP" altLang="en-US" sz="1600" b="1" i="1" dirty="0">
                <a:solidFill>
                  <a:srgbClr val="4FC3A1"/>
                </a:solidFill>
                <a:latin typeface="Yu Gothic" pitchFamily="34" charset="0"/>
                <a:ea typeface="Yu Gothic" pitchFamily="34" charset="-122"/>
                <a:cs typeface="Yu Gothic" pitchFamily="34" charset="-120"/>
              </a:rPr>
              <a:t>がる！</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バスキュラーアクセス（VA）とは</a:t>
            </a:r>
            <a:endParaRPr lang="en-US" sz="28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VAの基礎知識</a:t>
            </a:r>
            <a:endParaRPr lang="en-US" sz="1100" dirty="0"/>
          </a:p>
        </p:txBody>
      </p:sp>
      <p:sp>
        <p:nvSpPr>
          <p:cNvPr id="6" name="Shape 4"/>
          <p:cNvSpPr/>
          <p:nvPr/>
        </p:nvSpPr>
        <p:spPr>
          <a:xfrm>
            <a:off x="502920" y="1463040"/>
            <a:ext cx="6858000" cy="4663440"/>
          </a:xfrm>
          <a:prstGeom prst="roundRect">
            <a:avLst>
              <a:gd name="adj" fmla="val 1961"/>
            </a:avLst>
          </a:prstGeom>
          <a:solidFill>
            <a:srgbClr val="FFFFFF"/>
          </a:solidFill>
          <a:ln w="12700">
            <a:solidFill>
              <a:srgbClr val="D9E2E6"/>
            </a:solidFill>
            <a:prstDash val="solid"/>
          </a:ln>
        </p:spPr>
        <p:txBody>
          <a:bodyPr/>
          <a:lstStyle/>
          <a:p>
            <a:endParaRPr lang="ja-JP" altLang="en-US"/>
          </a:p>
        </p:txBody>
      </p:sp>
      <p:sp>
        <p:nvSpPr>
          <p:cNvPr id="7" name="Shape 5"/>
          <p:cNvSpPr/>
          <p:nvPr/>
        </p:nvSpPr>
        <p:spPr>
          <a:xfrm>
            <a:off x="502920" y="1417320"/>
            <a:ext cx="1371600" cy="457200"/>
          </a:xfrm>
          <a:prstGeom prst="roundRect">
            <a:avLst>
              <a:gd name="adj" fmla="val 16000"/>
            </a:avLst>
          </a:prstGeom>
          <a:solidFill>
            <a:srgbClr val="33475B"/>
          </a:solidFill>
          <a:ln/>
        </p:spPr>
        <p:txBody>
          <a:bodyPr/>
          <a:lstStyle/>
          <a:p>
            <a:endParaRPr lang="ja-JP" altLang="en-US"/>
          </a:p>
        </p:txBody>
      </p:sp>
      <p:sp>
        <p:nvSpPr>
          <p:cNvPr id="8" name="Text 6"/>
          <p:cNvSpPr txBox="1"/>
          <p:nvPr/>
        </p:nvSpPr>
        <p:spPr>
          <a:xfrm>
            <a:off x="502920" y="1417320"/>
            <a:ext cx="13716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Yu Gothic" pitchFamily="34" charset="0"/>
                <a:ea typeface="Yu Gothic" pitchFamily="34" charset="-122"/>
                <a:cs typeface="Yu Gothic" pitchFamily="34" charset="-120"/>
              </a:rPr>
              <a:t>定義</a:t>
            </a:r>
            <a:endParaRPr lang="en-US" sz="1400" dirty="0"/>
          </a:p>
        </p:txBody>
      </p:sp>
      <p:sp>
        <p:nvSpPr>
          <p:cNvPr id="9" name="Shape 7"/>
          <p:cNvSpPr/>
          <p:nvPr/>
        </p:nvSpPr>
        <p:spPr>
          <a:xfrm>
            <a:off x="868680" y="2057400"/>
            <a:ext cx="6126480" cy="1554480"/>
          </a:xfrm>
          <a:prstGeom prst="roundRect">
            <a:avLst>
              <a:gd name="adj" fmla="val 4706"/>
            </a:avLst>
          </a:prstGeom>
          <a:solidFill>
            <a:srgbClr val="EEF5F3"/>
          </a:solidFill>
          <a:ln/>
        </p:spPr>
        <p:txBody>
          <a:bodyPr/>
          <a:lstStyle/>
          <a:p>
            <a:endParaRPr lang="ja-JP" altLang="en-US"/>
          </a:p>
        </p:txBody>
      </p:sp>
      <p:sp>
        <p:nvSpPr>
          <p:cNvPr id="10" name="Text 8"/>
          <p:cNvSpPr txBox="1"/>
          <p:nvPr/>
        </p:nvSpPr>
        <p:spPr>
          <a:xfrm>
            <a:off x="1097280" y="2240280"/>
            <a:ext cx="5669280" cy="1188720"/>
          </a:xfrm>
          <a:prstGeom prst="rect">
            <a:avLst/>
          </a:prstGeom>
          <a:noFill/>
          <a:ln/>
        </p:spPr>
        <p:txBody>
          <a:bodyPr wrap="square" lIns="0" tIns="0" rIns="0" bIns="0" rtlCol="0" anchor="ctr"/>
          <a:lstStyle/>
          <a:p>
            <a:pPr marL="0" indent="0" algn="l">
              <a:buNone/>
            </a:pPr>
            <a:r>
              <a:rPr lang="en-US" sz="1600" b="1" dirty="0">
                <a:solidFill>
                  <a:srgbClr val="1F2933"/>
                </a:solidFill>
                <a:latin typeface="Yu Gothic" pitchFamily="34" charset="0"/>
                <a:ea typeface="Yu Gothic" pitchFamily="34" charset="-122"/>
                <a:cs typeface="Yu Gothic" pitchFamily="34" charset="-120"/>
              </a:rPr>
              <a:t>VAとは、血液浄化（血液透析など）を施行するために必要な血液の出入り口であり、血液透析患者にとって必要不可欠なものである。</a:t>
            </a:r>
            <a:endParaRPr lang="en-US" sz="1600" dirty="0"/>
          </a:p>
        </p:txBody>
      </p:sp>
      <p:sp>
        <p:nvSpPr>
          <p:cNvPr id="11" name="Shape 9"/>
          <p:cNvSpPr/>
          <p:nvPr/>
        </p:nvSpPr>
        <p:spPr>
          <a:xfrm>
            <a:off x="1143000" y="4114800"/>
            <a:ext cx="2377440" cy="118872"/>
          </a:xfrm>
          <a:prstGeom prst="roundRect">
            <a:avLst>
              <a:gd name="adj" fmla="val 50000"/>
            </a:avLst>
          </a:prstGeom>
          <a:solidFill>
            <a:srgbClr val="C0574C"/>
          </a:solidFill>
          <a:ln/>
        </p:spPr>
        <p:txBody>
          <a:bodyPr/>
          <a:lstStyle/>
          <a:p>
            <a:endParaRPr lang="ja-JP" altLang="en-US"/>
          </a:p>
        </p:txBody>
      </p:sp>
      <p:sp>
        <p:nvSpPr>
          <p:cNvPr id="12" name="Shape 10"/>
          <p:cNvSpPr/>
          <p:nvPr/>
        </p:nvSpPr>
        <p:spPr>
          <a:xfrm>
            <a:off x="4023360" y="4114800"/>
            <a:ext cx="2377440" cy="118872"/>
          </a:xfrm>
          <a:prstGeom prst="roundRect">
            <a:avLst>
              <a:gd name="adj" fmla="val 50000"/>
            </a:avLst>
          </a:prstGeom>
          <a:solidFill>
            <a:srgbClr val="5C86AD"/>
          </a:solidFill>
          <a:ln/>
        </p:spPr>
        <p:txBody>
          <a:bodyPr/>
          <a:lstStyle/>
          <a:p>
            <a:endParaRPr lang="ja-JP" altLang="en-US"/>
          </a:p>
        </p:txBody>
      </p:sp>
      <p:sp>
        <p:nvSpPr>
          <p:cNvPr id="13" name="Shape 11"/>
          <p:cNvSpPr/>
          <p:nvPr/>
        </p:nvSpPr>
        <p:spPr>
          <a:xfrm rot="5400000">
            <a:off x="6382512" y="4005072"/>
            <a:ext cx="274320" cy="338328"/>
          </a:xfrm>
          <a:prstGeom prst="triangle">
            <a:avLst/>
          </a:prstGeom>
          <a:solidFill>
            <a:srgbClr val="5C86AD"/>
          </a:solidFill>
          <a:ln/>
        </p:spPr>
        <p:txBody>
          <a:bodyPr/>
          <a:lstStyle/>
          <a:p>
            <a:endParaRPr lang="ja-JP" altLang="en-US"/>
          </a:p>
        </p:txBody>
      </p:sp>
      <p:sp>
        <p:nvSpPr>
          <p:cNvPr id="14" name="Shape 12"/>
          <p:cNvSpPr/>
          <p:nvPr/>
        </p:nvSpPr>
        <p:spPr>
          <a:xfrm>
            <a:off x="3502152" y="3968496"/>
            <a:ext cx="384048" cy="384048"/>
          </a:xfrm>
          <a:prstGeom prst="ellipse">
            <a:avLst/>
          </a:prstGeom>
          <a:solidFill>
            <a:srgbClr val="FFFFFF"/>
          </a:solidFill>
          <a:ln w="25400">
            <a:solidFill>
              <a:srgbClr val="1F6F5C"/>
            </a:solidFill>
            <a:prstDash val="solid"/>
          </a:ln>
        </p:spPr>
        <p:txBody>
          <a:bodyPr/>
          <a:lstStyle/>
          <a:p>
            <a:endParaRPr lang="ja-JP" altLang="en-US"/>
          </a:p>
        </p:txBody>
      </p:sp>
      <p:sp>
        <p:nvSpPr>
          <p:cNvPr id="15" name="Text 13"/>
          <p:cNvSpPr txBox="1"/>
          <p:nvPr/>
        </p:nvSpPr>
        <p:spPr>
          <a:xfrm>
            <a:off x="1143000" y="4389120"/>
            <a:ext cx="2377440" cy="320040"/>
          </a:xfrm>
          <a:prstGeom prst="rect">
            <a:avLst/>
          </a:prstGeom>
          <a:noFill/>
          <a:ln/>
        </p:spPr>
        <p:txBody>
          <a:bodyPr wrap="square" lIns="0" tIns="0" rIns="0" bIns="0" rtlCol="0" anchor="ctr"/>
          <a:lstStyle/>
          <a:p>
            <a:pPr marL="0" indent="0" algn="ctr">
              <a:buNone/>
            </a:pPr>
            <a:r>
              <a:rPr lang="en-US" sz="1200" b="1" dirty="0">
                <a:solidFill>
                  <a:srgbClr val="C0574C"/>
                </a:solidFill>
                <a:latin typeface="Yu Gothic" pitchFamily="34" charset="0"/>
                <a:ea typeface="Yu Gothic" pitchFamily="34" charset="-122"/>
                <a:cs typeface="Yu Gothic" pitchFamily="34" charset="-120"/>
              </a:rPr>
              <a:t>動脈</a:t>
            </a:r>
            <a:endParaRPr lang="en-US" sz="1200" dirty="0"/>
          </a:p>
        </p:txBody>
      </p:sp>
      <p:sp>
        <p:nvSpPr>
          <p:cNvPr id="16" name="Text 14"/>
          <p:cNvSpPr txBox="1"/>
          <p:nvPr/>
        </p:nvSpPr>
        <p:spPr>
          <a:xfrm>
            <a:off x="4023360" y="4389120"/>
            <a:ext cx="2377440" cy="320040"/>
          </a:xfrm>
          <a:prstGeom prst="rect">
            <a:avLst/>
          </a:prstGeom>
          <a:noFill/>
          <a:ln/>
        </p:spPr>
        <p:txBody>
          <a:bodyPr wrap="square" lIns="0" tIns="0" rIns="0" bIns="0" rtlCol="0" anchor="ctr"/>
          <a:lstStyle/>
          <a:p>
            <a:pPr marL="0" indent="0" algn="ctr">
              <a:buNone/>
            </a:pPr>
            <a:r>
              <a:rPr lang="en-US" sz="1200" b="1" dirty="0">
                <a:solidFill>
                  <a:srgbClr val="5C86AD"/>
                </a:solidFill>
                <a:latin typeface="Yu Gothic" pitchFamily="34" charset="0"/>
                <a:ea typeface="Yu Gothic" pitchFamily="34" charset="-122"/>
                <a:cs typeface="Yu Gothic" pitchFamily="34" charset="-120"/>
              </a:rPr>
              <a:t>静脈</a:t>
            </a:r>
            <a:endParaRPr lang="en-US" sz="1200" dirty="0"/>
          </a:p>
        </p:txBody>
      </p:sp>
      <p:sp>
        <p:nvSpPr>
          <p:cNvPr id="17" name="Text 15"/>
          <p:cNvSpPr txBox="1"/>
          <p:nvPr/>
        </p:nvSpPr>
        <p:spPr>
          <a:xfrm>
            <a:off x="868680" y="4800600"/>
            <a:ext cx="6126480" cy="365760"/>
          </a:xfrm>
          <a:prstGeom prst="rect">
            <a:avLst/>
          </a:prstGeom>
          <a:noFill/>
          <a:ln/>
        </p:spPr>
        <p:txBody>
          <a:bodyPr wrap="square" lIns="0" tIns="0" rIns="0" bIns="0" rtlCol="0" anchor="ctr"/>
          <a:lstStyle/>
          <a:p>
            <a:pPr marL="0" indent="0" algn="ctr">
              <a:buNone/>
            </a:pPr>
            <a:r>
              <a:rPr lang="en-US" sz="1100" dirty="0">
                <a:solidFill>
                  <a:srgbClr val="4B5B63"/>
                </a:solidFill>
                <a:latin typeface="Yu Gothic" pitchFamily="34" charset="0"/>
                <a:ea typeface="Yu Gothic" pitchFamily="34" charset="-122"/>
                <a:cs typeface="Yu Gothic" pitchFamily="34" charset="-120"/>
              </a:rPr>
              <a:t>動脈と静脈をつなぎ、透析に必要な血流量を確保する</a:t>
            </a:r>
            <a:endParaRPr lang="en-US" sz="1100" dirty="0"/>
          </a:p>
        </p:txBody>
      </p:sp>
      <p:sp>
        <p:nvSpPr>
          <p:cNvPr id="18" name="Shape 16"/>
          <p:cNvSpPr/>
          <p:nvPr/>
        </p:nvSpPr>
        <p:spPr>
          <a:xfrm>
            <a:off x="7543800" y="1463040"/>
            <a:ext cx="3794760" cy="1417320"/>
          </a:xfrm>
          <a:prstGeom prst="roundRect">
            <a:avLst>
              <a:gd name="adj" fmla="val 6452"/>
            </a:avLst>
          </a:prstGeom>
          <a:solidFill>
            <a:srgbClr val="EEF5F3"/>
          </a:solidFill>
          <a:ln/>
        </p:spPr>
        <p:txBody>
          <a:bodyPr/>
          <a:lstStyle/>
          <a:p>
            <a:endParaRPr lang="ja-JP" altLang="en-US"/>
          </a:p>
        </p:txBody>
      </p:sp>
      <p:sp>
        <p:nvSpPr>
          <p:cNvPr id="19" name="Shape 17"/>
          <p:cNvSpPr/>
          <p:nvPr/>
        </p:nvSpPr>
        <p:spPr>
          <a:xfrm>
            <a:off x="7772400" y="1691640"/>
            <a:ext cx="457200" cy="457200"/>
          </a:xfrm>
          <a:prstGeom prst="ellipse">
            <a:avLst/>
          </a:prstGeom>
          <a:solidFill>
            <a:srgbClr val="1F6F5C"/>
          </a:solidFill>
          <a:ln/>
        </p:spPr>
        <p:txBody>
          <a:bodyPr/>
          <a:lstStyle/>
          <a:p>
            <a:endParaRPr lang="ja-JP" altLang="en-US"/>
          </a:p>
        </p:txBody>
      </p:sp>
      <p:sp>
        <p:nvSpPr>
          <p:cNvPr id="20" name="Text 18"/>
          <p:cNvSpPr txBox="1"/>
          <p:nvPr/>
        </p:nvSpPr>
        <p:spPr>
          <a:xfrm>
            <a:off x="777240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21" name="Text 19"/>
          <p:cNvSpPr txBox="1"/>
          <p:nvPr/>
        </p:nvSpPr>
        <p:spPr>
          <a:xfrm>
            <a:off x="8412480" y="1645920"/>
            <a:ext cx="269748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血液の出入り口</a:t>
            </a:r>
            <a:endParaRPr lang="en-US" sz="1500" dirty="0"/>
          </a:p>
        </p:txBody>
      </p:sp>
      <p:sp>
        <p:nvSpPr>
          <p:cNvPr id="22" name="Text 20"/>
          <p:cNvSpPr txBox="1"/>
          <p:nvPr/>
        </p:nvSpPr>
        <p:spPr>
          <a:xfrm>
            <a:off x="8412480" y="2029968"/>
            <a:ext cx="2697480" cy="77724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血液透析などの血液浄化を行うために必要な、血液の出入り口となる</a:t>
            </a:r>
            <a:endParaRPr lang="en-US" sz="1150" dirty="0"/>
          </a:p>
        </p:txBody>
      </p:sp>
      <p:sp>
        <p:nvSpPr>
          <p:cNvPr id="23" name="Shape 21"/>
          <p:cNvSpPr/>
          <p:nvPr/>
        </p:nvSpPr>
        <p:spPr>
          <a:xfrm>
            <a:off x="7543800" y="3063240"/>
            <a:ext cx="3794760" cy="1417320"/>
          </a:xfrm>
          <a:prstGeom prst="roundRect">
            <a:avLst>
              <a:gd name="adj" fmla="val 6452"/>
            </a:avLst>
          </a:prstGeom>
          <a:solidFill>
            <a:srgbClr val="EEF5F3"/>
          </a:solidFill>
          <a:ln/>
        </p:spPr>
        <p:txBody>
          <a:bodyPr/>
          <a:lstStyle/>
          <a:p>
            <a:endParaRPr lang="ja-JP" altLang="en-US"/>
          </a:p>
        </p:txBody>
      </p:sp>
      <p:sp>
        <p:nvSpPr>
          <p:cNvPr id="24" name="Shape 22"/>
          <p:cNvSpPr/>
          <p:nvPr/>
        </p:nvSpPr>
        <p:spPr>
          <a:xfrm>
            <a:off x="7772400" y="3291840"/>
            <a:ext cx="457200" cy="457200"/>
          </a:xfrm>
          <a:prstGeom prst="ellipse">
            <a:avLst/>
          </a:prstGeom>
          <a:solidFill>
            <a:srgbClr val="1F6F5C"/>
          </a:solidFill>
          <a:ln/>
        </p:spPr>
        <p:txBody>
          <a:bodyPr/>
          <a:lstStyle/>
          <a:p>
            <a:endParaRPr lang="ja-JP" altLang="en-US"/>
          </a:p>
        </p:txBody>
      </p:sp>
      <p:sp>
        <p:nvSpPr>
          <p:cNvPr id="25" name="Text 23"/>
          <p:cNvSpPr txBox="1"/>
          <p:nvPr/>
        </p:nvSpPr>
        <p:spPr>
          <a:xfrm>
            <a:off x="7772400" y="3291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26" name="Text 24"/>
          <p:cNvSpPr txBox="1"/>
          <p:nvPr/>
        </p:nvSpPr>
        <p:spPr>
          <a:xfrm>
            <a:off x="8412480" y="3246120"/>
            <a:ext cx="269748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シャントと非シャント</a:t>
            </a:r>
            <a:endParaRPr lang="en-US" sz="1500" dirty="0"/>
          </a:p>
        </p:txBody>
      </p:sp>
      <p:sp>
        <p:nvSpPr>
          <p:cNvPr id="27" name="Text 25"/>
          <p:cNvSpPr txBox="1"/>
          <p:nvPr/>
        </p:nvSpPr>
        <p:spPr>
          <a:xfrm>
            <a:off x="8412480" y="3630168"/>
            <a:ext cx="2697480" cy="77724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動脈と静脈が短絡を形成する「シャント」と、短絡のない「非シャント」に分けられる</a:t>
            </a:r>
            <a:endParaRPr lang="en-US" sz="1150" dirty="0"/>
          </a:p>
        </p:txBody>
      </p:sp>
      <p:sp>
        <p:nvSpPr>
          <p:cNvPr id="28" name="Shape 26"/>
          <p:cNvSpPr/>
          <p:nvPr/>
        </p:nvSpPr>
        <p:spPr>
          <a:xfrm>
            <a:off x="7543800" y="4663440"/>
            <a:ext cx="3794760" cy="1417320"/>
          </a:xfrm>
          <a:prstGeom prst="roundRect">
            <a:avLst>
              <a:gd name="adj" fmla="val 6452"/>
            </a:avLst>
          </a:prstGeom>
          <a:solidFill>
            <a:srgbClr val="EEF5F3"/>
          </a:solidFill>
          <a:ln/>
        </p:spPr>
        <p:txBody>
          <a:bodyPr/>
          <a:lstStyle/>
          <a:p>
            <a:endParaRPr lang="ja-JP" altLang="en-US"/>
          </a:p>
        </p:txBody>
      </p:sp>
      <p:sp>
        <p:nvSpPr>
          <p:cNvPr id="29" name="Shape 27"/>
          <p:cNvSpPr/>
          <p:nvPr/>
        </p:nvSpPr>
        <p:spPr>
          <a:xfrm>
            <a:off x="7772400" y="4892040"/>
            <a:ext cx="457200" cy="457200"/>
          </a:xfrm>
          <a:prstGeom prst="ellipse">
            <a:avLst/>
          </a:prstGeom>
          <a:solidFill>
            <a:srgbClr val="1F6F5C"/>
          </a:solidFill>
          <a:ln/>
        </p:spPr>
        <p:txBody>
          <a:bodyPr/>
          <a:lstStyle/>
          <a:p>
            <a:endParaRPr lang="ja-JP" altLang="en-US"/>
          </a:p>
        </p:txBody>
      </p:sp>
      <p:sp>
        <p:nvSpPr>
          <p:cNvPr id="30" name="Text 28"/>
          <p:cNvSpPr txBox="1"/>
          <p:nvPr/>
        </p:nvSpPr>
        <p:spPr>
          <a:xfrm>
            <a:off x="7772400" y="4892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31" name="Text 29"/>
          <p:cNvSpPr txBox="1"/>
          <p:nvPr/>
        </p:nvSpPr>
        <p:spPr>
          <a:xfrm>
            <a:off x="8412480" y="4846320"/>
            <a:ext cx="269748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超音波検査の目的</a:t>
            </a:r>
            <a:endParaRPr lang="en-US" sz="1500" dirty="0"/>
          </a:p>
        </p:txBody>
      </p:sp>
      <p:sp>
        <p:nvSpPr>
          <p:cNvPr id="32" name="Text 30"/>
          <p:cNvSpPr txBox="1"/>
          <p:nvPr/>
        </p:nvSpPr>
        <p:spPr>
          <a:xfrm>
            <a:off x="8412480" y="5230368"/>
            <a:ext cx="2697480" cy="77724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VAの機能・形態を評価し、管理や治療方針に活用できる情報を臨床側に提供する</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VAの分類</a:t>
            </a:r>
            <a:endParaRPr lang="en-US" sz="28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動静脈が短絡を形成する「シャント」と、短絡のない「非シャント」に大別される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VAの基礎知識</a:t>
            </a:r>
            <a:endParaRPr lang="en-US" sz="1100" dirty="0"/>
          </a:p>
        </p:txBody>
      </p:sp>
      <p:sp>
        <p:nvSpPr>
          <p:cNvPr id="6" name="Shape 4"/>
          <p:cNvSpPr/>
          <p:nvPr/>
        </p:nvSpPr>
        <p:spPr>
          <a:xfrm>
            <a:off x="502920" y="1600200"/>
            <a:ext cx="7178040" cy="502920"/>
          </a:xfrm>
          <a:prstGeom prst="roundRect">
            <a:avLst>
              <a:gd name="adj" fmla="val 14545"/>
            </a:avLst>
          </a:prstGeom>
          <a:solidFill>
            <a:srgbClr val="33475B"/>
          </a:solidFill>
          <a:ln/>
        </p:spPr>
        <p:txBody>
          <a:bodyPr/>
          <a:lstStyle/>
          <a:p>
            <a:endParaRPr lang="ja-JP" altLang="en-US"/>
          </a:p>
        </p:txBody>
      </p:sp>
      <p:sp>
        <p:nvSpPr>
          <p:cNvPr id="7" name="Text 5"/>
          <p:cNvSpPr txBox="1"/>
          <p:nvPr/>
        </p:nvSpPr>
        <p:spPr>
          <a:xfrm>
            <a:off x="777240" y="1600200"/>
            <a:ext cx="662940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内シャント（シャント）</a:t>
            </a:r>
            <a:endParaRPr lang="en-US" sz="1600" dirty="0"/>
          </a:p>
        </p:txBody>
      </p:sp>
      <p:sp>
        <p:nvSpPr>
          <p:cNvPr id="8" name="Text 6"/>
          <p:cNvSpPr txBox="1"/>
          <p:nvPr/>
        </p:nvSpPr>
        <p:spPr>
          <a:xfrm>
            <a:off x="777240" y="1600200"/>
            <a:ext cx="6629400" cy="502920"/>
          </a:xfrm>
          <a:prstGeom prst="rect">
            <a:avLst/>
          </a:prstGeom>
          <a:noFill/>
          <a:ln/>
        </p:spPr>
        <p:txBody>
          <a:bodyPr wrap="square" lIns="635" tIns="635" rIns="635" bIns="635" rtlCol="0" anchor="ctr"/>
          <a:lstStyle/>
          <a:p>
            <a:pPr marL="0" indent="0" algn="r">
              <a:buNone/>
            </a:pPr>
            <a:r>
              <a:rPr lang="en-US" sz="1150" dirty="0">
                <a:solidFill>
                  <a:srgbClr val="D7E1E6"/>
                </a:solidFill>
                <a:latin typeface="Yu Gothic" pitchFamily="34" charset="0"/>
                <a:ea typeface="Yu Gothic" pitchFamily="34" charset="-122"/>
                <a:cs typeface="Yu Gothic" pitchFamily="34" charset="-120"/>
              </a:rPr>
              <a:t>動脈と静脈が短絡を形成する</a:t>
            </a:r>
            <a:endParaRPr lang="en-US" sz="1150" dirty="0"/>
          </a:p>
        </p:txBody>
      </p:sp>
      <p:sp>
        <p:nvSpPr>
          <p:cNvPr id="9" name="Shape 7"/>
          <p:cNvSpPr/>
          <p:nvPr/>
        </p:nvSpPr>
        <p:spPr>
          <a:xfrm>
            <a:off x="7863840" y="1600200"/>
            <a:ext cx="3794760" cy="502920"/>
          </a:xfrm>
          <a:prstGeom prst="roundRect">
            <a:avLst>
              <a:gd name="adj" fmla="val 14545"/>
            </a:avLst>
          </a:prstGeom>
          <a:solidFill>
            <a:srgbClr val="5A7184"/>
          </a:solidFill>
          <a:ln/>
        </p:spPr>
        <p:txBody>
          <a:bodyPr/>
          <a:lstStyle/>
          <a:p>
            <a:endParaRPr lang="ja-JP" altLang="en-US"/>
          </a:p>
        </p:txBody>
      </p:sp>
      <p:sp>
        <p:nvSpPr>
          <p:cNvPr id="10" name="Text 8"/>
          <p:cNvSpPr txBox="1"/>
          <p:nvPr/>
        </p:nvSpPr>
        <p:spPr>
          <a:xfrm>
            <a:off x="8138160" y="1600200"/>
            <a:ext cx="324612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非シャント</a:t>
            </a:r>
            <a:endParaRPr lang="en-US" sz="1600" dirty="0"/>
          </a:p>
        </p:txBody>
      </p:sp>
      <p:sp>
        <p:nvSpPr>
          <p:cNvPr id="11" name="Text 9"/>
          <p:cNvSpPr txBox="1"/>
          <p:nvPr/>
        </p:nvSpPr>
        <p:spPr>
          <a:xfrm>
            <a:off x="8138160" y="1600200"/>
            <a:ext cx="3246120" cy="502920"/>
          </a:xfrm>
          <a:prstGeom prst="rect">
            <a:avLst/>
          </a:prstGeom>
          <a:noFill/>
          <a:ln/>
        </p:spPr>
        <p:txBody>
          <a:bodyPr wrap="square" lIns="635" tIns="635" rIns="635" bIns="635" rtlCol="0" anchor="ctr"/>
          <a:lstStyle/>
          <a:p>
            <a:pPr marL="0" indent="0" algn="r">
              <a:buNone/>
            </a:pPr>
            <a:r>
              <a:rPr lang="en-US" sz="1150" dirty="0">
                <a:solidFill>
                  <a:srgbClr val="E4E9EC"/>
                </a:solidFill>
                <a:latin typeface="Yu Gothic" pitchFamily="34" charset="0"/>
                <a:ea typeface="Yu Gothic" pitchFamily="34" charset="-122"/>
                <a:cs typeface="Yu Gothic" pitchFamily="34" charset="-120"/>
              </a:rPr>
              <a:t>短絡なし</a:t>
            </a:r>
            <a:endParaRPr lang="en-US" sz="1150" dirty="0"/>
          </a:p>
        </p:txBody>
      </p:sp>
      <p:sp>
        <p:nvSpPr>
          <p:cNvPr id="12" name="Shape 10"/>
          <p:cNvSpPr/>
          <p:nvPr/>
        </p:nvSpPr>
        <p:spPr>
          <a:xfrm>
            <a:off x="502920" y="2331720"/>
            <a:ext cx="3429000" cy="4114800"/>
          </a:xfrm>
          <a:prstGeom prst="roundRect">
            <a:avLst>
              <a:gd name="adj" fmla="val 2667"/>
            </a:avLst>
          </a:prstGeom>
          <a:solidFill>
            <a:srgbClr val="EEF5F3"/>
          </a:solidFill>
          <a:ln/>
        </p:spPr>
        <p:txBody>
          <a:bodyPr/>
          <a:lstStyle/>
          <a:p>
            <a:endParaRPr lang="ja-JP" altLang="en-US"/>
          </a:p>
        </p:txBody>
      </p:sp>
      <p:sp>
        <p:nvSpPr>
          <p:cNvPr id="13" name="Text 11"/>
          <p:cNvSpPr txBox="1"/>
          <p:nvPr/>
        </p:nvSpPr>
        <p:spPr>
          <a:xfrm>
            <a:off x="777240" y="2560320"/>
            <a:ext cx="2880360" cy="457200"/>
          </a:xfrm>
          <a:prstGeom prst="rect">
            <a:avLst/>
          </a:prstGeom>
          <a:noFill/>
          <a:ln/>
        </p:spPr>
        <p:txBody>
          <a:bodyPr wrap="square" lIns="0" tIns="0" rIns="0" bIns="0" rtlCol="0" anchor="ctr"/>
          <a:lstStyle/>
          <a:p>
            <a:pPr marL="0" indent="0" algn="l">
              <a:buNone/>
            </a:pPr>
            <a:r>
              <a:rPr lang="en-US" sz="2200" b="1" dirty="0">
                <a:solidFill>
                  <a:srgbClr val="1F6F5C"/>
                </a:solidFill>
                <a:latin typeface="Yu Gothic" pitchFamily="34" charset="0"/>
                <a:ea typeface="Yu Gothic" pitchFamily="34" charset="-122"/>
                <a:cs typeface="Yu Gothic" pitchFamily="34" charset="-120"/>
              </a:rPr>
              <a:t>AVF</a:t>
            </a:r>
            <a:endParaRPr lang="en-US" sz="2200" dirty="0"/>
          </a:p>
        </p:txBody>
      </p:sp>
      <p:sp>
        <p:nvSpPr>
          <p:cNvPr id="14" name="Text 12"/>
          <p:cNvSpPr txBox="1"/>
          <p:nvPr/>
        </p:nvSpPr>
        <p:spPr>
          <a:xfrm>
            <a:off x="777240" y="3044952"/>
            <a:ext cx="2880360" cy="320040"/>
          </a:xfrm>
          <a:prstGeom prst="rect">
            <a:avLst/>
          </a:prstGeom>
          <a:noFill/>
          <a:ln/>
        </p:spPr>
        <p:txBody>
          <a:bodyPr wrap="square" lIns="0" tIns="0" rIns="0" bIns="0" rtlCol="0" anchor="ctr"/>
          <a:lstStyle/>
          <a:p>
            <a:pPr marL="0" indent="0" algn="l">
              <a:buNone/>
            </a:pPr>
            <a:r>
              <a:rPr lang="en-US" sz="1200" b="1" dirty="0">
                <a:solidFill>
                  <a:srgbClr val="4B5B63"/>
                </a:solidFill>
                <a:latin typeface="Yu Gothic" pitchFamily="34" charset="0"/>
                <a:ea typeface="Yu Gothic" pitchFamily="34" charset="-122"/>
                <a:cs typeface="Yu Gothic" pitchFamily="34" charset="-120"/>
              </a:rPr>
              <a:t>自己血管内シャント</a:t>
            </a:r>
            <a:endParaRPr lang="en-US" sz="1200" dirty="0"/>
          </a:p>
        </p:txBody>
      </p:sp>
      <p:sp>
        <p:nvSpPr>
          <p:cNvPr id="15" name="Shape 13"/>
          <p:cNvSpPr/>
          <p:nvPr/>
        </p:nvSpPr>
        <p:spPr>
          <a:xfrm>
            <a:off x="777240" y="3447288"/>
            <a:ext cx="2880360" cy="0"/>
          </a:xfrm>
          <a:prstGeom prst="line">
            <a:avLst/>
          </a:prstGeom>
          <a:noFill/>
          <a:ln w="12700">
            <a:solidFill>
              <a:srgbClr val="D9E2E6"/>
            </a:solidFill>
            <a:prstDash val="solid"/>
          </a:ln>
        </p:spPr>
        <p:txBody>
          <a:bodyPr/>
          <a:lstStyle/>
          <a:p>
            <a:endParaRPr lang="ja-JP" altLang="en-US"/>
          </a:p>
        </p:txBody>
      </p:sp>
      <p:sp>
        <p:nvSpPr>
          <p:cNvPr id="16" name="Text 14"/>
          <p:cNvSpPr txBox="1"/>
          <p:nvPr/>
        </p:nvSpPr>
        <p:spPr>
          <a:xfrm>
            <a:off x="777240" y="3611880"/>
            <a:ext cx="2880360" cy="2606040"/>
          </a:xfrm>
          <a:prstGeom prst="rect">
            <a:avLst/>
          </a:prstGeom>
          <a:noFill/>
          <a:ln/>
        </p:spPr>
        <p:txBody>
          <a:bodyPr wrap="square" lIns="0" tIns="0" rIns="0" bIns="0" rtlCol="0" anchor="t"/>
          <a:lstStyle/>
          <a:p>
            <a:pPr marL="0" indent="0" algn="l">
              <a:buNone/>
            </a:pPr>
            <a:r>
              <a:rPr lang="en-US" sz="1250" dirty="0">
                <a:solidFill>
                  <a:srgbClr val="1F2933"/>
                </a:solidFill>
                <a:latin typeface="Yu Gothic" pitchFamily="34" charset="0"/>
                <a:ea typeface="Yu Gothic" pitchFamily="34" charset="-122"/>
                <a:cs typeface="Yu Gothic" pitchFamily="34" charset="-120"/>
              </a:rPr>
              <a:t>動静脈を外科的に吻合したVA。動脈の血流が直接静脈に流れ込む。VAの中で最も割合が多く、開存性に優れている。</a:t>
            </a:r>
            <a:endParaRPr lang="en-US" sz="1250" dirty="0"/>
          </a:p>
        </p:txBody>
      </p:sp>
      <p:sp>
        <p:nvSpPr>
          <p:cNvPr id="17" name="Shape 15"/>
          <p:cNvSpPr/>
          <p:nvPr/>
        </p:nvSpPr>
        <p:spPr>
          <a:xfrm>
            <a:off x="4251960" y="2331720"/>
            <a:ext cx="3429000" cy="4114800"/>
          </a:xfrm>
          <a:prstGeom prst="roundRect">
            <a:avLst>
              <a:gd name="adj" fmla="val 2667"/>
            </a:avLst>
          </a:prstGeom>
          <a:solidFill>
            <a:srgbClr val="EEF5F3"/>
          </a:solidFill>
          <a:ln/>
        </p:spPr>
        <p:txBody>
          <a:bodyPr/>
          <a:lstStyle/>
          <a:p>
            <a:endParaRPr lang="ja-JP" altLang="en-US"/>
          </a:p>
        </p:txBody>
      </p:sp>
      <p:sp>
        <p:nvSpPr>
          <p:cNvPr id="18" name="Text 16"/>
          <p:cNvSpPr txBox="1"/>
          <p:nvPr/>
        </p:nvSpPr>
        <p:spPr>
          <a:xfrm>
            <a:off x="4526280" y="2560320"/>
            <a:ext cx="2880360" cy="457200"/>
          </a:xfrm>
          <a:prstGeom prst="rect">
            <a:avLst/>
          </a:prstGeom>
          <a:noFill/>
          <a:ln/>
        </p:spPr>
        <p:txBody>
          <a:bodyPr wrap="square" lIns="0" tIns="0" rIns="0" bIns="0" rtlCol="0" anchor="ctr"/>
          <a:lstStyle/>
          <a:p>
            <a:pPr marL="0" indent="0" algn="l">
              <a:buNone/>
            </a:pPr>
            <a:r>
              <a:rPr lang="en-US" sz="2200" b="1" dirty="0">
                <a:solidFill>
                  <a:srgbClr val="1F6F5C"/>
                </a:solidFill>
                <a:latin typeface="Yu Gothic" pitchFamily="34" charset="0"/>
                <a:ea typeface="Yu Gothic" pitchFamily="34" charset="-122"/>
                <a:cs typeface="Yu Gothic" pitchFamily="34" charset="-120"/>
              </a:rPr>
              <a:t>AVG</a:t>
            </a:r>
            <a:endParaRPr lang="en-US" sz="2200" dirty="0"/>
          </a:p>
        </p:txBody>
      </p:sp>
      <p:sp>
        <p:nvSpPr>
          <p:cNvPr id="19" name="Text 17"/>
          <p:cNvSpPr txBox="1"/>
          <p:nvPr/>
        </p:nvSpPr>
        <p:spPr>
          <a:xfrm>
            <a:off x="4526280" y="3044952"/>
            <a:ext cx="2880360" cy="320040"/>
          </a:xfrm>
          <a:prstGeom prst="rect">
            <a:avLst/>
          </a:prstGeom>
          <a:noFill/>
          <a:ln/>
        </p:spPr>
        <p:txBody>
          <a:bodyPr wrap="square" lIns="0" tIns="0" rIns="0" bIns="0" rtlCol="0" anchor="ctr"/>
          <a:lstStyle/>
          <a:p>
            <a:pPr marL="0" indent="0" algn="l">
              <a:buNone/>
            </a:pPr>
            <a:r>
              <a:rPr lang="en-US" sz="1200" b="1" dirty="0">
                <a:solidFill>
                  <a:srgbClr val="4B5B63"/>
                </a:solidFill>
                <a:latin typeface="Yu Gothic" pitchFamily="34" charset="0"/>
                <a:ea typeface="Yu Gothic" pitchFamily="34" charset="-122"/>
                <a:cs typeface="Yu Gothic" pitchFamily="34" charset="-120"/>
              </a:rPr>
              <a:t>人工血管内シャント</a:t>
            </a:r>
            <a:endParaRPr lang="en-US" sz="1200" dirty="0"/>
          </a:p>
        </p:txBody>
      </p:sp>
      <p:sp>
        <p:nvSpPr>
          <p:cNvPr id="20" name="Shape 18"/>
          <p:cNvSpPr/>
          <p:nvPr/>
        </p:nvSpPr>
        <p:spPr>
          <a:xfrm>
            <a:off x="4526280" y="3447288"/>
            <a:ext cx="2880360" cy="0"/>
          </a:xfrm>
          <a:prstGeom prst="line">
            <a:avLst/>
          </a:prstGeom>
          <a:noFill/>
          <a:ln w="12700">
            <a:solidFill>
              <a:srgbClr val="D9E2E6"/>
            </a:solidFill>
            <a:prstDash val="solid"/>
          </a:ln>
        </p:spPr>
        <p:txBody>
          <a:bodyPr/>
          <a:lstStyle/>
          <a:p>
            <a:endParaRPr lang="ja-JP" altLang="en-US"/>
          </a:p>
        </p:txBody>
      </p:sp>
      <p:sp>
        <p:nvSpPr>
          <p:cNvPr id="21" name="Text 19"/>
          <p:cNvSpPr txBox="1"/>
          <p:nvPr/>
        </p:nvSpPr>
        <p:spPr>
          <a:xfrm>
            <a:off x="4526280" y="3611880"/>
            <a:ext cx="2880360" cy="2606040"/>
          </a:xfrm>
          <a:prstGeom prst="rect">
            <a:avLst/>
          </a:prstGeom>
          <a:noFill/>
          <a:ln/>
        </p:spPr>
        <p:txBody>
          <a:bodyPr wrap="square" lIns="0" tIns="0" rIns="0" bIns="0" rtlCol="0" anchor="t"/>
          <a:lstStyle/>
          <a:p>
            <a:pPr marL="0" indent="0" algn="l">
              <a:buNone/>
            </a:pPr>
            <a:r>
              <a:rPr lang="en-US" sz="1250" dirty="0">
                <a:solidFill>
                  <a:srgbClr val="1F2933"/>
                </a:solidFill>
                <a:latin typeface="Yu Gothic" pitchFamily="34" charset="0"/>
                <a:ea typeface="Yu Gothic" pitchFamily="34" charset="-122"/>
                <a:cs typeface="Yu Gothic" pitchFamily="34" charset="-120"/>
              </a:rPr>
              <a:t>人工血管を移植し、動脈・静脈それぞれに吻合したVA。動静脈が細いなどAVFが作製できない場合に適応となる。</a:t>
            </a:r>
            <a:endParaRPr lang="en-US" sz="1250" dirty="0"/>
          </a:p>
        </p:txBody>
      </p:sp>
      <p:sp>
        <p:nvSpPr>
          <p:cNvPr id="22" name="Shape 20"/>
          <p:cNvSpPr/>
          <p:nvPr/>
        </p:nvSpPr>
        <p:spPr>
          <a:xfrm>
            <a:off x="7863840" y="2331720"/>
            <a:ext cx="3794760" cy="4114800"/>
          </a:xfrm>
          <a:prstGeom prst="roundRect">
            <a:avLst>
              <a:gd name="adj" fmla="val 2410"/>
            </a:avLst>
          </a:prstGeom>
          <a:solidFill>
            <a:srgbClr val="EEF5F3"/>
          </a:solidFill>
          <a:ln/>
        </p:spPr>
        <p:txBody>
          <a:bodyPr/>
          <a:lstStyle/>
          <a:p>
            <a:endParaRPr lang="ja-JP" altLang="en-US"/>
          </a:p>
        </p:txBody>
      </p:sp>
      <p:sp>
        <p:nvSpPr>
          <p:cNvPr id="23" name="Text 21"/>
          <p:cNvSpPr txBox="1"/>
          <p:nvPr/>
        </p:nvSpPr>
        <p:spPr>
          <a:xfrm>
            <a:off x="8138160" y="2560320"/>
            <a:ext cx="3246120" cy="457200"/>
          </a:xfrm>
          <a:prstGeom prst="rect">
            <a:avLst/>
          </a:prstGeom>
          <a:noFill/>
          <a:ln/>
        </p:spPr>
        <p:txBody>
          <a:bodyPr wrap="square" lIns="0" tIns="0" rIns="0" bIns="0" rtlCol="0" anchor="ctr"/>
          <a:lstStyle/>
          <a:p>
            <a:pPr marL="0" indent="0" algn="l">
              <a:buNone/>
            </a:pPr>
            <a:r>
              <a:rPr lang="en-US" sz="2200" b="1" dirty="0">
                <a:solidFill>
                  <a:srgbClr val="1F6F5C"/>
                </a:solidFill>
                <a:latin typeface="Yu Gothic" pitchFamily="34" charset="0"/>
                <a:ea typeface="Yu Gothic" pitchFamily="34" charset="-122"/>
                <a:cs typeface="Yu Gothic" pitchFamily="34" charset="-120"/>
              </a:rPr>
              <a:t>動脈表在化</a:t>
            </a:r>
            <a:endParaRPr lang="en-US" sz="2200" dirty="0"/>
          </a:p>
        </p:txBody>
      </p:sp>
      <p:sp>
        <p:nvSpPr>
          <p:cNvPr id="24" name="Text 22"/>
          <p:cNvSpPr txBox="1"/>
          <p:nvPr/>
        </p:nvSpPr>
        <p:spPr>
          <a:xfrm>
            <a:off x="8138160" y="3044952"/>
            <a:ext cx="3246120" cy="320040"/>
          </a:xfrm>
          <a:prstGeom prst="rect">
            <a:avLst/>
          </a:prstGeom>
          <a:noFill/>
          <a:ln/>
        </p:spPr>
        <p:txBody>
          <a:bodyPr wrap="square" lIns="0" tIns="0" rIns="0" bIns="0" rtlCol="0" anchor="ctr"/>
          <a:lstStyle/>
          <a:p>
            <a:pPr marL="0" indent="0" algn="l">
              <a:buNone/>
            </a:pPr>
            <a:r>
              <a:rPr lang="en-US" sz="1200" b="1" dirty="0">
                <a:solidFill>
                  <a:srgbClr val="4B5B63"/>
                </a:solidFill>
                <a:latin typeface="Yu Gothic" pitchFamily="34" charset="0"/>
                <a:ea typeface="Yu Gothic" pitchFamily="34" charset="-122"/>
                <a:cs typeface="Yu Gothic" pitchFamily="34" charset="-120"/>
              </a:rPr>
              <a:t>非シャント</a:t>
            </a:r>
            <a:endParaRPr lang="en-US" sz="1200" dirty="0"/>
          </a:p>
        </p:txBody>
      </p:sp>
      <p:sp>
        <p:nvSpPr>
          <p:cNvPr id="25" name="Shape 23"/>
          <p:cNvSpPr/>
          <p:nvPr/>
        </p:nvSpPr>
        <p:spPr>
          <a:xfrm>
            <a:off x="8138160" y="3447288"/>
            <a:ext cx="3246120" cy="0"/>
          </a:xfrm>
          <a:prstGeom prst="line">
            <a:avLst/>
          </a:prstGeom>
          <a:noFill/>
          <a:ln w="12700">
            <a:solidFill>
              <a:srgbClr val="D9E2E6"/>
            </a:solidFill>
            <a:prstDash val="solid"/>
          </a:ln>
        </p:spPr>
        <p:txBody>
          <a:bodyPr/>
          <a:lstStyle/>
          <a:p>
            <a:endParaRPr lang="ja-JP" altLang="en-US"/>
          </a:p>
        </p:txBody>
      </p:sp>
      <p:sp>
        <p:nvSpPr>
          <p:cNvPr id="26" name="Text 24"/>
          <p:cNvSpPr txBox="1"/>
          <p:nvPr/>
        </p:nvSpPr>
        <p:spPr>
          <a:xfrm>
            <a:off x="8138160" y="3611880"/>
            <a:ext cx="3246120" cy="2606040"/>
          </a:xfrm>
          <a:prstGeom prst="rect">
            <a:avLst/>
          </a:prstGeom>
          <a:noFill/>
          <a:ln/>
        </p:spPr>
        <p:txBody>
          <a:bodyPr wrap="square" lIns="0" tIns="0" rIns="0" bIns="0" rtlCol="0" anchor="t"/>
          <a:lstStyle/>
          <a:p>
            <a:pPr marL="0" indent="0" algn="l">
              <a:buNone/>
            </a:pPr>
            <a:r>
              <a:rPr lang="en-US" sz="1250" dirty="0">
                <a:solidFill>
                  <a:srgbClr val="1F2933"/>
                </a:solidFill>
                <a:latin typeface="Yu Gothic" pitchFamily="34" charset="0"/>
                <a:ea typeface="Yu Gothic" pitchFamily="34" charset="-122"/>
                <a:cs typeface="Yu Gothic" pitchFamily="34" charset="-120"/>
              </a:rPr>
              <a:t>筋膜下を走行する動脈を外科手術で皮下組織内に持ち上げ、穿刺しやすくしたもの。動静脈の短絡は作らず、返血用の静脈が別途必要。心機能が不良などの理由で内シャントが作製できない場合に適応。</a:t>
            </a:r>
            <a:endParaRPr lang="en-US" sz="1250" dirty="0"/>
          </a:p>
        </p:txBody>
      </p:sp>
      <p:pic>
        <p:nvPicPr>
          <p:cNvPr id="28" name="図 27">
            <a:extLst>
              <a:ext uri="{FF2B5EF4-FFF2-40B4-BE49-F238E27FC236}">
                <a16:creationId xmlns:a16="http://schemas.microsoft.com/office/drawing/2014/main" id="{B1FA0048-0638-4412-16E9-BC25EAF319A6}"/>
              </a:ext>
            </a:extLst>
          </p:cNvPr>
          <p:cNvPicPr>
            <a:picLocks noChangeAspect="1"/>
          </p:cNvPicPr>
          <p:nvPr/>
        </p:nvPicPr>
        <p:blipFill>
          <a:blip r:embed="rId3"/>
          <a:stretch>
            <a:fillRect/>
          </a:stretch>
        </p:blipFill>
        <p:spPr>
          <a:xfrm>
            <a:off x="533400" y="4766254"/>
            <a:ext cx="3329473" cy="863490"/>
          </a:xfrm>
          <a:prstGeom prst="rect">
            <a:avLst/>
          </a:prstGeom>
        </p:spPr>
      </p:pic>
      <p:pic>
        <p:nvPicPr>
          <p:cNvPr id="30" name="図 29">
            <a:extLst>
              <a:ext uri="{FF2B5EF4-FFF2-40B4-BE49-F238E27FC236}">
                <a16:creationId xmlns:a16="http://schemas.microsoft.com/office/drawing/2014/main" id="{81BB9DD5-7FBF-C237-35E4-B1BE26DC01A5}"/>
              </a:ext>
            </a:extLst>
          </p:cNvPr>
          <p:cNvPicPr>
            <a:picLocks noChangeAspect="1"/>
          </p:cNvPicPr>
          <p:nvPr/>
        </p:nvPicPr>
        <p:blipFill>
          <a:blip r:embed="rId4"/>
          <a:stretch>
            <a:fillRect/>
          </a:stretch>
        </p:blipFill>
        <p:spPr>
          <a:xfrm>
            <a:off x="4282358" y="4766254"/>
            <a:ext cx="3368203" cy="869435"/>
          </a:xfrm>
          <a:prstGeom prst="rect">
            <a:avLst/>
          </a:prstGeom>
        </p:spPr>
      </p:pic>
      <p:pic>
        <p:nvPicPr>
          <p:cNvPr id="32" name="図 31">
            <a:extLst>
              <a:ext uri="{FF2B5EF4-FFF2-40B4-BE49-F238E27FC236}">
                <a16:creationId xmlns:a16="http://schemas.microsoft.com/office/drawing/2014/main" id="{B9810D5B-D754-656B-1355-E0F411569C4B}"/>
              </a:ext>
            </a:extLst>
          </p:cNvPr>
          <p:cNvPicPr>
            <a:picLocks noChangeAspect="1"/>
          </p:cNvPicPr>
          <p:nvPr/>
        </p:nvPicPr>
        <p:blipFill>
          <a:blip r:embed="rId5"/>
          <a:stretch>
            <a:fillRect/>
          </a:stretch>
        </p:blipFill>
        <p:spPr>
          <a:xfrm>
            <a:off x="8069580" y="4766254"/>
            <a:ext cx="3429000" cy="8744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血管解剖：動脈</a:t>
            </a:r>
            <a:endParaRPr lang="en-US" sz="28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鎖骨下動脈から手掌までの上肢動脈の走行を理解する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血管解剖</a:t>
            </a:r>
            <a:endParaRPr lang="en-US" sz="1100" dirty="0"/>
          </a:p>
        </p:txBody>
      </p:sp>
      <p:sp>
        <p:nvSpPr>
          <p:cNvPr id="6" name="Shape 4"/>
          <p:cNvSpPr/>
          <p:nvPr/>
        </p:nvSpPr>
        <p:spPr>
          <a:xfrm>
            <a:off x="704088" y="1801368"/>
            <a:ext cx="0" cy="3474720"/>
          </a:xfrm>
          <a:prstGeom prst="line">
            <a:avLst/>
          </a:prstGeom>
          <a:noFill/>
          <a:ln w="25400">
            <a:solidFill>
              <a:srgbClr val="D9E2E6"/>
            </a:solidFill>
            <a:prstDash val="solid"/>
          </a:ln>
        </p:spPr>
        <p:txBody>
          <a:bodyPr/>
          <a:lstStyle/>
          <a:p>
            <a:endParaRPr lang="ja-JP" altLang="en-US"/>
          </a:p>
        </p:txBody>
      </p:sp>
      <p:sp>
        <p:nvSpPr>
          <p:cNvPr id="7" name="Shape 5"/>
          <p:cNvSpPr/>
          <p:nvPr/>
        </p:nvSpPr>
        <p:spPr>
          <a:xfrm>
            <a:off x="502920" y="1600200"/>
            <a:ext cx="402336" cy="402336"/>
          </a:xfrm>
          <a:prstGeom prst="ellipse">
            <a:avLst/>
          </a:prstGeom>
          <a:solidFill>
            <a:srgbClr val="33475B"/>
          </a:solidFill>
          <a:ln/>
        </p:spPr>
        <p:txBody>
          <a:bodyPr/>
          <a:lstStyle/>
          <a:p>
            <a:endParaRPr lang="ja-JP" altLang="en-US"/>
          </a:p>
        </p:txBody>
      </p:sp>
      <p:sp>
        <p:nvSpPr>
          <p:cNvPr id="8" name="Text 6"/>
          <p:cNvSpPr txBox="1"/>
          <p:nvPr/>
        </p:nvSpPr>
        <p:spPr>
          <a:xfrm>
            <a:off x="502920" y="160020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9" name="Text 7"/>
          <p:cNvSpPr txBox="1"/>
          <p:nvPr/>
        </p:nvSpPr>
        <p:spPr>
          <a:xfrm>
            <a:off x="1143000" y="1545336"/>
            <a:ext cx="630936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鎖骨下動脈</a:t>
            </a:r>
            <a:endParaRPr lang="en-US" sz="1500" dirty="0"/>
          </a:p>
        </p:txBody>
      </p:sp>
      <p:sp>
        <p:nvSpPr>
          <p:cNvPr id="10" name="Text 8"/>
          <p:cNvSpPr txBox="1"/>
          <p:nvPr/>
        </p:nvSpPr>
        <p:spPr>
          <a:xfrm>
            <a:off x="1143000" y="1911096"/>
            <a:ext cx="6309360" cy="45720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右は腕頭動脈、左は大動脈弓から分岐する</a:t>
            </a:r>
            <a:endParaRPr lang="en-US" sz="1150" dirty="0"/>
          </a:p>
        </p:txBody>
      </p:sp>
      <p:sp>
        <p:nvSpPr>
          <p:cNvPr id="11" name="Shape 9"/>
          <p:cNvSpPr/>
          <p:nvPr/>
        </p:nvSpPr>
        <p:spPr>
          <a:xfrm>
            <a:off x="502920" y="2468880"/>
            <a:ext cx="402336" cy="402336"/>
          </a:xfrm>
          <a:prstGeom prst="ellipse">
            <a:avLst/>
          </a:prstGeom>
          <a:solidFill>
            <a:srgbClr val="33475B"/>
          </a:solidFill>
          <a:ln/>
        </p:spPr>
        <p:txBody>
          <a:bodyPr/>
          <a:lstStyle/>
          <a:p>
            <a:endParaRPr lang="ja-JP" altLang="en-US"/>
          </a:p>
        </p:txBody>
      </p:sp>
      <p:sp>
        <p:nvSpPr>
          <p:cNvPr id="12" name="Text 10"/>
          <p:cNvSpPr txBox="1"/>
          <p:nvPr/>
        </p:nvSpPr>
        <p:spPr>
          <a:xfrm>
            <a:off x="502920" y="246888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3" name="Text 11"/>
          <p:cNvSpPr txBox="1"/>
          <p:nvPr/>
        </p:nvSpPr>
        <p:spPr>
          <a:xfrm>
            <a:off x="1143000" y="2414016"/>
            <a:ext cx="630936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腋窩動脈</a:t>
            </a:r>
            <a:endParaRPr lang="en-US" sz="1500" dirty="0"/>
          </a:p>
        </p:txBody>
      </p:sp>
      <p:sp>
        <p:nvSpPr>
          <p:cNvPr id="14" name="Text 12"/>
          <p:cNvSpPr txBox="1"/>
          <p:nvPr/>
        </p:nvSpPr>
        <p:spPr>
          <a:xfrm>
            <a:off x="1143000" y="2779776"/>
            <a:ext cx="6309360" cy="45720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鎖骨下動脈から連続。胸肩峰動脈などを分岐する</a:t>
            </a:r>
            <a:endParaRPr lang="en-US" sz="1150" dirty="0"/>
          </a:p>
        </p:txBody>
      </p:sp>
      <p:sp>
        <p:nvSpPr>
          <p:cNvPr id="15" name="Shape 13"/>
          <p:cNvSpPr/>
          <p:nvPr/>
        </p:nvSpPr>
        <p:spPr>
          <a:xfrm>
            <a:off x="502920" y="3337560"/>
            <a:ext cx="402336" cy="402336"/>
          </a:xfrm>
          <a:prstGeom prst="ellipse">
            <a:avLst/>
          </a:prstGeom>
          <a:solidFill>
            <a:srgbClr val="33475B"/>
          </a:solidFill>
          <a:ln/>
        </p:spPr>
        <p:txBody>
          <a:bodyPr/>
          <a:lstStyle/>
          <a:p>
            <a:endParaRPr lang="ja-JP" altLang="en-US"/>
          </a:p>
        </p:txBody>
      </p:sp>
      <p:sp>
        <p:nvSpPr>
          <p:cNvPr id="16" name="Text 14"/>
          <p:cNvSpPr txBox="1"/>
          <p:nvPr/>
        </p:nvSpPr>
        <p:spPr>
          <a:xfrm>
            <a:off x="502920" y="33375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7" name="Text 15"/>
          <p:cNvSpPr txBox="1"/>
          <p:nvPr/>
        </p:nvSpPr>
        <p:spPr>
          <a:xfrm>
            <a:off x="1143000" y="3282696"/>
            <a:ext cx="630936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上腕動脈</a:t>
            </a:r>
            <a:endParaRPr lang="en-US" sz="1500" dirty="0"/>
          </a:p>
        </p:txBody>
      </p:sp>
      <p:sp>
        <p:nvSpPr>
          <p:cNvPr id="18" name="Text 16"/>
          <p:cNvSpPr txBox="1"/>
          <p:nvPr/>
        </p:nvSpPr>
        <p:spPr>
          <a:xfrm>
            <a:off x="1143000" y="3648456"/>
            <a:ext cx="6309360" cy="45720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近位部は内側、遠位部は肘関節前面を走行する</a:t>
            </a:r>
            <a:endParaRPr lang="en-US" sz="1150" dirty="0"/>
          </a:p>
        </p:txBody>
      </p:sp>
      <p:sp>
        <p:nvSpPr>
          <p:cNvPr id="19" name="Shape 17"/>
          <p:cNvSpPr/>
          <p:nvPr/>
        </p:nvSpPr>
        <p:spPr>
          <a:xfrm>
            <a:off x="502920" y="4206240"/>
            <a:ext cx="402336" cy="402336"/>
          </a:xfrm>
          <a:prstGeom prst="ellipse">
            <a:avLst/>
          </a:prstGeom>
          <a:solidFill>
            <a:srgbClr val="33475B"/>
          </a:solidFill>
          <a:ln/>
        </p:spPr>
        <p:txBody>
          <a:bodyPr/>
          <a:lstStyle/>
          <a:p>
            <a:endParaRPr lang="ja-JP" altLang="en-US"/>
          </a:p>
        </p:txBody>
      </p:sp>
      <p:sp>
        <p:nvSpPr>
          <p:cNvPr id="20" name="Text 18"/>
          <p:cNvSpPr txBox="1"/>
          <p:nvPr/>
        </p:nvSpPr>
        <p:spPr>
          <a:xfrm>
            <a:off x="502920" y="42062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21" name="Text 19"/>
          <p:cNvSpPr txBox="1"/>
          <p:nvPr/>
        </p:nvSpPr>
        <p:spPr>
          <a:xfrm>
            <a:off x="1143000" y="4151376"/>
            <a:ext cx="630936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橈骨動脈・尺骨動脈</a:t>
            </a:r>
            <a:endParaRPr lang="en-US" sz="1500" dirty="0"/>
          </a:p>
        </p:txBody>
      </p:sp>
      <p:sp>
        <p:nvSpPr>
          <p:cNvPr id="22" name="Text 20"/>
          <p:cNvSpPr txBox="1"/>
          <p:nvPr/>
        </p:nvSpPr>
        <p:spPr>
          <a:xfrm>
            <a:off x="1143000" y="4517136"/>
            <a:ext cx="6309360" cy="45720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上腕動脈から分岐。前腕の外側／内側をそれぞれ走行する</a:t>
            </a:r>
            <a:endParaRPr lang="en-US" sz="1150" dirty="0"/>
          </a:p>
        </p:txBody>
      </p:sp>
      <p:sp>
        <p:nvSpPr>
          <p:cNvPr id="23" name="Shape 21"/>
          <p:cNvSpPr/>
          <p:nvPr/>
        </p:nvSpPr>
        <p:spPr>
          <a:xfrm>
            <a:off x="502920" y="5074920"/>
            <a:ext cx="402336" cy="402336"/>
          </a:xfrm>
          <a:prstGeom prst="ellipse">
            <a:avLst/>
          </a:prstGeom>
          <a:solidFill>
            <a:srgbClr val="33475B"/>
          </a:solidFill>
          <a:ln/>
        </p:spPr>
        <p:txBody>
          <a:bodyPr/>
          <a:lstStyle/>
          <a:p>
            <a:endParaRPr lang="ja-JP" altLang="en-US"/>
          </a:p>
        </p:txBody>
      </p:sp>
      <p:sp>
        <p:nvSpPr>
          <p:cNvPr id="24" name="Text 22"/>
          <p:cNvSpPr txBox="1"/>
          <p:nvPr/>
        </p:nvSpPr>
        <p:spPr>
          <a:xfrm>
            <a:off x="502920" y="507492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5</a:t>
            </a:r>
            <a:endParaRPr lang="en-US" sz="1300" dirty="0"/>
          </a:p>
        </p:txBody>
      </p:sp>
      <p:sp>
        <p:nvSpPr>
          <p:cNvPr id="25" name="Text 23"/>
          <p:cNvSpPr txBox="1"/>
          <p:nvPr/>
        </p:nvSpPr>
        <p:spPr>
          <a:xfrm>
            <a:off x="1143000" y="5020056"/>
            <a:ext cx="6309360" cy="365760"/>
          </a:xfrm>
          <a:prstGeom prst="rect">
            <a:avLst/>
          </a:prstGeom>
          <a:noFill/>
          <a:ln/>
        </p:spPr>
        <p:txBody>
          <a:bodyPr wrap="square" lIns="0" tIns="0" rIns="0" bIns="0" rtlCol="0" anchor="ctr"/>
          <a:lstStyle/>
          <a:p>
            <a:pPr marL="0" indent="0" algn="l">
              <a:buNone/>
            </a:pPr>
            <a:r>
              <a:rPr lang="en-US" sz="1500" b="1" dirty="0">
                <a:solidFill>
                  <a:srgbClr val="1F2933"/>
                </a:solidFill>
                <a:latin typeface="Yu Gothic" pitchFamily="34" charset="0"/>
                <a:ea typeface="Yu Gothic" pitchFamily="34" charset="-122"/>
                <a:cs typeface="Yu Gothic" pitchFamily="34" charset="-120"/>
              </a:rPr>
              <a:t>深掌動脈弓・浅掌動脈弓</a:t>
            </a:r>
            <a:endParaRPr lang="en-US" sz="1500" dirty="0"/>
          </a:p>
        </p:txBody>
      </p:sp>
      <p:sp>
        <p:nvSpPr>
          <p:cNvPr id="26" name="Text 24"/>
          <p:cNvSpPr txBox="1"/>
          <p:nvPr/>
        </p:nvSpPr>
        <p:spPr>
          <a:xfrm>
            <a:off x="1143000" y="5385816"/>
            <a:ext cx="6309360" cy="457200"/>
          </a:xfrm>
          <a:prstGeom prst="rect">
            <a:avLst/>
          </a:prstGeom>
          <a:noFill/>
          <a:ln/>
        </p:spPr>
        <p:txBody>
          <a:bodyPr wrap="square" lIns="0" tIns="0" rIns="0" bIns="0" rtlCol="0" anchor="t"/>
          <a:lstStyle/>
          <a:p>
            <a:pPr marL="0" indent="0" algn="l">
              <a:buNone/>
            </a:pPr>
            <a:r>
              <a:rPr lang="en-US" sz="1150" dirty="0">
                <a:solidFill>
                  <a:srgbClr val="4B5B63"/>
                </a:solidFill>
                <a:latin typeface="Yu Gothic" pitchFamily="34" charset="0"/>
                <a:ea typeface="Yu Gothic" pitchFamily="34" charset="-122"/>
                <a:cs typeface="Yu Gothic" pitchFamily="34" charset="-120"/>
              </a:rPr>
              <a:t>橈骨動脈・尺骨動脈からそれぞれ連続し、手掌で動脈弓を形成する</a:t>
            </a:r>
            <a:endParaRPr lang="en-US" sz="1150" dirty="0"/>
          </a:p>
        </p:txBody>
      </p:sp>
      <p:sp>
        <p:nvSpPr>
          <p:cNvPr id="27" name="Shape 25"/>
          <p:cNvSpPr/>
          <p:nvPr/>
        </p:nvSpPr>
        <p:spPr>
          <a:xfrm>
            <a:off x="6960637" y="1399032"/>
            <a:ext cx="4973215" cy="4628544"/>
          </a:xfrm>
          <a:prstGeom prst="roundRect">
            <a:avLst>
              <a:gd name="adj" fmla="val 2273"/>
            </a:avLst>
          </a:prstGeom>
          <a:solidFill>
            <a:srgbClr val="EEF5F3"/>
          </a:solidFill>
          <a:ln/>
        </p:spPr>
        <p:txBody>
          <a:bodyPr/>
          <a:lstStyle/>
          <a:p>
            <a:endParaRPr lang="ja-JP" altLang="en-US"/>
          </a:p>
        </p:txBody>
      </p:sp>
      <p:pic>
        <p:nvPicPr>
          <p:cNvPr id="43" name="図 42">
            <a:extLst>
              <a:ext uri="{FF2B5EF4-FFF2-40B4-BE49-F238E27FC236}">
                <a16:creationId xmlns:a16="http://schemas.microsoft.com/office/drawing/2014/main" id="{0DC8071D-63BD-65FE-2C5A-777CCAE01DE0}"/>
              </a:ext>
            </a:extLst>
          </p:cNvPr>
          <p:cNvPicPr>
            <a:picLocks noChangeAspect="1"/>
          </p:cNvPicPr>
          <p:nvPr/>
        </p:nvPicPr>
        <p:blipFill>
          <a:blip r:embed="rId3"/>
          <a:stretch>
            <a:fillRect/>
          </a:stretch>
        </p:blipFill>
        <p:spPr>
          <a:xfrm>
            <a:off x="7222076" y="1545336"/>
            <a:ext cx="4467004" cy="43919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血管解剖：静脈</a:t>
            </a:r>
            <a:endParaRPr lang="en-US" sz="28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シャント吻合に用いられる表在静脈と、上肢の深部静脈を理解する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血管解剖</a:t>
            </a:r>
            <a:endParaRPr lang="en-US" sz="1100" dirty="0"/>
          </a:p>
        </p:txBody>
      </p:sp>
      <p:sp>
        <p:nvSpPr>
          <p:cNvPr id="6" name="Shape 4"/>
          <p:cNvSpPr/>
          <p:nvPr/>
        </p:nvSpPr>
        <p:spPr>
          <a:xfrm>
            <a:off x="502920" y="1600200"/>
            <a:ext cx="7178040" cy="502920"/>
          </a:xfrm>
          <a:prstGeom prst="roundRect">
            <a:avLst>
              <a:gd name="adj" fmla="val 14545"/>
            </a:avLst>
          </a:prstGeom>
          <a:solidFill>
            <a:srgbClr val="33475B"/>
          </a:solidFill>
          <a:ln/>
        </p:spPr>
        <p:txBody>
          <a:bodyPr/>
          <a:lstStyle/>
          <a:p>
            <a:endParaRPr lang="ja-JP" altLang="en-US"/>
          </a:p>
        </p:txBody>
      </p:sp>
      <p:sp>
        <p:nvSpPr>
          <p:cNvPr id="7" name="Text 5"/>
          <p:cNvSpPr txBox="1"/>
          <p:nvPr/>
        </p:nvSpPr>
        <p:spPr>
          <a:xfrm>
            <a:off x="777240" y="1600200"/>
            <a:ext cx="662940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表在静脈</a:t>
            </a:r>
            <a:endParaRPr lang="en-US" sz="1600" dirty="0"/>
          </a:p>
        </p:txBody>
      </p:sp>
      <p:sp>
        <p:nvSpPr>
          <p:cNvPr id="8" name="Text 6"/>
          <p:cNvSpPr txBox="1"/>
          <p:nvPr/>
        </p:nvSpPr>
        <p:spPr>
          <a:xfrm>
            <a:off x="777240" y="1600200"/>
            <a:ext cx="6629400" cy="502920"/>
          </a:xfrm>
          <a:prstGeom prst="rect">
            <a:avLst/>
          </a:prstGeom>
          <a:noFill/>
          <a:ln/>
        </p:spPr>
        <p:txBody>
          <a:bodyPr wrap="square" lIns="635" tIns="635" rIns="635" bIns="635" rtlCol="0" anchor="ctr"/>
          <a:lstStyle/>
          <a:p>
            <a:pPr marL="0" indent="0" algn="r">
              <a:buNone/>
            </a:pPr>
            <a:r>
              <a:rPr lang="en-US" sz="1150" dirty="0">
                <a:solidFill>
                  <a:srgbClr val="D7E1E6"/>
                </a:solidFill>
                <a:latin typeface="Yu Gothic" pitchFamily="34" charset="0"/>
                <a:ea typeface="Yu Gothic" pitchFamily="34" charset="-122"/>
                <a:cs typeface="Yu Gothic" pitchFamily="34" charset="-120"/>
              </a:rPr>
              <a:t>シャント吻合部に用いられる皮静脈</a:t>
            </a:r>
            <a:endParaRPr lang="en-US" sz="1150" dirty="0"/>
          </a:p>
        </p:txBody>
      </p:sp>
      <p:sp>
        <p:nvSpPr>
          <p:cNvPr id="9" name="Shape 7"/>
          <p:cNvSpPr/>
          <p:nvPr/>
        </p:nvSpPr>
        <p:spPr>
          <a:xfrm>
            <a:off x="7863840" y="1600200"/>
            <a:ext cx="3794760" cy="502920"/>
          </a:xfrm>
          <a:prstGeom prst="roundRect">
            <a:avLst>
              <a:gd name="adj" fmla="val 14545"/>
            </a:avLst>
          </a:prstGeom>
          <a:solidFill>
            <a:srgbClr val="5A7184"/>
          </a:solidFill>
          <a:ln/>
        </p:spPr>
        <p:txBody>
          <a:bodyPr/>
          <a:lstStyle/>
          <a:p>
            <a:endParaRPr lang="ja-JP" altLang="en-US"/>
          </a:p>
        </p:txBody>
      </p:sp>
      <p:sp>
        <p:nvSpPr>
          <p:cNvPr id="10" name="Text 8"/>
          <p:cNvSpPr txBox="1"/>
          <p:nvPr/>
        </p:nvSpPr>
        <p:spPr>
          <a:xfrm>
            <a:off x="8138160" y="1600200"/>
            <a:ext cx="324612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深部静脈</a:t>
            </a:r>
            <a:endParaRPr lang="en-US" sz="1600" dirty="0"/>
          </a:p>
        </p:txBody>
      </p:sp>
      <p:sp>
        <p:nvSpPr>
          <p:cNvPr id="11" name="Shape 9"/>
          <p:cNvSpPr/>
          <p:nvPr/>
        </p:nvSpPr>
        <p:spPr>
          <a:xfrm>
            <a:off x="694944" y="2569464"/>
            <a:ext cx="0" cy="2798064"/>
          </a:xfrm>
          <a:prstGeom prst="line">
            <a:avLst/>
          </a:prstGeom>
          <a:noFill/>
          <a:ln w="25400">
            <a:solidFill>
              <a:srgbClr val="D9E2E6"/>
            </a:solidFill>
            <a:prstDash val="solid"/>
          </a:ln>
        </p:spPr>
        <p:txBody>
          <a:bodyPr/>
          <a:lstStyle/>
          <a:p>
            <a:endParaRPr lang="ja-JP" altLang="en-US"/>
          </a:p>
        </p:txBody>
      </p:sp>
      <p:sp>
        <p:nvSpPr>
          <p:cNvPr id="12" name="Shape 10"/>
          <p:cNvSpPr/>
          <p:nvPr/>
        </p:nvSpPr>
        <p:spPr>
          <a:xfrm>
            <a:off x="502920" y="2377440"/>
            <a:ext cx="384048" cy="384048"/>
          </a:xfrm>
          <a:prstGeom prst="ellipse">
            <a:avLst/>
          </a:prstGeom>
          <a:solidFill>
            <a:srgbClr val="33475B"/>
          </a:solidFill>
          <a:ln/>
        </p:spPr>
        <p:txBody>
          <a:bodyPr/>
          <a:lstStyle/>
          <a:p>
            <a:endParaRPr lang="ja-JP" altLang="en-US"/>
          </a:p>
        </p:txBody>
      </p:sp>
      <p:sp>
        <p:nvSpPr>
          <p:cNvPr id="13" name="Text 11"/>
          <p:cNvSpPr txBox="1"/>
          <p:nvPr/>
        </p:nvSpPr>
        <p:spPr>
          <a:xfrm>
            <a:off x="502920" y="237744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14" name="Text 12"/>
          <p:cNvSpPr txBox="1"/>
          <p:nvPr/>
        </p:nvSpPr>
        <p:spPr>
          <a:xfrm>
            <a:off x="1097280" y="2322576"/>
            <a:ext cx="6583680" cy="320040"/>
          </a:xfrm>
          <a:prstGeom prst="rect">
            <a:avLst/>
          </a:prstGeom>
          <a:noFill/>
          <a:ln/>
        </p:spPr>
        <p:txBody>
          <a:bodyPr wrap="square" lIns="0" tIns="0" rIns="0" bIns="0" rtlCol="0" anchor="ctr"/>
          <a:lstStyle/>
          <a:p>
            <a:pPr marL="0" indent="0" algn="l">
              <a:buNone/>
            </a:pPr>
            <a:r>
              <a:rPr lang="en-US" sz="1450" b="1" dirty="0">
                <a:solidFill>
                  <a:srgbClr val="1F2933"/>
                </a:solidFill>
                <a:latin typeface="Yu Gothic" pitchFamily="34" charset="0"/>
                <a:ea typeface="Yu Gothic" pitchFamily="34" charset="-122"/>
                <a:cs typeface="Yu Gothic" pitchFamily="34" charset="-120"/>
              </a:rPr>
              <a:t>橈側皮静脈</a:t>
            </a:r>
            <a:endParaRPr lang="en-US" sz="1450" dirty="0"/>
          </a:p>
        </p:txBody>
      </p:sp>
      <p:sp>
        <p:nvSpPr>
          <p:cNvPr id="15" name="Text 13"/>
          <p:cNvSpPr txBox="1"/>
          <p:nvPr/>
        </p:nvSpPr>
        <p:spPr>
          <a:xfrm>
            <a:off x="1097280" y="2670048"/>
            <a:ext cx="6583680" cy="548640"/>
          </a:xfrm>
          <a:prstGeom prst="rect">
            <a:avLst/>
          </a:prstGeom>
          <a:noFill/>
          <a:ln/>
        </p:spPr>
        <p:txBody>
          <a:bodyPr wrap="square" lIns="0" tIns="0" rIns="0" bIns="0" rtlCol="0" anchor="t"/>
          <a:lstStyle/>
          <a:p>
            <a:pPr marL="0" indent="0" algn="l">
              <a:buNone/>
            </a:pPr>
            <a:r>
              <a:rPr lang="en-US" sz="1100" dirty="0">
                <a:solidFill>
                  <a:srgbClr val="4B5B63"/>
                </a:solidFill>
                <a:latin typeface="Yu Gothic" pitchFamily="34" charset="0"/>
                <a:ea typeface="Yu Gothic" pitchFamily="34" charset="-122"/>
                <a:cs typeface="Yu Gothic" pitchFamily="34" charset="-120"/>
              </a:rPr>
              <a:t>前腕遠位外側から上肢外側前面を通り、鎖骨下静脈・腋窩静脈に合流。AVF吻合部としてよく用いられる</a:t>
            </a:r>
            <a:endParaRPr lang="en-US" sz="1100" dirty="0"/>
          </a:p>
        </p:txBody>
      </p:sp>
      <p:sp>
        <p:nvSpPr>
          <p:cNvPr id="16" name="Shape 14"/>
          <p:cNvSpPr/>
          <p:nvPr/>
        </p:nvSpPr>
        <p:spPr>
          <a:xfrm>
            <a:off x="502920" y="3310128"/>
            <a:ext cx="384048" cy="384048"/>
          </a:xfrm>
          <a:prstGeom prst="ellipse">
            <a:avLst/>
          </a:prstGeom>
          <a:solidFill>
            <a:srgbClr val="33475B"/>
          </a:solidFill>
          <a:ln/>
        </p:spPr>
        <p:txBody>
          <a:bodyPr/>
          <a:lstStyle/>
          <a:p>
            <a:endParaRPr lang="ja-JP" altLang="en-US"/>
          </a:p>
        </p:txBody>
      </p:sp>
      <p:sp>
        <p:nvSpPr>
          <p:cNvPr id="17" name="Text 15"/>
          <p:cNvSpPr txBox="1"/>
          <p:nvPr/>
        </p:nvSpPr>
        <p:spPr>
          <a:xfrm>
            <a:off x="502920" y="331012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18" name="Text 16"/>
          <p:cNvSpPr txBox="1"/>
          <p:nvPr/>
        </p:nvSpPr>
        <p:spPr>
          <a:xfrm>
            <a:off x="1097280" y="3255264"/>
            <a:ext cx="6583680" cy="320040"/>
          </a:xfrm>
          <a:prstGeom prst="rect">
            <a:avLst/>
          </a:prstGeom>
          <a:noFill/>
          <a:ln/>
        </p:spPr>
        <p:txBody>
          <a:bodyPr wrap="square" lIns="0" tIns="0" rIns="0" bIns="0" rtlCol="0" anchor="ctr"/>
          <a:lstStyle/>
          <a:p>
            <a:pPr marL="0" indent="0" algn="l">
              <a:buNone/>
            </a:pPr>
            <a:r>
              <a:rPr lang="en-US" sz="1450" b="1" dirty="0">
                <a:solidFill>
                  <a:srgbClr val="1F2933"/>
                </a:solidFill>
                <a:latin typeface="Yu Gothic" pitchFamily="34" charset="0"/>
                <a:ea typeface="Yu Gothic" pitchFamily="34" charset="-122"/>
                <a:cs typeface="Yu Gothic" pitchFamily="34" charset="-120"/>
              </a:rPr>
              <a:t>尺側皮静脈</a:t>
            </a:r>
            <a:endParaRPr lang="en-US" sz="1450" dirty="0"/>
          </a:p>
        </p:txBody>
      </p:sp>
      <p:sp>
        <p:nvSpPr>
          <p:cNvPr id="19" name="Text 17"/>
          <p:cNvSpPr txBox="1"/>
          <p:nvPr/>
        </p:nvSpPr>
        <p:spPr>
          <a:xfrm>
            <a:off x="1097280" y="3602736"/>
            <a:ext cx="6583680" cy="548640"/>
          </a:xfrm>
          <a:prstGeom prst="rect">
            <a:avLst/>
          </a:prstGeom>
          <a:noFill/>
          <a:ln/>
        </p:spPr>
        <p:txBody>
          <a:bodyPr wrap="square" lIns="0" tIns="0" rIns="0" bIns="0" rtlCol="0" anchor="t"/>
          <a:lstStyle/>
          <a:p>
            <a:pPr marL="0" indent="0" algn="l">
              <a:buNone/>
            </a:pPr>
            <a:r>
              <a:rPr lang="en-US" sz="1100" dirty="0">
                <a:solidFill>
                  <a:srgbClr val="4B5B63"/>
                </a:solidFill>
                <a:latin typeface="Yu Gothic" pitchFamily="34" charset="0"/>
                <a:ea typeface="Yu Gothic" pitchFamily="34" charset="-122"/>
                <a:cs typeface="Yu Gothic" pitchFamily="34" charset="-120"/>
              </a:rPr>
              <a:t>前腕内側を通って近位へ向かい、上腕で深筋膜を貫いて腋窩静脈に連続する</a:t>
            </a:r>
            <a:endParaRPr lang="en-US" sz="1100" dirty="0"/>
          </a:p>
        </p:txBody>
      </p:sp>
      <p:sp>
        <p:nvSpPr>
          <p:cNvPr id="20" name="Shape 18"/>
          <p:cNvSpPr/>
          <p:nvPr/>
        </p:nvSpPr>
        <p:spPr>
          <a:xfrm>
            <a:off x="502920" y="4242816"/>
            <a:ext cx="384048" cy="384048"/>
          </a:xfrm>
          <a:prstGeom prst="ellipse">
            <a:avLst/>
          </a:prstGeom>
          <a:solidFill>
            <a:srgbClr val="33475B"/>
          </a:solidFill>
          <a:ln/>
        </p:spPr>
        <p:txBody>
          <a:bodyPr/>
          <a:lstStyle/>
          <a:p>
            <a:endParaRPr lang="ja-JP" altLang="en-US"/>
          </a:p>
        </p:txBody>
      </p:sp>
      <p:sp>
        <p:nvSpPr>
          <p:cNvPr id="21" name="Text 19"/>
          <p:cNvSpPr txBox="1"/>
          <p:nvPr/>
        </p:nvSpPr>
        <p:spPr>
          <a:xfrm>
            <a:off x="502920" y="424281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22" name="Text 20"/>
          <p:cNvSpPr txBox="1"/>
          <p:nvPr/>
        </p:nvSpPr>
        <p:spPr>
          <a:xfrm>
            <a:off x="1097280" y="4187952"/>
            <a:ext cx="6583680" cy="320040"/>
          </a:xfrm>
          <a:prstGeom prst="rect">
            <a:avLst/>
          </a:prstGeom>
          <a:noFill/>
          <a:ln/>
        </p:spPr>
        <p:txBody>
          <a:bodyPr wrap="square" lIns="0" tIns="0" rIns="0" bIns="0" rtlCol="0" anchor="ctr"/>
          <a:lstStyle/>
          <a:p>
            <a:pPr marL="0" indent="0" algn="l">
              <a:buNone/>
            </a:pPr>
            <a:r>
              <a:rPr lang="en-US" sz="1450" b="1" dirty="0">
                <a:solidFill>
                  <a:srgbClr val="1F2933"/>
                </a:solidFill>
                <a:latin typeface="Yu Gothic" pitchFamily="34" charset="0"/>
                <a:ea typeface="Yu Gothic" pitchFamily="34" charset="-122"/>
                <a:cs typeface="Yu Gothic" pitchFamily="34" charset="-120"/>
              </a:rPr>
              <a:t>副橈側皮静脈</a:t>
            </a:r>
            <a:endParaRPr lang="en-US" sz="1450" dirty="0"/>
          </a:p>
        </p:txBody>
      </p:sp>
      <p:sp>
        <p:nvSpPr>
          <p:cNvPr id="23" name="Text 21"/>
          <p:cNvSpPr txBox="1"/>
          <p:nvPr/>
        </p:nvSpPr>
        <p:spPr>
          <a:xfrm>
            <a:off x="1097280" y="4535424"/>
            <a:ext cx="6583680" cy="548640"/>
          </a:xfrm>
          <a:prstGeom prst="rect">
            <a:avLst/>
          </a:prstGeom>
          <a:noFill/>
          <a:ln/>
        </p:spPr>
        <p:txBody>
          <a:bodyPr wrap="square" lIns="0" tIns="0" rIns="0" bIns="0" rtlCol="0" anchor="t"/>
          <a:lstStyle/>
          <a:p>
            <a:pPr marL="0" indent="0" algn="l">
              <a:buNone/>
            </a:pPr>
            <a:r>
              <a:rPr lang="en-US" sz="1100" dirty="0">
                <a:solidFill>
                  <a:srgbClr val="4B5B63"/>
                </a:solidFill>
                <a:latin typeface="Yu Gothic" pitchFamily="34" charset="0"/>
                <a:ea typeface="Yu Gothic" pitchFamily="34" charset="-122"/>
                <a:cs typeface="Yu Gothic" pitchFamily="34" charset="-120"/>
              </a:rPr>
              <a:t>橈側皮静脈の外側に沿って上行し、肘窩付近で橈側皮静脈に合流する</a:t>
            </a:r>
            <a:endParaRPr lang="en-US" sz="1100" dirty="0"/>
          </a:p>
        </p:txBody>
      </p:sp>
      <p:sp>
        <p:nvSpPr>
          <p:cNvPr id="24" name="Shape 22"/>
          <p:cNvSpPr/>
          <p:nvPr/>
        </p:nvSpPr>
        <p:spPr>
          <a:xfrm>
            <a:off x="502920" y="5175504"/>
            <a:ext cx="384048" cy="384048"/>
          </a:xfrm>
          <a:prstGeom prst="ellipse">
            <a:avLst/>
          </a:prstGeom>
          <a:solidFill>
            <a:srgbClr val="33475B"/>
          </a:solidFill>
          <a:ln/>
        </p:spPr>
        <p:txBody>
          <a:bodyPr/>
          <a:lstStyle/>
          <a:p>
            <a:endParaRPr lang="ja-JP" altLang="en-US"/>
          </a:p>
        </p:txBody>
      </p:sp>
      <p:sp>
        <p:nvSpPr>
          <p:cNvPr id="25" name="Text 23"/>
          <p:cNvSpPr txBox="1"/>
          <p:nvPr/>
        </p:nvSpPr>
        <p:spPr>
          <a:xfrm>
            <a:off x="502920" y="51755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26" name="Text 24"/>
          <p:cNvSpPr txBox="1"/>
          <p:nvPr/>
        </p:nvSpPr>
        <p:spPr>
          <a:xfrm>
            <a:off x="1097280" y="5120640"/>
            <a:ext cx="6583680" cy="320040"/>
          </a:xfrm>
          <a:prstGeom prst="rect">
            <a:avLst/>
          </a:prstGeom>
          <a:noFill/>
          <a:ln/>
        </p:spPr>
        <p:txBody>
          <a:bodyPr wrap="square" lIns="0" tIns="0" rIns="0" bIns="0" rtlCol="0" anchor="ctr"/>
          <a:lstStyle/>
          <a:p>
            <a:pPr marL="0" indent="0" algn="l">
              <a:buNone/>
            </a:pPr>
            <a:r>
              <a:rPr lang="en-US" sz="1450" b="1" dirty="0">
                <a:solidFill>
                  <a:srgbClr val="1F2933"/>
                </a:solidFill>
                <a:latin typeface="Yu Gothic" pitchFamily="34" charset="0"/>
                <a:ea typeface="Yu Gothic" pitchFamily="34" charset="-122"/>
                <a:cs typeface="Yu Gothic" pitchFamily="34" charset="-120"/>
              </a:rPr>
              <a:t>肘正中皮静脈</a:t>
            </a:r>
            <a:endParaRPr lang="en-US" sz="1450" dirty="0"/>
          </a:p>
        </p:txBody>
      </p:sp>
      <p:sp>
        <p:nvSpPr>
          <p:cNvPr id="27" name="Text 25"/>
          <p:cNvSpPr txBox="1"/>
          <p:nvPr/>
        </p:nvSpPr>
        <p:spPr>
          <a:xfrm>
            <a:off x="1097280" y="5468112"/>
            <a:ext cx="6583680" cy="548640"/>
          </a:xfrm>
          <a:prstGeom prst="rect">
            <a:avLst/>
          </a:prstGeom>
          <a:noFill/>
          <a:ln/>
        </p:spPr>
        <p:txBody>
          <a:bodyPr wrap="square" lIns="0" tIns="0" rIns="0" bIns="0" rtlCol="0" anchor="t"/>
          <a:lstStyle/>
          <a:p>
            <a:pPr marL="0" indent="0" algn="l">
              <a:buNone/>
            </a:pPr>
            <a:r>
              <a:rPr lang="en-US" sz="1100" dirty="0">
                <a:solidFill>
                  <a:srgbClr val="4B5B63"/>
                </a:solidFill>
                <a:latin typeface="Yu Gothic" pitchFamily="34" charset="0"/>
                <a:ea typeface="Yu Gothic" pitchFamily="34" charset="-122"/>
                <a:cs typeface="Yu Gothic" pitchFamily="34" charset="-120"/>
              </a:rPr>
              <a:t>前腕の肘付近で橈側皮静脈から分岐し、上腕で尺側皮静脈に合流する</a:t>
            </a:r>
            <a:endParaRPr lang="en-US" sz="1100" dirty="0"/>
          </a:p>
        </p:txBody>
      </p:sp>
      <p:sp>
        <p:nvSpPr>
          <p:cNvPr id="28" name="Shape 26"/>
          <p:cNvSpPr/>
          <p:nvPr/>
        </p:nvSpPr>
        <p:spPr>
          <a:xfrm>
            <a:off x="7863840" y="2377440"/>
            <a:ext cx="3794760" cy="516636"/>
          </a:xfrm>
          <a:prstGeom prst="roundRect">
            <a:avLst>
              <a:gd name="adj" fmla="val 10619"/>
            </a:avLst>
          </a:prstGeom>
          <a:solidFill>
            <a:srgbClr val="EEF5F3"/>
          </a:solidFill>
          <a:ln/>
        </p:spPr>
        <p:txBody>
          <a:bodyPr/>
          <a:lstStyle/>
          <a:p>
            <a:endParaRPr lang="ja-JP" altLang="en-US"/>
          </a:p>
        </p:txBody>
      </p:sp>
      <p:sp>
        <p:nvSpPr>
          <p:cNvPr id="29" name="Text 27"/>
          <p:cNvSpPr txBox="1"/>
          <p:nvPr/>
        </p:nvSpPr>
        <p:spPr>
          <a:xfrm>
            <a:off x="8092440" y="2423160"/>
            <a:ext cx="333756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腕頭静脈</a:t>
            </a:r>
            <a:endParaRPr lang="en-US" sz="1250" dirty="0"/>
          </a:p>
        </p:txBody>
      </p:sp>
      <p:sp>
        <p:nvSpPr>
          <p:cNvPr id="30" name="Text 28"/>
          <p:cNvSpPr txBox="1"/>
          <p:nvPr/>
        </p:nvSpPr>
        <p:spPr>
          <a:xfrm>
            <a:off x="8092440" y="2679192"/>
            <a:ext cx="3337560" cy="256032"/>
          </a:xfrm>
          <a:prstGeom prst="rect">
            <a:avLst/>
          </a:prstGeom>
          <a:noFill/>
          <a:ln/>
        </p:spPr>
        <p:txBody>
          <a:bodyPr wrap="square" lIns="0" tIns="0" rIns="0" bIns="0" rtlCol="0" anchor="ctr"/>
          <a:lstStyle/>
          <a:p>
            <a:pPr marL="0" indent="0" algn="l">
              <a:buNone/>
            </a:pPr>
            <a:r>
              <a:rPr lang="en-US" sz="1000" dirty="0">
                <a:solidFill>
                  <a:srgbClr val="4B5B63"/>
                </a:solidFill>
                <a:latin typeface="Yu Gothic" pitchFamily="34" charset="0"/>
                <a:ea typeface="Yu Gothic" pitchFamily="34" charset="-122"/>
                <a:cs typeface="Yu Gothic" pitchFamily="34" charset="-120"/>
              </a:rPr>
              <a:t>鎖骨下静脈と内頸静脈が合流してできる</a:t>
            </a:r>
            <a:endParaRPr lang="en-US" sz="1000" dirty="0"/>
          </a:p>
        </p:txBody>
      </p:sp>
      <p:sp>
        <p:nvSpPr>
          <p:cNvPr id="31" name="Shape 29"/>
          <p:cNvSpPr/>
          <p:nvPr/>
        </p:nvSpPr>
        <p:spPr>
          <a:xfrm>
            <a:off x="7863840" y="2985516"/>
            <a:ext cx="3794760" cy="516636"/>
          </a:xfrm>
          <a:prstGeom prst="roundRect">
            <a:avLst>
              <a:gd name="adj" fmla="val 10619"/>
            </a:avLst>
          </a:prstGeom>
          <a:solidFill>
            <a:srgbClr val="EEF5F3"/>
          </a:solidFill>
          <a:ln/>
        </p:spPr>
        <p:txBody>
          <a:bodyPr/>
          <a:lstStyle/>
          <a:p>
            <a:endParaRPr lang="ja-JP" altLang="en-US"/>
          </a:p>
        </p:txBody>
      </p:sp>
      <p:sp>
        <p:nvSpPr>
          <p:cNvPr id="32" name="Text 30"/>
          <p:cNvSpPr txBox="1"/>
          <p:nvPr/>
        </p:nvSpPr>
        <p:spPr>
          <a:xfrm>
            <a:off x="8092440" y="3031236"/>
            <a:ext cx="333756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鎖骨下静脈</a:t>
            </a:r>
            <a:endParaRPr lang="en-US" sz="1250" dirty="0"/>
          </a:p>
        </p:txBody>
      </p:sp>
      <p:sp>
        <p:nvSpPr>
          <p:cNvPr id="33" name="Text 31"/>
          <p:cNvSpPr txBox="1"/>
          <p:nvPr/>
        </p:nvSpPr>
        <p:spPr>
          <a:xfrm>
            <a:off x="8092440" y="3287268"/>
            <a:ext cx="3337560" cy="256032"/>
          </a:xfrm>
          <a:prstGeom prst="rect">
            <a:avLst/>
          </a:prstGeom>
          <a:noFill/>
          <a:ln/>
        </p:spPr>
        <p:txBody>
          <a:bodyPr wrap="square" lIns="0" tIns="0" rIns="0" bIns="0" rtlCol="0" anchor="ctr"/>
          <a:lstStyle/>
          <a:p>
            <a:pPr marL="0" indent="0" algn="l">
              <a:buNone/>
            </a:pPr>
            <a:r>
              <a:rPr lang="en-US" sz="1000" dirty="0">
                <a:solidFill>
                  <a:srgbClr val="4B5B63"/>
                </a:solidFill>
                <a:latin typeface="Yu Gothic" pitchFamily="34" charset="0"/>
                <a:ea typeface="Yu Gothic" pitchFamily="34" charset="-122"/>
                <a:cs typeface="Yu Gothic" pitchFamily="34" charset="-120"/>
              </a:rPr>
              <a:t>腋窩静脈から連続する</a:t>
            </a:r>
            <a:endParaRPr lang="en-US" sz="1000" dirty="0"/>
          </a:p>
        </p:txBody>
      </p:sp>
      <p:sp>
        <p:nvSpPr>
          <p:cNvPr id="34" name="Shape 32"/>
          <p:cNvSpPr/>
          <p:nvPr/>
        </p:nvSpPr>
        <p:spPr>
          <a:xfrm>
            <a:off x="7863840" y="3593592"/>
            <a:ext cx="3794760" cy="516636"/>
          </a:xfrm>
          <a:prstGeom prst="roundRect">
            <a:avLst>
              <a:gd name="adj" fmla="val 10619"/>
            </a:avLst>
          </a:prstGeom>
          <a:solidFill>
            <a:srgbClr val="EEF5F3"/>
          </a:solidFill>
          <a:ln/>
        </p:spPr>
        <p:txBody>
          <a:bodyPr/>
          <a:lstStyle/>
          <a:p>
            <a:endParaRPr lang="ja-JP" altLang="en-US"/>
          </a:p>
        </p:txBody>
      </p:sp>
      <p:sp>
        <p:nvSpPr>
          <p:cNvPr id="35" name="Text 33"/>
          <p:cNvSpPr txBox="1"/>
          <p:nvPr/>
        </p:nvSpPr>
        <p:spPr>
          <a:xfrm>
            <a:off x="8092440" y="3639312"/>
            <a:ext cx="333756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腋窩静脈</a:t>
            </a:r>
            <a:endParaRPr lang="en-US" sz="1250" dirty="0"/>
          </a:p>
        </p:txBody>
      </p:sp>
      <p:sp>
        <p:nvSpPr>
          <p:cNvPr id="36" name="Text 34"/>
          <p:cNvSpPr txBox="1"/>
          <p:nvPr/>
        </p:nvSpPr>
        <p:spPr>
          <a:xfrm>
            <a:off x="8092440" y="3895344"/>
            <a:ext cx="3337560" cy="256032"/>
          </a:xfrm>
          <a:prstGeom prst="rect">
            <a:avLst/>
          </a:prstGeom>
          <a:noFill/>
          <a:ln/>
        </p:spPr>
        <p:txBody>
          <a:bodyPr wrap="square" lIns="0" tIns="0" rIns="0" bIns="0" rtlCol="0" anchor="ctr"/>
          <a:lstStyle/>
          <a:p>
            <a:pPr marL="0" indent="0" algn="l">
              <a:buNone/>
            </a:pPr>
            <a:r>
              <a:rPr lang="en-US" sz="1000" dirty="0">
                <a:solidFill>
                  <a:srgbClr val="4B5B63"/>
                </a:solidFill>
                <a:latin typeface="Yu Gothic" pitchFamily="34" charset="0"/>
                <a:ea typeface="Yu Gothic" pitchFamily="34" charset="-122"/>
                <a:cs typeface="Yu Gothic" pitchFamily="34" charset="-120"/>
              </a:rPr>
              <a:t>尺側皮静脈から連続し、上腕静脈が合流する</a:t>
            </a:r>
            <a:endParaRPr lang="en-US" sz="1000" dirty="0"/>
          </a:p>
        </p:txBody>
      </p:sp>
      <p:sp>
        <p:nvSpPr>
          <p:cNvPr id="37" name="Shape 35"/>
          <p:cNvSpPr/>
          <p:nvPr/>
        </p:nvSpPr>
        <p:spPr>
          <a:xfrm>
            <a:off x="7863840" y="4201668"/>
            <a:ext cx="3794760" cy="516636"/>
          </a:xfrm>
          <a:prstGeom prst="roundRect">
            <a:avLst>
              <a:gd name="adj" fmla="val 10619"/>
            </a:avLst>
          </a:prstGeom>
          <a:solidFill>
            <a:srgbClr val="EEF5F3"/>
          </a:solidFill>
          <a:ln/>
        </p:spPr>
        <p:txBody>
          <a:bodyPr/>
          <a:lstStyle/>
          <a:p>
            <a:endParaRPr lang="ja-JP" altLang="en-US"/>
          </a:p>
        </p:txBody>
      </p:sp>
      <p:sp>
        <p:nvSpPr>
          <p:cNvPr id="38" name="Text 36"/>
          <p:cNvSpPr txBox="1"/>
          <p:nvPr/>
        </p:nvSpPr>
        <p:spPr>
          <a:xfrm>
            <a:off x="8092440" y="4247388"/>
            <a:ext cx="333756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上腕静脈</a:t>
            </a:r>
            <a:endParaRPr lang="en-US" sz="1250" dirty="0"/>
          </a:p>
        </p:txBody>
      </p:sp>
      <p:sp>
        <p:nvSpPr>
          <p:cNvPr id="39" name="Text 37"/>
          <p:cNvSpPr txBox="1"/>
          <p:nvPr/>
        </p:nvSpPr>
        <p:spPr>
          <a:xfrm>
            <a:off x="8092440" y="4503420"/>
            <a:ext cx="3337560" cy="256032"/>
          </a:xfrm>
          <a:prstGeom prst="rect">
            <a:avLst/>
          </a:prstGeom>
          <a:noFill/>
          <a:ln/>
        </p:spPr>
        <p:txBody>
          <a:bodyPr wrap="square" lIns="0" tIns="0" rIns="0" bIns="0" rtlCol="0" anchor="ctr"/>
          <a:lstStyle/>
          <a:p>
            <a:pPr marL="0" indent="0" algn="l">
              <a:buNone/>
            </a:pPr>
            <a:r>
              <a:rPr lang="en-US" sz="1000" dirty="0">
                <a:solidFill>
                  <a:srgbClr val="4B5B63"/>
                </a:solidFill>
                <a:latin typeface="Yu Gothic" pitchFamily="34" charset="0"/>
                <a:ea typeface="Yu Gothic" pitchFamily="34" charset="-122"/>
                <a:cs typeface="Yu Gothic" pitchFamily="34" charset="-120"/>
              </a:rPr>
              <a:t>橈骨静脈・尺骨静脈から連続する（2対）</a:t>
            </a:r>
            <a:endParaRPr lang="en-US" sz="1000" dirty="0"/>
          </a:p>
        </p:txBody>
      </p:sp>
      <p:sp>
        <p:nvSpPr>
          <p:cNvPr id="40" name="Shape 38"/>
          <p:cNvSpPr/>
          <p:nvPr/>
        </p:nvSpPr>
        <p:spPr>
          <a:xfrm>
            <a:off x="7863840" y="4809744"/>
            <a:ext cx="3794760" cy="516636"/>
          </a:xfrm>
          <a:prstGeom prst="roundRect">
            <a:avLst>
              <a:gd name="adj" fmla="val 10619"/>
            </a:avLst>
          </a:prstGeom>
          <a:solidFill>
            <a:srgbClr val="EEF5F3"/>
          </a:solidFill>
          <a:ln/>
        </p:spPr>
        <p:txBody>
          <a:bodyPr/>
          <a:lstStyle/>
          <a:p>
            <a:endParaRPr lang="ja-JP" altLang="en-US"/>
          </a:p>
        </p:txBody>
      </p:sp>
      <p:sp>
        <p:nvSpPr>
          <p:cNvPr id="41" name="Text 39"/>
          <p:cNvSpPr txBox="1"/>
          <p:nvPr/>
        </p:nvSpPr>
        <p:spPr>
          <a:xfrm>
            <a:off x="8092440" y="4855464"/>
            <a:ext cx="333756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橈骨静脈</a:t>
            </a:r>
            <a:endParaRPr lang="en-US" sz="1250" dirty="0"/>
          </a:p>
        </p:txBody>
      </p:sp>
      <p:sp>
        <p:nvSpPr>
          <p:cNvPr id="42" name="Text 40"/>
          <p:cNvSpPr txBox="1"/>
          <p:nvPr/>
        </p:nvSpPr>
        <p:spPr>
          <a:xfrm>
            <a:off x="8092440" y="5111496"/>
            <a:ext cx="3337560" cy="256032"/>
          </a:xfrm>
          <a:prstGeom prst="rect">
            <a:avLst/>
          </a:prstGeom>
          <a:noFill/>
          <a:ln/>
        </p:spPr>
        <p:txBody>
          <a:bodyPr wrap="square" lIns="0" tIns="0" rIns="0" bIns="0" rtlCol="0" anchor="ctr"/>
          <a:lstStyle/>
          <a:p>
            <a:pPr marL="0" indent="0" algn="l">
              <a:buNone/>
            </a:pPr>
            <a:r>
              <a:rPr lang="en-US" sz="1000" dirty="0">
                <a:solidFill>
                  <a:srgbClr val="4B5B63"/>
                </a:solidFill>
                <a:latin typeface="Yu Gothic" pitchFamily="34" charset="0"/>
                <a:ea typeface="Yu Gothic" pitchFamily="34" charset="-122"/>
                <a:cs typeface="Yu Gothic" pitchFamily="34" charset="-120"/>
              </a:rPr>
              <a:t>手関節付近の橈骨側を走行する（2対）</a:t>
            </a:r>
            <a:endParaRPr lang="en-US" sz="1000" dirty="0"/>
          </a:p>
        </p:txBody>
      </p:sp>
      <p:sp>
        <p:nvSpPr>
          <p:cNvPr id="43" name="Shape 41"/>
          <p:cNvSpPr/>
          <p:nvPr/>
        </p:nvSpPr>
        <p:spPr>
          <a:xfrm>
            <a:off x="7863840" y="5417820"/>
            <a:ext cx="3794760" cy="516636"/>
          </a:xfrm>
          <a:prstGeom prst="roundRect">
            <a:avLst>
              <a:gd name="adj" fmla="val 10619"/>
            </a:avLst>
          </a:prstGeom>
          <a:solidFill>
            <a:srgbClr val="EEF5F3"/>
          </a:solidFill>
          <a:ln/>
        </p:spPr>
        <p:txBody>
          <a:bodyPr/>
          <a:lstStyle/>
          <a:p>
            <a:endParaRPr lang="ja-JP" altLang="en-US"/>
          </a:p>
        </p:txBody>
      </p:sp>
      <p:sp>
        <p:nvSpPr>
          <p:cNvPr id="44" name="Text 42"/>
          <p:cNvSpPr txBox="1"/>
          <p:nvPr/>
        </p:nvSpPr>
        <p:spPr>
          <a:xfrm>
            <a:off x="8092440" y="5463540"/>
            <a:ext cx="333756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尺骨静脈</a:t>
            </a:r>
            <a:endParaRPr lang="en-US" sz="1250" dirty="0"/>
          </a:p>
        </p:txBody>
      </p:sp>
      <p:sp>
        <p:nvSpPr>
          <p:cNvPr id="45" name="Text 43"/>
          <p:cNvSpPr txBox="1"/>
          <p:nvPr/>
        </p:nvSpPr>
        <p:spPr>
          <a:xfrm>
            <a:off x="8092440" y="5719572"/>
            <a:ext cx="3337560" cy="256032"/>
          </a:xfrm>
          <a:prstGeom prst="rect">
            <a:avLst/>
          </a:prstGeom>
          <a:noFill/>
          <a:ln/>
        </p:spPr>
        <p:txBody>
          <a:bodyPr wrap="square" lIns="0" tIns="0" rIns="0" bIns="0" rtlCol="0" anchor="ctr"/>
          <a:lstStyle/>
          <a:p>
            <a:pPr marL="0" indent="0" algn="l">
              <a:buNone/>
            </a:pPr>
            <a:r>
              <a:rPr lang="en-US" sz="1000" dirty="0">
                <a:solidFill>
                  <a:srgbClr val="4B5B63"/>
                </a:solidFill>
                <a:latin typeface="Yu Gothic" pitchFamily="34" charset="0"/>
                <a:ea typeface="Yu Gothic" pitchFamily="34" charset="-122"/>
                <a:cs typeface="Yu Gothic" pitchFamily="34" charset="-120"/>
              </a:rPr>
              <a:t>手関節付近の尺骨側を走行する（2対）</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A25B06-8D1B-9C63-803F-B5DC6A94E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78DF1F-46C4-4E70-857E-175CC80D9958}"/>
              </a:ext>
            </a:extLst>
          </p:cNvPr>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血管解剖：静脈</a:t>
            </a:r>
            <a:endParaRPr lang="en-US" sz="2800" dirty="0"/>
          </a:p>
        </p:txBody>
      </p:sp>
      <p:sp>
        <p:nvSpPr>
          <p:cNvPr id="3" name="Text 1">
            <a:extLst>
              <a:ext uri="{FF2B5EF4-FFF2-40B4-BE49-F238E27FC236}">
                <a16:creationId xmlns:a16="http://schemas.microsoft.com/office/drawing/2014/main" id="{D2ECE91D-2363-4A51-BB16-C396BA2FC5C9}"/>
              </a:ext>
            </a:extLst>
          </p:cNvPr>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シャント吻合に用いられる表在静脈と、上肢の深部静脈を理解する</a:t>
            </a:r>
            <a:endParaRPr lang="en-US" sz="1400" dirty="0"/>
          </a:p>
        </p:txBody>
      </p:sp>
      <p:sp>
        <p:nvSpPr>
          <p:cNvPr id="4" name="Shape 2">
            <a:extLst>
              <a:ext uri="{FF2B5EF4-FFF2-40B4-BE49-F238E27FC236}">
                <a16:creationId xmlns:a16="http://schemas.microsoft.com/office/drawing/2014/main" id="{7AC647F9-E5B3-D334-0306-CA8C71A4A3EF}"/>
              </a:ext>
            </a:extLst>
          </p:cNvPr>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a:extLst>
              <a:ext uri="{FF2B5EF4-FFF2-40B4-BE49-F238E27FC236}">
                <a16:creationId xmlns:a16="http://schemas.microsoft.com/office/drawing/2014/main" id="{BA4ECD27-3ECD-DA4F-16F9-D07F59286E49}"/>
              </a:ext>
            </a:extLst>
          </p:cNvPr>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血管解剖</a:t>
            </a:r>
            <a:endParaRPr lang="en-US" sz="1100" dirty="0"/>
          </a:p>
        </p:txBody>
      </p:sp>
      <p:sp>
        <p:nvSpPr>
          <p:cNvPr id="6" name="Shape 4">
            <a:extLst>
              <a:ext uri="{FF2B5EF4-FFF2-40B4-BE49-F238E27FC236}">
                <a16:creationId xmlns:a16="http://schemas.microsoft.com/office/drawing/2014/main" id="{58C2ABE6-815D-BBEE-0CBE-AB1520FDA15F}"/>
              </a:ext>
            </a:extLst>
          </p:cNvPr>
          <p:cNvSpPr/>
          <p:nvPr/>
        </p:nvSpPr>
        <p:spPr>
          <a:xfrm>
            <a:off x="502920" y="1600200"/>
            <a:ext cx="5701937" cy="502920"/>
          </a:xfrm>
          <a:prstGeom prst="roundRect">
            <a:avLst>
              <a:gd name="adj" fmla="val 14545"/>
            </a:avLst>
          </a:prstGeom>
          <a:solidFill>
            <a:srgbClr val="33475B"/>
          </a:solidFill>
          <a:ln/>
        </p:spPr>
        <p:txBody>
          <a:bodyPr/>
          <a:lstStyle/>
          <a:p>
            <a:endParaRPr lang="ja-JP" altLang="en-US"/>
          </a:p>
        </p:txBody>
      </p:sp>
      <p:sp>
        <p:nvSpPr>
          <p:cNvPr id="7" name="Text 5">
            <a:extLst>
              <a:ext uri="{FF2B5EF4-FFF2-40B4-BE49-F238E27FC236}">
                <a16:creationId xmlns:a16="http://schemas.microsoft.com/office/drawing/2014/main" id="{A7C3729C-68E3-4D1E-132A-48CB328A27C1}"/>
              </a:ext>
            </a:extLst>
          </p:cNvPr>
          <p:cNvSpPr txBox="1"/>
          <p:nvPr/>
        </p:nvSpPr>
        <p:spPr>
          <a:xfrm>
            <a:off x="777240" y="1600200"/>
            <a:ext cx="662940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表在静脈</a:t>
            </a:r>
            <a:endParaRPr lang="en-US" sz="1600" dirty="0"/>
          </a:p>
        </p:txBody>
      </p:sp>
      <p:sp>
        <p:nvSpPr>
          <p:cNvPr id="8" name="Text 6">
            <a:extLst>
              <a:ext uri="{FF2B5EF4-FFF2-40B4-BE49-F238E27FC236}">
                <a16:creationId xmlns:a16="http://schemas.microsoft.com/office/drawing/2014/main" id="{CBEF7D6D-7DFF-E0C9-E4A1-B24A02965512}"/>
              </a:ext>
            </a:extLst>
          </p:cNvPr>
          <p:cNvSpPr txBox="1"/>
          <p:nvPr/>
        </p:nvSpPr>
        <p:spPr>
          <a:xfrm>
            <a:off x="-698863" y="1600200"/>
            <a:ext cx="6629400" cy="502920"/>
          </a:xfrm>
          <a:prstGeom prst="rect">
            <a:avLst/>
          </a:prstGeom>
          <a:noFill/>
          <a:ln/>
        </p:spPr>
        <p:txBody>
          <a:bodyPr wrap="square" lIns="635" tIns="635" rIns="635" bIns="635" rtlCol="0" anchor="ctr"/>
          <a:lstStyle/>
          <a:p>
            <a:pPr marL="0" indent="0" algn="r">
              <a:buNone/>
            </a:pPr>
            <a:r>
              <a:rPr lang="en-US" sz="1150" dirty="0">
                <a:solidFill>
                  <a:srgbClr val="D7E1E6"/>
                </a:solidFill>
                <a:latin typeface="Yu Gothic" pitchFamily="34" charset="0"/>
                <a:ea typeface="Yu Gothic" pitchFamily="34" charset="-122"/>
                <a:cs typeface="Yu Gothic" pitchFamily="34" charset="-120"/>
              </a:rPr>
              <a:t>シャント吻合部に用いられる皮静脈</a:t>
            </a:r>
            <a:endParaRPr lang="en-US" sz="1150" dirty="0"/>
          </a:p>
        </p:txBody>
      </p:sp>
      <p:sp>
        <p:nvSpPr>
          <p:cNvPr id="9" name="Shape 7">
            <a:extLst>
              <a:ext uri="{FF2B5EF4-FFF2-40B4-BE49-F238E27FC236}">
                <a16:creationId xmlns:a16="http://schemas.microsoft.com/office/drawing/2014/main" id="{21FAA094-4EFA-3C91-9F7D-AE84B26CE7EE}"/>
              </a:ext>
            </a:extLst>
          </p:cNvPr>
          <p:cNvSpPr/>
          <p:nvPr/>
        </p:nvSpPr>
        <p:spPr>
          <a:xfrm>
            <a:off x="6781489" y="1600200"/>
            <a:ext cx="4181980" cy="502920"/>
          </a:xfrm>
          <a:prstGeom prst="roundRect">
            <a:avLst>
              <a:gd name="adj" fmla="val 14545"/>
            </a:avLst>
          </a:prstGeom>
          <a:solidFill>
            <a:srgbClr val="5A7184"/>
          </a:solidFill>
          <a:ln/>
        </p:spPr>
        <p:txBody>
          <a:bodyPr/>
          <a:lstStyle/>
          <a:p>
            <a:endParaRPr lang="ja-JP" altLang="en-US"/>
          </a:p>
        </p:txBody>
      </p:sp>
      <p:sp>
        <p:nvSpPr>
          <p:cNvPr id="10" name="Text 8">
            <a:extLst>
              <a:ext uri="{FF2B5EF4-FFF2-40B4-BE49-F238E27FC236}">
                <a16:creationId xmlns:a16="http://schemas.microsoft.com/office/drawing/2014/main" id="{275238F3-193D-23B7-3E72-0883DB3C7A4F}"/>
              </a:ext>
            </a:extLst>
          </p:cNvPr>
          <p:cNvSpPr txBox="1"/>
          <p:nvPr/>
        </p:nvSpPr>
        <p:spPr>
          <a:xfrm>
            <a:off x="6996093" y="1600200"/>
            <a:ext cx="1369734"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深部静脈</a:t>
            </a:r>
            <a:endParaRPr lang="en-US" sz="1600" dirty="0"/>
          </a:p>
        </p:txBody>
      </p:sp>
      <p:pic>
        <p:nvPicPr>
          <p:cNvPr id="47" name="図 46">
            <a:extLst>
              <a:ext uri="{FF2B5EF4-FFF2-40B4-BE49-F238E27FC236}">
                <a16:creationId xmlns:a16="http://schemas.microsoft.com/office/drawing/2014/main" id="{A9B0790F-0AA6-DE7C-1CA7-D8C7C05F4402}"/>
              </a:ext>
            </a:extLst>
          </p:cNvPr>
          <p:cNvPicPr>
            <a:picLocks noChangeAspect="1"/>
          </p:cNvPicPr>
          <p:nvPr/>
        </p:nvPicPr>
        <p:blipFill>
          <a:blip r:embed="rId3"/>
          <a:stretch>
            <a:fillRect/>
          </a:stretch>
        </p:blipFill>
        <p:spPr>
          <a:xfrm>
            <a:off x="901803" y="2103120"/>
            <a:ext cx="4904170" cy="4485521"/>
          </a:xfrm>
          <a:prstGeom prst="rect">
            <a:avLst/>
          </a:prstGeom>
        </p:spPr>
      </p:pic>
      <p:pic>
        <p:nvPicPr>
          <p:cNvPr id="49" name="図 48">
            <a:extLst>
              <a:ext uri="{FF2B5EF4-FFF2-40B4-BE49-F238E27FC236}">
                <a16:creationId xmlns:a16="http://schemas.microsoft.com/office/drawing/2014/main" id="{BB95780A-F817-9D50-36B0-D8614C24C1EB}"/>
              </a:ext>
            </a:extLst>
          </p:cNvPr>
          <p:cNvPicPr>
            <a:picLocks noChangeAspect="1"/>
          </p:cNvPicPr>
          <p:nvPr/>
        </p:nvPicPr>
        <p:blipFill>
          <a:blip r:embed="rId4"/>
          <a:stretch>
            <a:fillRect/>
          </a:stretch>
        </p:blipFill>
        <p:spPr>
          <a:xfrm>
            <a:off x="6483323" y="2284068"/>
            <a:ext cx="5049313" cy="4573932"/>
          </a:xfrm>
          <a:prstGeom prst="rect">
            <a:avLst/>
          </a:prstGeom>
        </p:spPr>
      </p:pic>
    </p:spTree>
    <p:extLst>
      <p:ext uri="{BB962C8B-B14F-4D97-AF65-F5344CB8AC3E}">
        <p14:creationId xmlns:p14="http://schemas.microsoft.com/office/powerpoint/2010/main" val="2995042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8F7569-C0B8-9711-0C7E-396C5565C5C5}"/>
              </a:ext>
            </a:extLst>
          </p:cNvPr>
          <p:cNvSpPr>
            <a:spLocks noGrp="1"/>
          </p:cNvSpPr>
          <p:nvPr>
            <p:ph type="title"/>
          </p:nvPr>
        </p:nvSpPr>
        <p:spPr>
          <a:xfrm>
            <a:off x="838200" y="365125"/>
            <a:ext cx="10515600" cy="1860400"/>
          </a:xfrm>
        </p:spPr>
        <p:txBody>
          <a:bodyPr vert="horz" lIns="91440" tIns="45720" rIns="91440" bIns="45720" rtlCol="0">
            <a:normAutofit/>
          </a:bodyPr>
          <a:lstStyle/>
          <a:p>
            <a:r>
              <a:rPr kumimoji="1" lang="ja-JP" altLang="en-US" sz="5200"/>
              <a:t>吻合種類</a:t>
            </a:r>
            <a:endParaRPr kumimoji="1" lang="en-US" altLang="ja-JP" sz="5200"/>
          </a:p>
        </p:txBody>
      </p:sp>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EBA3705A-2447-37D8-A067-56888E40E9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234" y="2462334"/>
            <a:ext cx="5828261" cy="3744657"/>
          </a:xfrm>
          <a:prstGeom prst="rect">
            <a:avLst/>
          </a:prstGeom>
        </p:spPr>
      </p:pic>
      <p:pic>
        <p:nvPicPr>
          <p:cNvPr id="6" name="図 5" descr="テーブル&#10;&#10;AI 生成コンテンツは誤りを含む可能性があります。">
            <a:extLst>
              <a:ext uri="{FF2B5EF4-FFF2-40B4-BE49-F238E27FC236}">
                <a16:creationId xmlns:a16="http://schemas.microsoft.com/office/drawing/2014/main" id="{4689DE71-B255-6341-B460-04C433A3BB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2505" y="3110728"/>
            <a:ext cx="5828261" cy="2447869"/>
          </a:xfrm>
          <a:prstGeom prst="rect">
            <a:avLst/>
          </a:prstGeom>
        </p:spPr>
      </p:pic>
    </p:spTree>
    <p:extLst>
      <p:ext uri="{BB962C8B-B14F-4D97-AF65-F5344CB8AC3E}">
        <p14:creationId xmlns:p14="http://schemas.microsoft.com/office/powerpoint/2010/main" val="1885682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テキスト, タイムライン&#10;&#10;AI 生成コンテンツは誤りを含む可能性があります。">
            <a:extLst>
              <a:ext uri="{FF2B5EF4-FFF2-40B4-BE49-F238E27FC236}">
                <a16:creationId xmlns:a16="http://schemas.microsoft.com/office/drawing/2014/main" id="{1D429943-1C79-106C-B2B0-75BB8F79AF8F}"/>
              </a:ext>
            </a:extLst>
          </p:cNvPr>
          <p:cNvPicPr>
            <a:picLocks noChangeAspect="1"/>
          </p:cNvPicPr>
          <p:nvPr/>
        </p:nvPicPr>
        <p:blipFill>
          <a:blip r:embed="rId3">
            <a:extLst>
              <a:ext uri="{28A0092B-C50C-407E-A947-70E740481C1C}">
                <a14:useLocalDpi xmlns:a14="http://schemas.microsoft.com/office/drawing/2010/main" val="0"/>
              </a:ext>
            </a:extLst>
          </a:blip>
          <a:srcRect b="3864"/>
          <a:stretch>
            <a:fillRect/>
          </a:stretch>
        </p:blipFill>
        <p:spPr>
          <a:xfrm>
            <a:off x="20" y="1282"/>
            <a:ext cx="12191980" cy="6856718"/>
          </a:xfrm>
          <a:prstGeom prst="rect">
            <a:avLst/>
          </a:prstGeom>
        </p:spPr>
      </p:pic>
      <p:sp>
        <p:nvSpPr>
          <p:cNvPr id="2" name="楕円 1">
            <a:extLst>
              <a:ext uri="{FF2B5EF4-FFF2-40B4-BE49-F238E27FC236}">
                <a16:creationId xmlns:a16="http://schemas.microsoft.com/office/drawing/2014/main" id="{C33AC189-E89F-1CCC-74D4-EA90DDC8E922}"/>
              </a:ext>
            </a:extLst>
          </p:cNvPr>
          <p:cNvSpPr/>
          <p:nvPr/>
        </p:nvSpPr>
        <p:spPr>
          <a:xfrm>
            <a:off x="11691257" y="6027576"/>
            <a:ext cx="279919" cy="279918"/>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6A3CEA2A-EE3F-315B-1B65-F5BDD84DB18C}"/>
              </a:ext>
            </a:extLst>
          </p:cNvPr>
          <p:cNvSpPr/>
          <p:nvPr/>
        </p:nvSpPr>
        <p:spPr>
          <a:xfrm>
            <a:off x="6618515" y="5564156"/>
            <a:ext cx="279919" cy="279918"/>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372319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グラフィカル ユーザー インターフェイス, テキスト, メール&#10;&#10;AI 生成コンテンツは誤りを含む可能性があります。">
            <a:extLst>
              <a:ext uri="{FF2B5EF4-FFF2-40B4-BE49-F238E27FC236}">
                <a16:creationId xmlns:a16="http://schemas.microsoft.com/office/drawing/2014/main" id="{F6B5A7F3-3950-33A8-13DF-4AD630670CF3}"/>
              </a:ext>
            </a:extLst>
          </p:cNvPr>
          <p:cNvPicPr>
            <a:picLocks noChangeAspect="1"/>
          </p:cNvPicPr>
          <p:nvPr/>
        </p:nvPicPr>
        <p:blipFill>
          <a:blip r:embed="rId3">
            <a:extLst>
              <a:ext uri="{28A0092B-C50C-407E-A947-70E740481C1C}">
                <a14:useLocalDpi xmlns:a14="http://schemas.microsoft.com/office/drawing/2010/main" val="0"/>
              </a:ext>
            </a:extLst>
          </a:blip>
          <a:srcRect t="5480"/>
          <a:stretch>
            <a:fillRect/>
          </a:stretch>
        </p:blipFill>
        <p:spPr>
          <a:xfrm>
            <a:off x="20" y="1282"/>
            <a:ext cx="12191980" cy="6856718"/>
          </a:xfrm>
          <a:prstGeom prst="rect">
            <a:avLst/>
          </a:prstGeom>
        </p:spPr>
      </p:pic>
      <p:sp>
        <p:nvSpPr>
          <p:cNvPr id="2" name="楕円 1">
            <a:extLst>
              <a:ext uri="{FF2B5EF4-FFF2-40B4-BE49-F238E27FC236}">
                <a16:creationId xmlns:a16="http://schemas.microsoft.com/office/drawing/2014/main" id="{087F5CB3-7C24-DDF4-21E8-A6229F658363}"/>
              </a:ext>
            </a:extLst>
          </p:cNvPr>
          <p:cNvSpPr/>
          <p:nvPr/>
        </p:nvSpPr>
        <p:spPr>
          <a:xfrm>
            <a:off x="11066106" y="6438122"/>
            <a:ext cx="214604" cy="195943"/>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3977933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身体所見①：視診</a:t>
            </a:r>
            <a:endParaRPr lang="en-US" sz="28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見た目の変化から、シャント血流の程度や病変部位を推測する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身体所見</a:t>
            </a:r>
            <a:endParaRPr lang="en-US" sz="1100" dirty="0"/>
          </a:p>
        </p:txBody>
      </p:sp>
      <p:sp>
        <p:nvSpPr>
          <p:cNvPr id="6" name="Shape 4"/>
          <p:cNvSpPr/>
          <p:nvPr/>
        </p:nvSpPr>
        <p:spPr>
          <a:xfrm>
            <a:off x="502920" y="1600200"/>
            <a:ext cx="3794760" cy="502920"/>
          </a:xfrm>
          <a:prstGeom prst="roundRect">
            <a:avLst>
              <a:gd name="adj" fmla="val 14545"/>
            </a:avLst>
          </a:prstGeom>
          <a:solidFill>
            <a:srgbClr val="33475B"/>
          </a:solidFill>
          <a:ln/>
        </p:spPr>
        <p:txBody>
          <a:bodyPr/>
          <a:lstStyle/>
          <a:p>
            <a:endParaRPr lang="ja-JP" altLang="en-US"/>
          </a:p>
        </p:txBody>
      </p:sp>
      <p:sp>
        <p:nvSpPr>
          <p:cNvPr id="7" name="Text 5"/>
          <p:cNvSpPr txBox="1"/>
          <p:nvPr/>
        </p:nvSpPr>
        <p:spPr>
          <a:xfrm>
            <a:off x="777240" y="1600200"/>
            <a:ext cx="324612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観察方法</a:t>
            </a:r>
            <a:endParaRPr lang="en-US" sz="1600" dirty="0"/>
          </a:p>
        </p:txBody>
      </p:sp>
      <p:sp>
        <p:nvSpPr>
          <p:cNvPr id="8" name="Shape 6"/>
          <p:cNvSpPr/>
          <p:nvPr/>
        </p:nvSpPr>
        <p:spPr>
          <a:xfrm>
            <a:off x="4480560" y="1600200"/>
            <a:ext cx="7178040" cy="502920"/>
          </a:xfrm>
          <a:prstGeom prst="roundRect">
            <a:avLst>
              <a:gd name="adj" fmla="val 14545"/>
            </a:avLst>
          </a:prstGeom>
          <a:solidFill>
            <a:srgbClr val="5A7184"/>
          </a:solidFill>
          <a:ln/>
        </p:spPr>
        <p:txBody>
          <a:bodyPr/>
          <a:lstStyle/>
          <a:p>
            <a:endParaRPr lang="ja-JP" altLang="en-US"/>
          </a:p>
        </p:txBody>
      </p:sp>
      <p:sp>
        <p:nvSpPr>
          <p:cNvPr id="9" name="Text 7"/>
          <p:cNvSpPr txBox="1"/>
          <p:nvPr/>
        </p:nvSpPr>
        <p:spPr>
          <a:xfrm>
            <a:off x="4754880" y="1600200"/>
            <a:ext cx="662940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疑うべき病態</a:t>
            </a:r>
            <a:endParaRPr lang="en-US" sz="1600" dirty="0"/>
          </a:p>
        </p:txBody>
      </p:sp>
      <p:sp>
        <p:nvSpPr>
          <p:cNvPr id="10" name="Text 8"/>
          <p:cNvSpPr txBox="1"/>
          <p:nvPr/>
        </p:nvSpPr>
        <p:spPr>
          <a:xfrm>
            <a:off x="4754880" y="1600200"/>
            <a:ext cx="6629400" cy="502920"/>
          </a:xfrm>
          <a:prstGeom prst="rect">
            <a:avLst/>
          </a:prstGeom>
          <a:noFill/>
          <a:ln/>
        </p:spPr>
        <p:txBody>
          <a:bodyPr wrap="square" lIns="635" tIns="635" rIns="635" bIns="635" rtlCol="0" anchor="ctr"/>
          <a:lstStyle/>
          <a:p>
            <a:pPr marL="0" indent="0" algn="r">
              <a:buNone/>
            </a:pPr>
            <a:r>
              <a:rPr lang="en-US" sz="1150" dirty="0">
                <a:solidFill>
                  <a:srgbClr val="E4E9EC"/>
                </a:solidFill>
                <a:latin typeface="Yu Gothic" pitchFamily="34" charset="0"/>
                <a:ea typeface="Yu Gothic" pitchFamily="34" charset="-122"/>
                <a:cs typeface="Yu Gothic" pitchFamily="34" charset="-120"/>
              </a:rPr>
              <a:t>所見 → 疑われる病態</a:t>
            </a:r>
            <a:endParaRPr lang="en-US" sz="1150" dirty="0"/>
          </a:p>
        </p:txBody>
      </p:sp>
      <p:sp>
        <p:nvSpPr>
          <p:cNvPr id="11" name="Shape 9"/>
          <p:cNvSpPr/>
          <p:nvPr/>
        </p:nvSpPr>
        <p:spPr>
          <a:xfrm>
            <a:off x="502920" y="2377440"/>
            <a:ext cx="3794760" cy="1325880"/>
          </a:xfrm>
          <a:prstGeom prst="roundRect">
            <a:avLst>
              <a:gd name="adj" fmla="val 6897"/>
            </a:avLst>
          </a:prstGeom>
          <a:solidFill>
            <a:srgbClr val="EEF5F3"/>
          </a:solidFill>
          <a:ln/>
        </p:spPr>
        <p:txBody>
          <a:bodyPr/>
          <a:lstStyle/>
          <a:p>
            <a:endParaRPr lang="ja-JP" altLang="en-US"/>
          </a:p>
        </p:txBody>
      </p:sp>
      <p:sp>
        <p:nvSpPr>
          <p:cNvPr id="12" name="Shape 10"/>
          <p:cNvSpPr/>
          <p:nvPr/>
        </p:nvSpPr>
        <p:spPr>
          <a:xfrm>
            <a:off x="731520" y="2606040"/>
            <a:ext cx="384048" cy="384048"/>
          </a:xfrm>
          <a:prstGeom prst="ellipse">
            <a:avLst/>
          </a:prstGeom>
          <a:solidFill>
            <a:srgbClr val="33475B"/>
          </a:solidFill>
          <a:ln/>
        </p:spPr>
        <p:txBody>
          <a:bodyPr/>
          <a:lstStyle/>
          <a:p>
            <a:endParaRPr lang="ja-JP" altLang="en-US"/>
          </a:p>
        </p:txBody>
      </p:sp>
      <p:sp>
        <p:nvSpPr>
          <p:cNvPr id="13" name="Text 11"/>
          <p:cNvSpPr txBox="1"/>
          <p:nvPr/>
        </p:nvSpPr>
        <p:spPr>
          <a:xfrm>
            <a:off x="731520" y="2606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14" name="Text 12"/>
          <p:cNvSpPr txBox="1"/>
          <p:nvPr/>
        </p:nvSpPr>
        <p:spPr>
          <a:xfrm>
            <a:off x="731520" y="3063240"/>
            <a:ext cx="3337560" cy="292608"/>
          </a:xfrm>
          <a:prstGeom prst="rect">
            <a:avLst/>
          </a:prstGeom>
          <a:noFill/>
          <a:ln/>
        </p:spPr>
        <p:txBody>
          <a:bodyPr wrap="square" lIns="0" tIns="0" rIns="0" bIns="0" rtlCol="0" anchor="ctr"/>
          <a:lstStyle/>
          <a:p>
            <a:pPr marL="0" indent="0" algn="l">
              <a:buNone/>
            </a:pPr>
            <a:r>
              <a:rPr lang="en-US" sz="1300" b="1" dirty="0">
                <a:solidFill>
                  <a:srgbClr val="1F2933"/>
                </a:solidFill>
                <a:latin typeface="Yu Gothic" pitchFamily="34" charset="0"/>
                <a:ea typeface="Yu Gothic" pitchFamily="34" charset="-122"/>
                <a:cs typeface="Yu Gothic" pitchFamily="34" charset="-120"/>
              </a:rPr>
              <a:t>VAの種類を確認する</a:t>
            </a:r>
            <a:endParaRPr lang="en-US" sz="1300" dirty="0"/>
          </a:p>
        </p:txBody>
      </p:sp>
      <p:sp>
        <p:nvSpPr>
          <p:cNvPr id="15" name="Text 13"/>
          <p:cNvSpPr txBox="1"/>
          <p:nvPr/>
        </p:nvSpPr>
        <p:spPr>
          <a:xfrm>
            <a:off x="731520" y="3337560"/>
            <a:ext cx="3337560" cy="365760"/>
          </a:xfrm>
          <a:prstGeom prst="rect">
            <a:avLst/>
          </a:prstGeom>
          <a:noFill/>
          <a:ln/>
        </p:spPr>
        <p:txBody>
          <a:bodyPr wrap="square" lIns="0" tIns="0" rIns="0" bIns="0" rtlCol="0" anchor="t"/>
          <a:lstStyle/>
          <a:p>
            <a:pPr marL="0" indent="0" algn="l">
              <a:buNone/>
            </a:pPr>
            <a:r>
              <a:rPr lang="en-US" sz="1000" dirty="0">
                <a:solidFill>
                  <a:srgbClr val="4B5B63"/>
                </a:solidFill>
                <a:latin typeface="Yu Gothic" pitchFamily="34" charset="0"/>
                <a:ea typeface="Yu Gothic" pitchFamily="34" charset="-122"/>
                <a:cs typeface="Yu Gothic" pitchFamily="34" charset="-120"/>
              </a:rPr>
              <a:t>AVF・AVG・動脈表在化・その他を確認する</a:t>
            </a:r>
            <a:endParaRPr lang="en-US" sz="1000" dirty="0"/>
          </a:p>
        </p:txBody>
      </p:sp>
      <p:sp>
        <p:nvSpPr>
          <p:cNvPr id="16" name="Shape 14"/>
          <p:cNvSpPr/>
          <p:nvPr/>
        </p:nvSpPr>
        <p:spPr>
          <a:xfrm>
            <a:off x="502920" y="3840480"/>
            <a:ext cx="3794760" cy="1325880"/>
          </a:xfrm>
          <a:prstGeom prst="roundRect">
            <a:avLst>
              <a:gd name="adj" fmla="val 6897"/>
            </a:avLst>
          </a:prstGeom>
          <a:solidFill>
            <a:srgbClr val="EEF5F3"/>
          </a:solidFill>
          <a:ln/>
        </p:spPr>
        <p:txBody>
          <a:bodyPr/>
          <a:lstStyle/>
          <a:p>
            <a:endParaRPr lang="ja-JP" altLang="en-US"/>
          </a:p>
        </p:txBody>
      </p:sp>
      <p:sp>
        <p:nvSpPr>
          <p:cNvPr id="17" name="Shape 15"/>
          <p:cNvSpPr/>
          <p:nvPr/>
        </p:nvSpPr>
        <p:spPr>
          <a:xfrm>
            <a:off x="731520" y="4069080"/>
            <a:ext cx="384048" cy="384048"/>
          </a:xfrm>
          <a:prstGeom prst="ellipse">
            <a:avLst/>
          </a:prstGeom>
          <a:solidFill>
            <a:srgbClr val="33475B"/>
          </a:solidFill>
          <a:ln/>
        </p:spPr>
        <p:txBody>
          <a:bodyPr/>
          <a:lstStyle/>
          <a:p>
            <a:endParaRPr lang="ja-JP" altLang="en-US"/>
          </a:p>
        </p:txBody>
      </p:sp>
      <p:sp>
        <p:nvSpPr>
          <p:cNvPr id="18" name="Text 16"/>
          <p:cNvSpPr txBox="1"/>
          <p:nvPr/>
        </p:nvSpPr>
        <p:spPr>
          <a:xfrm>
            <a:off x="731520" y="4069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9" name="Text 17"/>
          <p:cNvSpPr txBox="1"/>
          <p:nvPr/>
        </p:nvSpPr>
        <p:spPr>
          <a:xfrm>
            <a:off x="731520" y="4526280"/>
            <a:ext cx="3337560" cy="292608"/>
          </a:xfrm>
          <a:prstGeom prst="rect">
            <a:avLst/>
          </a:prstGeom>
          <a:noFill/>
          <a:ln/>
        </p:spPr>
        <p:txBody>
          <a:bodyPr wrap="square" lIns="0" tIns="0" rIns="0" bIns="0" rtlCol="0" anchor="ctr"/>
          <a:lstStyle/>
          <a:p>
            <a:pPr marL="0" indent="0" algn="l">
              <a:buNone/>
            </a:pPr>
            <a:r>
              <a:rPr lang="en-US" sz="1300" b="1" dirty="0">
                <a:solidFill>
                  <a:srgbClr val="1F2933"/>
                </a:solidFill>
                <a:latin typeface="Yu Gothic" pitchFamily="34" charset="0"/>
                <a:ea typeface="Yu Gothic" pitchFamily="34" charset="-122"/>
                <a:cs typeface="Yu Gothic" pitchFamily="34" charset="-120"/>
              </a:rPr>
              <a:t>手指〜上肢・顔面を視る</a:t>
            </a:r>
            <a:endParaRPr lang="en-US" sz="1300" dirty="0"/>
          </a:p>
        </p:txBody>
      </p:sp>
      <p:sp>
        <p:nvSpPr>
          <p:cNvPr id="20" name="Text 18"/>
          <p:cNvSpPr txBox="1"/>
          <p:nvPr/>
        </p:nvSpPr>
        <p:spPr>
          <a:xfrm>
            <a:off x="731520" y="4800600"/>
            <a:ext cx="3337560" cy="365760"/>
          </a:xfrm>
          <a:prstGeom prst="rect">
            <a:avLst/>
          </a:prstGeom>
          <a:noFill/>
          <a:ln/>
        </p:spPr>
        <p:txBody>
          <a:bodyPr wrap="square" lIns="0" tIns="0" rIns="0" bIns="0" rtlCol="0" anchor="t"/>
          <a:lstStyle/>
          <a:p>
            <a:pPr marL="0" indent="0" algn="l">
              <a:buNone/>
            </a:pPr>
            <a:r>
              <a:rPr lang="en-US" sz="1000" dirty="0">
                <a:solidFill>
                  <a:srgbClr val="4B5B63"/>
                </a:solidFill>
                <a:latin typeface="Yu Gothic" pitchFamily="34" charset="0"/>
                <a:ea typeface="Yu Gothic" pitchFamily="34" charset="-122"/>
                <a:cs typeface="Yu Gothic" pitchFamily="34" charset="-120"/>
              </a:rPr>
              <a:t>腫脹・浮腫・発赤・潰瘍形成・色調・皮下血管の拡張・母指球の萎縮など</a:t>
            </a:r>
            <a:endParaRPr lang="en-US" sz="1000" dirty="0"/>
          </a:p>
        </p:txBody>
      </p:sp>
      <p:sp>
        <p:nvSpPr>
          <p:cNvPr id="21" name="Shape 19"/>
          <p:cNvSpPr/>
          <p:nvPr/>
        </p:nvSpPr>
        <p:spPr>
          <a:xfrm>
            <a:off x="502920" y="5303520"/>
            <a:ext cx="3794760" cy="1325880"/>
          </a:xfrm>
          <a:prstGeom prst="roundRect">
            <a:avLst>
              <a:gd name="adj" fmla="val 6897"/>
            </a:avLst>
          </a:prstGeom>
          <a:solidFill>
            <a:srgbClr val="EEF5F3"/>
          </a:solidFill>
          <a:ln/>
        </p:spPr>
        <p:txBody>
          <a:bodyPr/>
          <a:lstStyle/>
          <a:p>
            <a:endParaRPr lang="ja-JP" altLang="en-US"/>
          </a:p>
        </p:txBody>
      </p:sp>
      <p:sp>
        <p:nvSpPr>
          <p:cNvPr id="22" name="Shape 20"/>
          <p:cNvSpPr/>
          <p:nvPr/>
        </p:nvSpPr>
        <p:spPr>
          <a:xfrm>
            <a:off x="731520" y="5532120"/>
            <a:ext cx="384048" cy="384048"/>
          </a:xfrm>
          <a:prstGeom prst="ellipse">
            <a:avLst/>
          </a:prstGeom>
          <a:solidFill>
            <a:srgbClr val="33475B"/>
          </a:solidFill>
          <a:ln/>
        </p:spPr>
        <p:txBody>
          <a:bodyPr/>
          <a:lstStyle/>
          <a:p>
            <a:endParaRPr lang="ja-JP" altLang="en-US"/>
          </a:p>
        </p:txBody>
      </p:sp>
      <p:sp>
        <p:nvSpPr>
          <p:cNvPr id="23" name="Text 21"/>
          <p:cNvSpPr txBox="1"/>
          <p:nvPr/>
        </p:nvSpPr>
        <p:spPr>
          <a:xfrm>
            <a:off x="731520" y="55321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24" name="Text 22"/>
          <p:cNvSpPr txBox="1"/>
          <p:nvPr/>
        </p:nvSpPr>
        <p:spPr>
          <a:xfrm>
            <a:off x="731520" y="5989320"/>
            <a:ext cx="3337560" cy="292608"/>
          </a:xfrm>
          <a:prstGeom prst="rect">
            <a:avLst/>
          </a:prstGeom>
          <a:noFill/>
          <a:ln/>
        </p:spPr>
        <p:txBody>
          <a:bodyPr wrap="square" lIns="0" tIns="0" rIns="0" bIns="0" rtlCol="0" anchor="ctr"/>
          <a:lstStyle/>
          <a:p>
            <a:pPr marL="0" indent="0" algn="l">
              <a:buNone/>
            </a:pPr>
            <a:r>
              <a:rPr lang="en-US" sz="1300" b="1" dirty="0">
                <a:solidFill>
                  <a:srgbClr val="1F2933"/>
                </a:solidFill>
                <a:latin typeface="Yu Gothic" pitchFamily="34" charset="0"/>
                <a:ea typeface="Yu Gothic" pitchFamily="34" charset="-122"/>
                <a:cs typeface="Yu Gothic" pitchFamily="34" charset="-120"/>
              </a:rPr>
              <a:t>VAそのものを視る</a:t>
            </a:r>
            <a:endParaRPr lang="en-US" sz="1300" dirty="0"/>
          </a:p>
        </p:txBody>
      </p:sp>
      <p:sp>
        <p:nvSpPr>
          <p:cNvPr id="25" name="Text 23"/>
          <p:cNvSpPr txBox="1"/>
          <p:nvPr/>
        </p:nvSpPr>
        <p:spPr>
          <a:xfrm>
            <a:off x="731520" y="6263640"/>
            <a:ext cx="3337560" cy="365760"/>
          </a:xfrm>
          <a:prstGeom prst="rect">
            <a:avLst/>
          </a:prstGeom>
          <a:noFill/>
          <a:ln/>
        </p:spPr>
        <p:txBody>
          <a:bodyPr wrap="square" lIns="0" tIns="0" rIns="0" bIns="0" rtlCol="0" anchor="t"/>
          <a:lstStyle/>
          <a:p>
            <a:pPr marL="0" indent="0" algn="l">
              <a:buNone/>
            </a:pPr>
            <a:r>
              <a:rPr lang="en-US" sz="1000" dirty="0">
                <a:solidFill>
                  <a:srgbClr val="4B5B63"/>
                </a:solidFill>
                <a:latin typeface="Yu Gothic" pitchFamily="34" charset="0"/>
                <a:ea typeface="Yu Gothic" pitchFamily="34" charset="-122"/>
                <a:cs typeface="Yu Gothic" pitchFamily="34" charset="-120"/>
              </a:rPr>
              <a:t>吻合部・血管走行・脱血/返血穿刺部位・陥凹・膨隆など</a:t>
            </a:r>
            <a:endParaRPr lang="en-US" sz="1000" dirty="0"/>
          </a:p>
        </p:txBody>
      </p:sp>
      <p:sp>
        <p:nvSpPr>
          <p:cNvPr id="26" name="Shape 24"/>
          <p:cNvSpPr/>
          <p:nvPr/>
        </p:nvSpPr>
        <p:spPr>
          <a:xfrm>
            <a:off x="4480560" y="2377440"/>
            <a:ext cx="7178040" cy="443484"/>
          </a:xfrm>
          <a:prstGeom prst="roundRect">
            <a:avLst>
              <a:gd name="adj" fmla="val 12371"/>
            </a:avLst>
          </a:prstGeom>
          <a:solidFill>
            <a:srgbClr val="EEF5F3"/>
          </a:solidFill>
          <a:ln/>
        </p:spPr>
        <p:txBody>
          <a:bodyPr/>
          <a:lstStyle/>
          <a:p>
            <a:endParaRPr lang="ja-JP" altLang="en-US"/>
          </a:p>
        </p:txBody>
      </p:sp>
      <p:sp>
        <p:nvSpPr>
          <p:cNvPr id="27" name="Text 25"/>
          <p:cNvSpPr txBox="1"/>
          <p:nvPr/>
        </p:nvSpPr>
        <p:spPr>
          <a:xfrm>
            <a:off x="4709160" y="2377440"/>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腫脹・皮下血管拡張・顔面浮腫</a:t>
            </a:r>
            <a:endParaRPr lang="en-US" sz="1100" dirty="0"/>
          </a:p>
        </p:txBody>
      </p:sp>
      <p:sp>
        <p:nvSpPr>
          <p:cNvPr id="28" name="Text 26"/>
          <p:cNvSpPr txBox="1"/>
          <p:nvPr/>
        </p:nvSpPr>
        <p:spPr>
          <a:xfrm>
            <a:off x="7730338" y="2377440"/>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29" name="Text 27"/>
          <p:cNvSpPr txBox="1"/>
          <p:nvPr/>
        </p:nvSpPr>
        <p:spPr>
          <a:xfrm>
            <a:off x="8050378" y="2377440"/>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静脈高血圧症</a:t>
            </a:r>
            <a:endParaRPr lang="en-US" sz="1050" dirty="0"/>
          </a:p>
        </p:txBody>
      </p:sp>
      <p:sp>
        <p:nvSpPr>
          <p:cNvPr id="30" name="Shape 28"/>
          <p:cNvSpPr/>
          <p:nvPr/>
        </p:nvSpPr>
        <p:spPr>
          <a:xfrm>
            <a:off x="4480560" y="2894076"/>
            <a:ext cx="7178040" cy="443484"/>
          </a:xfrm>
          <a:prstGeom prst="roundRect">
            <a:avLst>
              <a:gd name="adj" fmla="val 12371"/>
            </a:avLst>
          </a:prstGeom>
          <a:solidFill>
            <a:srgbClr val="EEF5F3"/>
          </a:solidFill>
          <a:ln/>
        </p:spPr>
        <p:txBody>
          <a:bodyPr/>
          <a:lstStyle/>
          <a:p>
            <a:endParaRPr lang="ja-JP" altLang="en-US"/>
          </a:p>
        </p:txBody>
      </p:sp>
      <p:sp>
        <p:nvSpPr>
          <p:cNvPr id="31" name="Text 29"/>
          <p:cNvSpPr txBox="1"/>
          <p:nvPr/>
        </p:nvSpPr>
        <p:spPr>
          <a:xfrm>
            <a:off x="4709160" y="2894076"/>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全体的な浮腫</a:t>
            </a:r>
            <a:endParaRPr lang="en-US" sz="1100" dirty="0"/>
          </a:p>
        </p:txBody>
      </p:sp>
      <p:sp>
        <p:nvSpPr>
          <p:cNvPr id="32" name="Text 30"/>
          <p:cNvSpPr txBox="1"/>
          <p:nvPr/>
        </p:nvSpPr>
        <p:spPr>
          <a:xfrm>
            <a:off x="7730338" y="2894076"/>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33" name="Text 31"/>
          <p:cNvSpPr txBox="1"/>
          <p:nvPr/>
        </p:nvSpPr>
        <p:spPr>
          <a:xfrm>
            <a:off x="8050378" y="2894076"/>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低栄養／静脈高血圧症／体液量過剰</a:t>
            </a:r>
            <a:endParaRPr lang="en-US" sz="1050" dirty="0"/>
          </a:p>
        </p:txBody>
      </p:sp>
      <p:sp>
        <p:nvSpPr>
          <p:cNvPr id="34" name="Shape 32"/>
          <p:cNvSpPr/>
          <p:nvPr/>
        </p:nvSpPr>
        <p:spPr>
          <a:xfrm>
            <a:off x="4480560" y="3410712"/>
            <a:ext cx="7178040" cy="443484"/>
          </a:xfrm>
          <a:prstGeom prst="roundRect">
            <a:avLst>
              <a:gd name="adj" fmla="val 12371"/>
            </a:avLst>
          </a:prstGeom>
          <a:solidFill>
            <a:srgbClr val="EEF5F3"/>
          </a:solidFill>
          <a:ln/>
        </p:spPr>
        <p:txBody>
          <a:bodyPr/>
          <a:lstStyle/>
          <a:p>
            <a:endParaRPr lang="ja-JP" altLang="en-US"/>
          </a:p>
        </p:txBody>
      </p:sp>
      <p:sp>
        <p:nvSpPr>
          <p:cNvPr id="35" name="Text 33"/>
          <p:cNvSpPr txBox="1"/>
          <p:nvPr/>
        </p:nvSpPr>
        <p:spPr>
          <a:xfrm>
            <a:off x="4709160" y="3410712"/>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手指の潰瘍形成</a:t>
            </a:r>
            <a:endParaRPr lang="en-US" sz="1100" dirty="0"/>
          </a:p>
        </p:txBody>
      </p:sp>
      <p:sp>
        <p:nvSpPr>
          <p:cNvPr id="36" name="Text 34"/>
          <p:cNvSpPr txBox="1"/>
          <p:nvPr/>
        </p:nvSpPr>
        <p:spPr>
          <a:xfrm>
            <a:off x="7730338" y="3410712"/>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37" name="Text 35"/>
          <p:cNvSpPr txBox="1"/>
          <p:nvPr/>
        </p:nvSpPr>
        <p:spPr>
          <a:xfrm>
            <a:off x="8050378" y="3410712"/>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スチール症候群／静脈高血圧症（ソアサム症候群）</a:t>
            </a:r>
            <a:endParaRPr lang="en-US" sz="1050" dirty="0"/>
          </a:p>
        </p:txBody>
      </p:sp>
      <p:sp>
        <p:nvSpPr>
          <p:cNvPr id="38" name="Shape 36"/>
          <p:cNvSpPr/>
          <p:nvPr/>
        </p:nvSpPr>
        <p:spPr>
          <a:xfrm>
            <a:off x="4480560" y="3927348"/>
            <a:ext cx="7178040" cy="443484"/>
          </a:xfrm>
          <a:prstGeom prst="roundRect">
            <a:avLst>
              <a:gd name="adj" fmla="val 12371"/>
            </a:avLst>
          </a:prstGeom>
          <a:solidFill>
            <a:srgbClr val="EEF5F3"/>
          </a:solidFill>
          <a:ln/>
        </p:spPr>
        <p:txBody>
          <a:bodyPr/>
          <a:lstStyle/>
          <a:p>
            <a:endParaRPr lang="ja-JP" altLang="en-US"/>
          </a:p>
        </p:txBody>
      </p:sp>
      <p:sp>
        <p:nvSpPr>
          <p:cNvPr id="39" name="Text 37"/>
          <p:cNvSpPr txBox="1"/>
          <p:nvPr/>
        </p:nvSpPr>
        <p:spPr>
          <a:xfrm>
            <a:off x="4709160" y="3927348"/>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発赤</a:t>
            </a:r>
            <a:endParaRPr lang="en-US" sz="1100" dirty="0"/>
          </a:p>
        </p:txBody>
      </p:sp>
      <p:sp>
        <p:nvSpPr>
          <p:cNvPr id="40" name="Text 38"/>
          <p:cNvSpPr txBox="1"/>
          <p:nvPr/>
        </p:nvSpPr>
        <p:spPr>
          <a:xfrm>
            <a:off x="7730338" y="3927348"/>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41" name="Text 39"/>
          <p:cNvSpPr txBox="1"/>
          <p:nvPr/>
        </p:nvSpPr>
        <p:spPr>
          <a:xfrm>
            <a:off x="8050378" y="3927348"/>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感染／血栓性静脈炎／接触性皮膚炎</a:t>
            </a:r>
            <a:endParaRPr lang="en-US" sz="1050" dirty="0"/>
          </a:p>
        </p:txBody>
      </p:sp>
      <p:sp>
        <p:nvSpPr>
          <p:cNvPr id="42" name="Shape 40"/>
          <p:cNvSpPr/>
          <p:nvPr/>
        </p:nvSpPr>
        <p:spPr>
          <a:xfrm>
            <a:off x="4480560" y="4443984"/>
            <a:ext cx="7178040" cy="443484"/>
          </a:xfrm>
          <a:prstGeom prst="roundRect">
            <a:avLst>
              <a:gd name="adj" fmla="val 12371"/>
            </a:avLst>
          </a:prstGeom>
          <a:solidFill>
            <a:srgbClr val="EEF5F3"/>
          </a:solidFill>
          <a:ln/>
        </p:spPr>
        <p:txBody>
          <a:bodyPr/>
          <a:lstStyle/>
          <a:p>
            <a:endParaRPr lang="ja-JP" altLang="en-US"/>
          </a:p>
        </p:txBody>
      </p:sp>
      <p:sp>
        <p:nvSpPr>
          <p:cNvPr id="43" name="Text 41"/>
          <p:cNvSpPr txBox="1"/>
          <p:nvPr/>
        </p:nvSpPr>
        <p:spPr>
          <a:xfrm>
            <a:off x="4709160" y="4443984"/>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膨隆</a:t>
            </a:r>
            <a:endParaRPr lang="en-US" sz="1100" dirty="0"/>
          </a:p>
        </p:txBody>
      </p:sp>
      <p:sp>
        <p:nvSpPr>
          <p:cNvPr id="44" name="Text 42"/>
          <p:cNvSpPr txBox="1"/>
          <p:nvPr/>
        </p:nvSpPr>
        <p:spPr>
          <a:xfrm>
            <a:off x="7730338" y="4443984"/>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45" name="Text 43"/>
          <p:cNvSpPr txBox="1"/>
          <p:nvPr/>
        </p:nvSpPr>
        <p:spPr>
          <a:xfrm>
            <a:off x="8050378" y="4443984"/>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真性瘤／仮性瘤／血管の蛇行／血腫／血清腫／感染</a:t>
            </a:r>
            <a:endParaRPr lang="en-US" sz="1050" dirty="0"/>
          </a:p>
        </p:txBody>
      </p:sp>
      <p:sp>
        <p:nvSpPr>
          <p:cNvPr id="46" name="Shape 44"/>
          <p:cNvSpPr/>
          <p:nvPr/>
        </p:nvSpPr>
        <p:spPr>
          <a:xfrm>
            <a:off x="4480560" y="4960620"/>
            <a:ext cx="7178040" cy="443484"/>
          </a:xfrm>
          <a:prstGeom prst="roundRect">
            <a:avLst>
              <a:gd name="adj" fmla="val 12371"/>
            </a:avLst>
          </a:prstGeom>
          <a:solidFill>
            <a:srgbClr val="EEF5F3"/>
          </a:solidFill>
          <a:ln/>
        </p:spPr>
        <p:txBody>
          <a:bodyPr/>
          <a:lstStyle/>
          <a:p>
            <a:endParaRPr lang="ja-JP" altLang="en-US"/>
          </a:p>
        </p:txBody>
      </p:sp>
      <p:sp>
        <p:nvSpPr>
          <p:cNvPr id="47" name="Text 45"/>
          <p:cNvSpPr txBox="1"/>
          <p:nvPr/>
        </p:nvSpPr>
        <p:spPr>
          <a:xfrm>
            <a:off x="4709160" y="4960620"/>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手指・爪の色調不良</a:t>
            </a:r>
            <a:endParaRPr lang="en-US" sz="1100" dirty="0"/>
          </a:p>
        </p:txBody>
      </p:sp>
      <p:sp>
        <p:nvSpPr>
          <p:cNvPr id="48" name="Text 46"/>
          <p:cNvSpPr txBox="1"/>
          <p:nvPr/>
        </p:nvSpPr>
        <p:spPr>
          <a:xfrm>
            <a:off x="7730338" y="4960620"/>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49" name="Text 47"/>
          <p:cNvSpPr txBox="1"/>
          <p:nvPr/>
        </p:nvSpPr>
        <p:spPr>
          <a:xfrm>
            <a:off x="8050378" y="4960620"/>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スチール症候群／末梢循環障害</a:t>
            </a:r>
            <a:endParaRPr lang="en-US" sz="1050" dirty="0"/>
          </a:p>
        </p:txBody>
      </p:sp>
      <p:sp>
        <p:nvSpPr>
          <p:cNvPr id="50" name="Shape 48"/>
          <p:cNvSpPr/>
          <p:nvPr/>
        </p:nvSpPr>
        <p:spPr>
          <a:xfrm>
            <a:off x="4480560" y="5477256"/>
            <a:ext cx="7178040" cy="443484"/>
          </a:xfrm>
          <a:prstGeom prst="roundRect">
            <a:avLst>
              <a:gd name="adj" fmla="val 12371"/>
            </a:avLst>
          </a:prstGeom>
          <a:solidFill>
            <a:srgbClr val="EEF5F3"/>
          </a:solidFill>
          <a:ln/>
        </p:spPr>
        <p:txBody>
          <a:bodyPr/>
          <a:lstStyle/>
          <a:p>
            <a:endParaRPr lang="ja-JP" altLang="en-US"/>
          </a:p>
        </p:txBody>
      </p:sp>
      <p:sp>
        <p:nvSpPr>
          <p:cNvPr id="51" name="Text 49"/>
          <p:cNvSpPr txBox="1"/>
          <p:nvPr/>
        </p:nvSpPr>
        <p:spPr>
          <a:xfrm>
            <a:off x="4709160" y="5477256"/>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母指球の萎縮</a:t>
            </a:r>
            <a:endParaRPr lang="en-US" sz="1100" dirty="0"/>
          </a:p>
        </p:txBody>
      </p:sp>
      <p:sp>
        <p:nvSpPr>
          <p:cNvPr id="52" name="Text 50"/>
          <p:cNvSpPr txBox="1"/>
          <p:nvPr/>
        </p:nvSpPr>
        <p:spPr>
          <a:xfrm>
            <a:off x="7730338" y="5477256"/>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53" name="Text 51"/>
          <p:cNvSpPr txBox="1"/>
          <p:nvPr/>
        </p:nvSpPr>
        <p:spPr>
          <a:xfrm>
            <a:off x="8050378" y="5477256"/>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手根管症候群</a:t>
            </a:r>
            <a:endParaRPr lang="en-US" sz="1050" dirty="0"/>
          </a:p>
        </p:txBody>
      </p:sp>
      <p:sp>
        <p:nvSpPr>
          <p:cNvPr id="54" name="Shape 52"/>
          <p:cNvSpPr/>
          <p:nvPr/>
        </p:nvSpPr>
        <p:spPr>
          <a:xfrm>
            <a:off x="4480560" y="5993892"/>
            <a:ext cx="7178040" cy="443484"/>
          </a:xfrm>
          <a:prstGeom prst="roundRect">
            <a:avLst>
              <a:gd name="adj" fmla="val 12371"/>
            </a:avLst>
          </a:prstGeom>
          <a:solidFill>
            <a:srgbClr val="EEF5F3"/>
          </a:solidFill>
          <a:ln/>
        </p:spPr>
        <p:txBody>
          <a:bodyPr/>
          <a:lstStyle/>
          <a:p>
            <a:endParaRPr lang="ja-JP" altLang="en-US"/>
          </a:p>
        </p:txBody>
      </p:sp>
      <p:sp>
        <p:nvSpPr>
          <p:cNvPr id="55" name="Text 53"/>
          <p:cNvSpPr txBox="1"/>
          <p:nvPr/>
        </p:nvSpPr>
        <p:spPr>
          <a:xfrm>
            <a:off x="4709160" y="5993892"/>
            <a:ext cx="3158338" cy="443484"/>
          </a:xfrm>
          <a:prstGeom prst="rect">
            <a:avLst/>
          </a:prstGeom>
          <a:noFill/>
          <a:ln/>
        </p:spPr>
        <p:txBody>
          <a:bodyPr wrap="square" lIns="0" tIns="0" rIns="0" bIns="0" rtlCol="0" anchor="ctr"/>
          <a:lstStyle/>
          <a:p>
            <a:pPr marL="0" indent="0" algn="l">
              <a:buNone/>
            </a:pPr>
            <a:r>
              <a:rPr lang="en-US" sz="1100" b="1" dirty="0">
                <a:solidFill>
                  <a:srgbClr val="1F2933"/>
                </a:solidFill>
                <a:latin typeface="Yu Gothic" pitchFamily="34" charset="0"/>
                <a:ea typeface="Yu Gothic" pitchFamily="34" charset="-122"/>
                <a:cs typeface="Yu Gothic" pitchFamily="34" charset="-120"/>
              </a:rPr>
              <a:t>凹んでいる部分</a:t>
            </a:r>
            <a:endParaRPr lang="en-US" sz="1100" dirty="0"/>
          </a:p>
        </p:txBody>
      </p:sp>
      <p:sp>
        <p:nvSpPr>
          <p:cNvPr id="56" name="Text 54"/>
          <p:cNvSpPr txBox="1"/>
          <p:nvPr/>
        </p:nvSpPr>
        <p:spPr>
          <a:xfrm>
            <a:off x="7730338" y="5993892"/>
            <a:ext cx="274320" cy="443484"/>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57" name="Text 55"/>
          <p:cNvSpPr txBox="1"/>
          <p:nvPr/>
        </p:nvSpPr>
        <p:spPr>
          <a:xfrm>
            <a:off x="8050378" y="5993892"/>
            <a:ext cx="3379622" cy="443484"/>
          </a:xfrm>
          <a:prstGeom prst="rect">
            <a:avLst/>
          </a:prstGeom>
          <a:noFill/>
          <a:ln/>
        </p:spPr>
        <p:txBody>
          <a:bodyPr wrap="square" lIns="0" tIns="0" rIns="0" bIns="0" rtlCol="0" anchor="ctr"/>
          <a:lstStyle/>
          <a:p>
            <a:pPr marL="0" indent="0" algn="l">
              <a:buNone/>
            </a:pPr>
            <a:r>
              <a:rPr lang="en-US" sz="1050" b="1" dirty="0">
                <a:solidFill>
                  <a:srgbClr val="1F6F5C"/>
                </a:solidFill>
                <a:latin typeface="Yu Gothic" pitchFamily="34" charset="0"/>
                <a:ea typeface="Yu Gothic" pitchFamily="34" charset="-122"/>
                <a:cs typeface="Yu Gothic" pitchFamily="34" charset="-120"/>
              </a:rPr>
              <a:t>狭窄／血管の蛇行</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身体所見②：触診</a:t>
            </a:r>
            <a:endParaRPr lang="en-US" sz="28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拍動・スリル・血管の硬さから、シャントの血流と病変部位を推測する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身体所見</a:t>
            </a:r>
            <a:endParaRPr lang="en-US" sz="1100" dirty="0"/>
          </a:p>
        </p:txBody>
      </p:sp>
      <p:sp>
        <p:nvSpPr>
          <p:cNvPr id="6" name="Shape 4"/>
          <p:cNvSpPr/>
          <p:nvPr/>
        </p:nvSpPr>
        <p:spPr>
          <a:xfrm>
            <a:off x="502920" y="1600200"/>
            <a:ext cx="3794760" cy="502920"/>
          </a:xfrm>
          <a:prstGeom prst="roundRect">
            <a:avLst>
              <a:gd name="adj" fmla="val 14545"/>
            </a:avLst>
          </a:prstGeom>
          <a:solidFill>
            <a:srgbClr val="33475B"/>
          </a:solidFill>
          <a:ln/>
        </p:spPr>
        <p:txBody>
          <a:bodyPr/>
          <a:lstStyle/>
          <a:p>
            <a:endParaRPr lang="ja-JP" altLang="en-US"/>
          </a:p>
        </p:txBody>
      </p:sp>
      <p:sp>
        <p:nvSpPr>
          <p:cNvPr id="7" name="Text 5"/>
          <p:cNvSpPr txBox="1"/>
          <p:nvPr/>
        </p:nvSpPr>
        <p:spPr>
          <a:xfrm>
            <a:off x="777240" y="1600200"/>
            <a:ext cx="324612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観察方法</a:t>
            </a:r>
            <a:endParaRPr lang="en-US" sz="1600" dirty="0"/>
          </a:p>
        </p:txBody>
      </p:sp>
      <p:sp>
        <p:nvSpPr>
          <p:cNvPr id="8" name="Shape 6"/>
          <p:cNvSpPr/>
          <p:nvPr/>
        </p:nvSpPr>
        <p:spPr>
          <a:xfrm>
            <a:off x="4480560" y="1600200"/>
            <a:ext cx="7178040" cy="502920"/>
          </a:xfrm>
          <a:prstGeom prst="roundRect">
            <a:avLst>
              <a:gd name="adj" fmla="val 14545"/>
            </a:avLst>
          </a:prstGeom>
          <a:solidFill>
            <a:srgbClr val="5A7184"/>
          </a:solidFill>
          <a:ln/>
        </p:spPr>
        <p:txBody>
          <a:bodyPr/>
          <a:lstStyle/>
          <a:p>
            <a:endParaRPr lang="ja-JP" altLang="en-US"/>
          </a:p>
        </p:txBody>
      </p:sp>
      <p:sp>
        <p:nvSpPr>
          <p:cNvPr id="9" name="Text 7"/>
          <p:cNvSpPr txBox="1"/>
          <p:nvPr/>
        </p:nvSpPr>
        <p:spPr>
          <a:xfrm>
            <a:off x="4754880" y="1600200"/>
            <a:ext cx="662940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疑うべき病態</a:t>
            </a:r>
            <a:endParaRPr lang="en-US" sz="1600" dirty="0"/>
          </a:p>
        </p:txBody>
      </p:sp>
      <p:sp>
        <p:nvSpPr>
          <p:cNvPr id="10" name="Text 8"/>
          <p:cNvSpPr txBox="1"/>
          <p:nvPr/>
        </p:nvSpPr>
        <p:spPr>
          <a:xfrm>
            <a:off x="4754880" y="1600200"/>
            <a:ext cx="6629400" cy="502920"/>
          </a:xfrm>
          <a:prstGeom prst="rect">
            <a:avLst/>
          </a:prstGeom>
          <a:noFill/>
          <a:ln/>
        </p:spPr>
        <p:txBody>
          <a:bodyPr wrap="square" lIns="635" tIns="635" rIns="635" bIns="635" rtlCol="0" anchor="ctr"/>
          <a:lstStyle/>
          <a:p>
            <a:pPr marL="0" indent="0" algn="r">
              <a:buNone/>
            </a:pPr>
            <a:r>
              <a:rPr lang="en-US" sz="1150" dirty="0">
                <a:solidFill>
                  <a:srgbClr val="E4E9EC"/>
                </a:solidFill>
                <a:latin typeface="Yu Gothic" pitchFamily="34" charset="0"/>
                <a:ea typeface="Yu Gothic" pitchFamily="34" charset="-122"/>
                <a:cs typeface="Yu Gothic" pitchFamily="34" charset="-120"/>
              </a:rPr>
              <a:t>所見 → 疑われる病態</a:t>
            </a:r>
            <a:endParaRPr lang="en-US" sz="1150" dirty="0"/>
          </a:p>
        </p:txBody>
      </p:sp>
      <p:sp>
        <p:nvSpPr>
          <p:cNvPr id="11" name="Shape 9"/>
          <p:cNvSpPr/>
          <p:nvPr/>
        </p:nvSpPr>
        <p:spPr>
          <a:xfrm>
            <a:off x="502920" y="2377440"/>
            <a:ext cx="3794760" cy="960120"/>
          </a:xfrm>
          <a:prstGeom prst="roundRect">
            <a:avLst>
              <a:gd name="adj" fmla="val 9524"/>
            </a:avLst>
          </a:prstGeom>
          <a:solidFill>
            <a:srgbClr val="EEF5F3"/>
          </a:solidFill>
          <a:ln/>
        </p:spPr>
        <p:txBody>
          <a:bodyPr/>
          <a:lstStyle/>
          <a:p>
            <a:endParaRPr lang="ja-JP" altLang="en-US"/>
          </a:p>
        </p:txBody>
      </p:sp>
      <p:sp>
        <p:nvSpPr>
          <p:cNvPr id="12" name="Shape 10"/>
          <p:cNvSpPr/>
          <p:nvPr/>
        </p:nvSpPr>
        <p:spPr>
          <a:xfrm>
            <a:off x="704088" y="2560320"/>
            <a:ext cx="347472" cy="347472"/>
          </a:xfrm>
          <a:prstGeom prst="ellipse">
            <a:avLst/>
          </a:prstGeom>
          <a:solidFill>
            <a:srgbClr val="33475B"/>
          </a:solidFill>
          <a:ln/>
        </p:spPr>
        <p:txBody>
          <a:bodyPr/>
          <a:lstStyle/>
          <a:p>
            <a:endParaRPr lang="ja-JP" altLang="en-US"/>
          </a:p>
        </p:txBody>
      </p:sp>
      <p:sp>
        <p:nvSpPr>
          <p:cNvPr id="13" name="Text 11"/>
          <p:cNvSpPr txBox="1"/>
          <p:nvPr/>
        </p:nvSpPr>
        <p:spPr>
          <a:xfrm>
            <a:off x="704088" y="25603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4" name="Text 12"/>
          <p:cNvSpPr txBox="1"/>
          <p:nvPr/>
        </p:nvSpPr>
        <p:spPr>
          <a:xfrm>
            <a:off x="1161288" y="2505456"/>
            <a:ext cx="2926080" cy="32004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拍動の有無と程度</a:t>
            </a:r>
            <a:endParaRPr lang="en-US" sz="1250" dirty="0"/>
          </a:p>
        </p:txBody>
      </p:sp>
      <p:sp>
        <p:nvSpPr>
          <p:cNvPr id="15" name="Text 13"/>
          <p:cNvSpPr txBox="1"/>
          <p:nvPr/>
        </p:nvSpPr>
        <p:spPr>
          <a:xfrm>
            <a:off x="704088" y="2944368"/>
            <a:ext cx="3383280" cy="338328"/>
          </a:xfrm>
          <a:prstGeom prst="rect">
            <a:avLst/>
          </a:prstGeom>
          <a:noFill/>
          <a:ln/>
        </p:spPr>
        <p:txBody>
          <a:bodyPr wrap="square" lIns="0" tIns="0" rIns="0" bIns="0" rtlCol="0" anchor="t"/>
          <a:lstStyle/>
          <a:p>
            <a:pPr marL="0" indent="0" algn="l">
              <a:buNone/>
            </a:pPr>
            <a:r>
              <a:rPr lang="en-US" sz="1000" dirty="0">
                <a:solidFill>
                  <a:srgbClr val="4B5B63"/>
                </a:solidFill>
                <a:latin typeface="Yu Gothic" pitchFamily="34" charset="0"/>
                <a:ea typeface="Yu Gothic" pitchFamily="34" charset="-122"/>
                <a:cs typeface="Yu Gothic" pitchFamily="34" charset="-120"/>
              </a:rPr>
              <a:t>血管に触れ、拍動性の有無とその強さを確認する</a:t>
            </a:r>
            <a:endParaRPr lang="en-US" sz="1000" dirty="0"/>
          </a:p>
        </p:txBody>
      </p:sp>
      <p:sp>
        <p:nvSpPr>
          <p:cNvPr id="16" name="Shape 14"/>
          <p:cNvSpPr/>
          <p:nvPr/>
        </p:nvSpPr>
        <p:spPr>
          <a:xfrm>
            <a:off x="502920" y="3474720"/>
            <a:ext cx="3794760" cy="960120"/>
          </a:xfrm>
          <a:prstGeom prst="roundRect">
            <a:avLst>
              <a:gd name="adj" fmla="val 9524"/>
            </a:avLst>
          </a:prstGeom>
          <a:solidFill>
            <a:srgbClr val="EEF5F3"/>
          </a:solidFill>
          <a:ln/>
        </p:spPr>
        <p:txBody>
          <a:bodyPr/>
          <a:lstStyle/>
          <a:p>
            <a:endParaRPr lang="ja-JP" altLang="en-US"/>
          </a:p>
        </p:txBody>
      </p:sp>
      <p:sp>
        <p:nvSpPr>
          <p:cNvPr id="17" name="Shape 15"/>
          <p:cNvSpPr/>
          <p:nvPr/>
        </p:nvSpPr>
        <p:spPr>
          <a:xfrm>
            <a:off x="704088" y="3657600"/>
            <a:ext cx="347472" cy="347472"/>
          </a:xfrm>
          <a:prstGeom prst="ellipse">
            <a:avLst/>
          </a:prstGeom>
          <a:solidFill>
            <a:srgbClr val="33475B"/>
          </a:solidFill>
          <a:ln/>
        </p:spPr>
        <p:txBody>
          <a:bodyPr/>
          <a:lstStyle/>
          <a:p>
            <a:endParaRPr lang="ja-JP" altLang="en-US"/>
          </a:p>
        </p:txBody>
      </p:sp>
      <p:sp>
        <p:nvSpPr>
          <p:cNvPr id="18" name="Text 16"/>
          <p:cNvSpPr txBox="1"/>
          <p:nvPr/>
        </p:nvSpPr>
        <p:spPr>
          <a:xfrm>
            <a:off x="704088" y="36576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9" name="Text 17"/>
          <p:cNvSpPr txBox="1"/>
          <p:nvPr/>
        </p:nvSpPr>
        <p:spPr>
          <a:xfrm>
            <a:off x="1161288" y="3602736"/>
            <a:ext cx="2926080" cy="32004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スリルの有無と程度</a:t>
            </a:r>
            <a:endParaRPr lang="en-US" sz="1250" dirty="0"/>
          </a:p>
        </p:txBody>
      </p:sp>
      <p:sp>
        <p:nvSpPr>
          <p:cNvPr id="20" name="Text 18"/>
          <p:cNvSpPr txBox="1"/>
          <p:nvPr/>
        </p:nvSpPr>
        <p:spPr>
          <a:xfrm>
            <a:off x="704088" y="4041648"/>
            <a:ext cx="3383280" cy="338328"/>
          </a:xfrm>
          <a:prstGeom prst="rect">
            <a:avLst/>
          </a:prstGeom>
          <a:noFill/>
          <a:ln/>
        </p:spPr>
        <p:txBody>
          <a:bodyPr wrap="square" lIns="0" tIns="0" rIns="0" bIns="0" rtlCol="0" anchor="t"/>
          <a:lstStyle/>
          <a:p>
            <a:pPr marL="0" indent="0" algn="l">
              <a:buNone/>
            </a:pPr>
            <a:r>
              <a:rPr lang="en-US" sz="1000" dirty="0">
                <a:solidFill>
                  <a:srgbClr val="4B5B63"/>
                </a:solidFill>
                <a:latin typeface="Yu Gothic" pitchFamily="34" charset="0"/>
                <a:ea typeface="Yu Gothic" pitchFamily="34" charset="-122"/>
                <a:cs typeface="Yu Gothic" pitchFamily="34" charset="-120"/>
              </a:rPr>
              <a:t>3本指＝全体評価、1本指＝局所評価（狭窄が疑われる）</a:t>
            </a:r>
            <a:endParaRPr lang="en-US" sz="1000" dirty="0"/>
          </a:p>
        </p:txBody>
      </p:sp>
      <p:sp>
        <p:nvSpPr>
          <p:cNvPr id="21" name="Shape 19"/>
          <p:cNvSpPr/>
          <p:nvPr/>
        </p:nvSpPr>
        <p:spPr>
          <a:xfrm>
            <a:off x="502920" y="4572000"/>
            <a:ext cx="3794760" cy="960120"/>
          </a:xfrm>
          <a:prstGeom prst="roundRect">
            <a:avLst>
              <a:gd name="adj" fmla="val 9524"/>
            </a:avLst>
          </a:prstGeom>
          <a:solidFill>
            <a:srgbClr val="EEF5F3"/>
          </a:solidFill>
          <a:ln/>
        </p:spPr>
        <p:txBody>
          <a:bodyPr/>
          <a:lstStyle/>
          <a:p>
            <a:endParaRPr lang="ja-JP" altLang="en-US"/>
          </a:p>
        </p:txBody>
      </p:sp>
      <p:sp>
        <p:nvSpPr>
          <p:cNvPr id="22" name="Shape 20"/>
          <p:cNvSpPr/>
          <p:nvPr/>
        </p:nvSpPr>
        <p:spPr>
          <a:xfrm>
            <a:off x="704088" y="4754880"/>
            <a:ext cx="347472" cy="347472"/>
          </a:xfrm>
          <a:prstGeom prst="ellipse">
            <a:avLst/>
          </a:prstGeom>
          <a:solidFill>
            <a:srgbClr val="33475B"/>
          </a:solidFill>
          <a:ln/>
        </p:spPr>
        <p:txBody>
          <a:bodyPr/>
          <a:lstStyle/>
          <a:p>
            <a:endParaRPr lang="ja-JP" altLang="en-US"/>
          </a:p>
        </p:txBody>
      </p:sp>
      <p:sp>
        <p:nvSpPr>
          <p:cNvPr id="23" name="Text 21"/>
          <p:cNvSpPr txBox="1"/>
          <p:nvPr/>
        </p:nvSpPr>
        <p:spPr>
          <a:xfrm>
            <a:off x="704088" y="475488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4" name="Text 22"/>
          <p:cNvSpPr txBox="1"/>
          <p:nvPr/>
        </p:nvSpPr>
        <p:spPr>
          <a:xfrm>
            <a:off x="1161288" y="4700016"/>
            <a:ext cx="2926080" cy="32004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血管の硬さ・反発力</a:t>
            </a:r>
            <a:endParaRPr lang="en-US" sz="1250" dirty="0"/>
          </a:p>
        </p:txBody>
      </p:sp>
      <p:sp>
        <p:nvSpPr>
          <p:cNvPr id="25" name="Text 23"/>
          <p:cNvSpPr txBox="1"/>
          <p:nvPr/>
        </p:nvSpPr>
        <p:spPr>
          <a:xfrm>
            <a:off x="704088" y="5138928"/>
            <a:ext cx="3383280" cy="338328"/>
          </a:xfrm>
          <a:prstGeom prst="rect">
            <a:avLst/>
          </a:prstGeom>
          <a:noFill/>
          <a:ln/>
        </p:spPr>
        <p:txBody>
          <a:bodyPr wrap="square" lIns="0" tIns="0" rIns="0" bIns="0" rtlCol="0" anchor="t"/>
          <a:lstStyle/>
          <a:p>
            <a:pPr marL="0" indent="0" algn="l">
              <a:buNone/>
            </a:pPr>
            <a:r>
              <a:rPr lang="en-US" sz="1000" dirty="0">
                <a:solidFill>
                  <a:srgbClr val="4B5B63"/>
                </a:solidFill>
                <a:latin typeface="Yu Gothic" pitchFamily="34" charset="0"/>
                <a:ea typeface="Yu Gothic" pitchFamily="34" charset="-122"/>
                <a:cs typeface="Yu Gothic" pitchFamily="34" charset="-120"/>
              </a:rPr>
              <a:t>押し込んだ時の血管の硬さや反発力を確認する</a:t>
            </a:r>
            <a:endParaRPr lang="en-US" sz="1000" dirty="0"/>
          </a:p>
        </p:txBody>
      </p:sp>
      <p:sp>
        <p:nvSpPr>
          <p:cNvPr id="26" name="Shape 24"/>
          <p:cNvSpPr/>
          <p:nvPr/>
        </p:nvSpPr>
        <p:spPr>
          <a:xfrm>
            <a:off x="502920" y="5669280"/>
            <a:ext cx="3794760" cy="960120"/>
          </a:xfrm>
          <a:prstGeom prst="roundRect">
            <a:avLst>
              <a:gd name="adj" fmla="val 9524"/>
            </a:avLst>
          </a:prstGeom>
          <a:solidFill>
            <a:srgbClr val="EEF5F3"/>
          </a:solidFill>
          <a:ln/>
        </p:spPr>
        <p:txBody>
          <a:bodyPr/>
          <a:lstStyle/>
          <a:p>
            <a:endParaRPr lang="ja-JP" altLang="en-US"/>
          </a:p>
        </p:txBody>
      </p:sp>
      <p:sp>
        <p:nvSpPr>
          <p:cNvPr id="27" name="Shape 25"/>
          <p:cNvSpPr/>
          <p:nvPr/>
        </p:nvSpPr>
        <p:spPr>
          <a:xfrm>
            <a:off x="704088" y="5852160"/>
            <a:ext cx="347472" cy="347472"/>
          </a:xfrm>
          <a:prstGeom prst="ellipse">
            <a:avLst/>
          </a:prstGeom>
          <a:solidFill>
            <a:srgbClr val="33475B"/>
          </a:solidFill>
          <a:ln/>
        </p:spPr>
        <p:txBody>
          <a:bodyPr/>
          <a:lstStyle/>
          <a:p>
            <a:endParaRPr lang="ja-JP" altLang="en-US"/>
          </a:p>
        </p:txBody>
      </p:sp>
      <p:sp>
        <p:nvSpPr>
          <p:cNvPr id="28" name="Text 26"/>
          <p:cNvSpPr txBox="1"/>
          <p:nvPr/>
        </p:nvSpPr>
        <p:spPr>
          <a:xfrm>
            <a:off x="704088" y="58521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29" name="Text 27"/>
          <p:cNvSpPr txBox="1"/>
          <p:nvPr/>
        </p:nvSpPr>
        <p:spPr>
          <a:xfrm>
            <a:off x="1161288" y="5797296"/>
            <a:ext cx="2926080" cy="32004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血管の虚脱状態</a:t>
            </a:r>
            <a:endParaRPr lang="en-US" sz="1250" dirty="0"/>
          </a:p>
        </p:txBody>
      </p:sp>
      <p:sp>
        <p:nvSpPr>
          <p:cNvPr id="30" name="Text 28"/>
          <p:cNvSpPr txBox="1"/>
          <p:nvPr/>
        </p:nvSpPr>
        <p:spPr>
          <a:xfrm>
            <a:off x="704088" y="6236208"/>
            <a:ext cx="3383280" cy="338328"/>
          </a:xfrm>
          <a:prstGeom prst="rect">
            <a:avLst/>
          </a:prstGeom>
          <a:noFill/>
          <a:ln/>
        </p:spPr>
        <p:txBody>
          <a:bodyPr wrap="square" lIns="0" tIns="0" rIns="0" bIns="0" rtlCol="0" anchor="t"/>
          <a:lstStyle/>
          <a:p>
            <a:pPr marL="0" indent="0" algn="l">
              <a:buNone/>
            </a:pPr>
            <a:r>
              <a:rPr lang="en-US" sz="1000" dirty="0">
                <a:solidFill>
                  <a:srgbClr val="4B5B63"/>
                </a:solidFill>
                <a:latin typeface="Yu Gothic" pitchFamily="34" charset="0"/>
                <a:ea typeface="Yu Gothic" pitchFamily="34" charset="-122"/>
                <a:cs typeface="Yu Gothic" pitchFamily="34" charset="-120"/>
              </a:rPr>
              <a:t>血管がつぶれていないか（虚脱）を確認する</a:t>
            </a:r>
            <a:endParaRPr lang="en-US" sz="1000" dirty="0"/>
          </a:p>
        </p:txBody>
      </p:sp>
      <p:sp>
        <p:nvSpPr>
          <p:cNvPr id="31" name="Shape 29"/>
          <p:cNvSpPr/>
          <p:nvPr/>
        </p:nvSpPr>
        <p:spPr>
          <a:xfrm>
            <a:off x="4480560" y="2377440"/>
            <a:ext cx="7178040" cy="598932"/>
          </a:xfrm>
          <a:prstGeom prst="roundRect">
            <a:avLst>
              <a:gd name="adj" fmla="val 9160"/>
            </a:avLst>
          </a:prstGeom>
          <a:solidFill>
            <a:srgbClr val="EEF5F3"/>
          </a:solidFill>
          <a:ln/>
        </p:spPr>
        <p:txBody>
          <a:bodyPr/>
          <a:lstStyle/>
          <a:p>
            <a:endParaRPr lang="ja-JP" altLang="en-US"/>
          </a:p>
        </p:txBody>
      </p:sp>
      <p:sp>
        <p:nvSpPr>
          <p:cNvPr id="32" name="Text 30"/>
          <p:cNvSpPr txBox="1"/>
          <p:nvPr/>
        </p:nvSpPr>
        <p:spPr>
          <a:xfrm>
            <a:off x="4709160" y="2377440"/>
            <a:ext cx="3158338" cy="598932"/>
          </a:xfrm>
          <a:prstGeom prst="rect">
            <a:avLst/>
          </a:prstGeom>
          <a:noFill/>
          <a:ln/>
        </p:spPr>
        <p:txBody>
          <a:bodyPr wrap="square" lIns="0" tIns="0" rIns="0" bIns="0" rtlCol="0" anchor="ctr"/>
          <a:lstStyle/>
          <a:p>
            <a:pPr marL="0" indent="0" algn="l">
              <a:buNone/>
            </a:pPr>
            <a:r>
              <a:rPr lang="en-US" sz="1150" b="1" dirty="0">
                <a:solidFill>
                  <a:srgbClr val="1F2933"/>
                </a:solidFill>
                <a:latin typeface="Yu Gothic" pitchFamily="34" charset="0"/>
                <a:ea typeface="Yu Gothic" pitchFamily="34" charset="-122"/>
                <a:cs typeface="Yu Gothic" pitchFamily="34" charset="-120"/>
              </a:rPr>
              <a:t>拍動性（断続的）に触知</a:t>
            </a:r>
            <a:endParaRPr lang="en-US" sz="1150" dirty="0"/>
          </a:p>
        </p:txBody>
      </p:sp>
      <p:sp>
        <p:nvSpPr>
          <p:cNvPr id="33" name="Text 31"/>
          <p:cNvSpPr txBox="1"/>
          <p:nvPr/>
        </p:nvSpPr>
        <p:spPr>
          <a:xfrm>
            <a:off x="7730338" y="2377440"/>
            <a:ext cx="274320" cy="598932"/>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34" name="Text 32"/>
          <p:cNvSpPr txBox="1"/>
          <p:nvPr/>
        </p:nvSpPr>
        <p:spPr>
          <a:xfrm>
            <a:off x="8050378" y="2377440"/>
            <a:ext cx="3379622" cy="598932"/>
          </a:xfrm>
          <a:prstGeom prst="rect">
            <a:avLst/>
          </a:prstGeom>
          <a:noFill/>
          <a:ln/>
        </p:spPr>
        <p:txBody>
          <a:bodyPr wrap="square" lIns="0" tIns="0" rIns="0" bIns="0" rtlCol="0" anchor="ctr"/>
          <a:lstStyle/>
          <a:p>
            <a:pPr marL="0" indent="0" algn="l">
              <a:buNone/>
            </a:pPr>
            <a:r>
              <a:rPr lang="en-US" sz="1100" b="1" dirty="0">
                <a:solidFill>
                  <a:srgbClr val="1F6F5C"/>
                </a:solidFill>
                <a:latin typeface="Yu Gothic" pitchFamily="34" charset="0"/>
                <a:ea typeface="Yu Gothic" pitchFamily="34" charset="-122"/>
                <a:cs typeface="Yu Gothic" pitchFamily="34" charset="-120"/>
              </a:rPr>
              <a:t>中枢側の狭窄・閉塞を疑う</a:t>
            </a:r>
            <a:endParaRPr lang="en-US" sz="1100" dirty="0"/>
          </a:p>
        </p:txBody>
      </p:sp>
      <p:sp>
        <p:nvSpPr>
          <p:cNvPr id="35" name="Shape 33"/>
          <p:cNvSpPr/>
          <p:nvPr/>
        </p:nvSpPr>
        <p:spPr>
          <a:xfrm>
            <a:off x="4480560" y="3086100"/>
            <a:ext cx="7178040" cy="598932"/>
          </a:xfrm>
          <a:prstGeom prst="roundRect">
            <a:avLst>
              <a:gd name="adj" fmla="val 9160"/>
            </a:avLst>
          </a:prstGeom>
          <a:solidFill>
            <a:srgbClr val="EEF5F3"/>
          </a:solidFill>
          <a:ln/>
        </p:spPr>
        <p:txBody>
          <a:bodyPr/>
          <a:lstStyle/>
          <a:p>
            <a:endParaRPr lang="ja-JP" altLang="en-US"/>
          </a:p>
        </p:txBody>
      </p:sp>
      <p:sp>
        <p:nvSpPr>
          <p:cNvPr id="36" name="Text 34"/>
          <p:cNvSpPr txBox="1"/>
          <p:nvPr/>
        </p:nvSpPr>
        <p:spPr>
          <a:xfrm>
            <a:off x="4709160" y="3086100"/>
            <a:ext cx="3158338" cy="598932"/>
          </a:xfrm>
          <a:prstGeom prst="rect">
            <a:avLst/>
          </a:prstGeom>
          <a:noFill/>
          <a:ln/>
        </p:spPr>
        <p:txBody>
          <a:bodyPr wrap="square" lIns="0" tIns="0" rIns="0" bIns="0" rtlCol="0" anchor="ctr"/>
          <a:lstStyle/>
          <a:p>
            <a:pPr marL="0" indent="0" algn="l">
              <a:buNone/>
            </a:pPr>
            <a:r>
              <a:rPr lang="en-US" sz="1150" b="1" dirty="0">
                <a:solidFill>
                  <a:srgbClr val="1F2933"/>
                </a:solidFill>
                <a:latin typeface="Yu Gothic" pitchFamily="34" charset="0"/>
                <a:ea typeface="Yu Gothic" pitchFamily="34" charset="-122"/>
                <a:cs typeface="Yu Gothic" pitchFamily="34" charset="-120"/>
              </a:rPr>
              <a:t>局所のスリルを触知</a:t>
            </a:r>
            <a:endParaRPr lang="en-US" sz="1150" dirty="0"/>
          </a:p>
        </p:txBody>
      </p:sp>
      <p:sp>
        <p:nvSpPr>
          <p:cNvPr id="37" name="Text 35"/>
          <p:cNvSpPr txBox="1"/>
          <p:nvPr/>
        </p:nvSpPr>
        <p:spPr>
          <a:xfrm>
            <a:off x="7730338" y="3086100"/>
            <a:ext cx="274320" cy="598932"/>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38" name="Text 36"/>
          <p:cNvSpPr txBox="1"/>
          <p:nvPr/>
        </p:nvSpPr>
        <p:spPr>
          <a:xfrm>
            <a:off x="8050378" y="3086100"/>
            <a:ext cx="3379622" cy="598932"/>
          </a:xfrm>
          <a:prstGeom prst="rect">
            <a:avLst/>
          </a:prstGeom>
          <a:noFill/>
          <a:ln/>
        </p:spPr>
        <p:txBody>
          <a:bodyPr wrap="square" lIns="0" tIns="0" rIns="0" bIns="0" rtlCol="0" anchor="ctr"/>
          <a:lstStyle/>
          <a:p>
            <a:pPr marL="0" indent="0" algn="l">
              <a:buNone/>
            </a:pPr>
            <a:r>
              <a:rPr lang="en-US" sz="1100" b="1" dirty="0">
                <a:solidFill>
                  <a:srgbClr val="1F6F5C"/>
                </a:solidFill>
                <a:latin typeface="Yu Gothic" pitchFamily="34" charset="0"/>
                <a:ea typeface="Yu Gothic" pitchFamily="34" charset="-122"/>
                <a:cs typeface="Yu Gothic" pitchFamily="34" charset="-120"/>
              </a:rPr>
              <a:t>その近傍の狭窄を疑う</a:t>
            </a:r>
            <a:endParaRPr lang="en-US" sz="1100" dirty="0"/>
          </a:p>
        </p:txBody>
      </p:sp>
      <p:sp>
        <p:nvSpPr>
          <p:cNvPr id="39" name="Shape 37"/>
          <p:cNvSpPr/>
          <p:nvPr/>
        </p:nvSpPr>
        <p:spPr>
          <a:xfrm>
            <a:off x="4480560" y="3794760"/>
            <a:ext cx="7178040" cy="598932"/>
          </a:xfrm>
          <a:prstGeom prst="roundRect">
            <a:avLst>
              <a:gd name="adj" fmla="val 9160"/>
            </a:avLst>
          </a:prstGeom>
          <a:solidFill>
            <a:srgbClr val="EEF5F3"/>
          </a:solidFill>
          <a:ln/>
        </p:spPr>
        <p:txBody>
          <a:bodyPr/>
          <a:lstStyle/>
          <a:p>
            <a:endParaRPr lang="ja-JP" altLang="en-US"/>
          </a:p>
        </p:txBody>
      </p:sp>
      <p:sp>
        <p:nvSpPr>
          <p:cNvPr id="40" name="Text 38"/>
          <p:cNvSpPr txBox="1"/>
          <p:nvPr/>
        </p:nvSpPr>
        <p:spPr>
          <a:xfrm>
            <a:off x="4709160" y="3794760"/>
            <a:ext cx="3158338" cy="598932"/>
          </a:xfrm>
          <a:prstGeom prst="rect">
            <a:avLst/>
          </a:prstGeom>
          <a:noFill/>
          <a:ln/>
        </p:spPr>
        <p:txBody>
          <a:bodyPr wrap="square" lIns="0" tIns="0" rIns="0" bIns="0" rtlCol="0" anchor="ctr"/>
          <a:lstStyle/>
          <a:p>
            <a:pPr marL="0" indent="0" algn="l">
              <a:buNone/>
            </a:pPr>
            <a:r>
              <a:rPr lang="en-US" sz="1150" b="1" dirty="0">
                <a:solidFill>
                  <a:srgbClr val="1F2933"/>
                </a:solidFill>
                <a:latin typeface="Yu Gothic" pitchFamily="34" charset="0"/>
                <a:ea typeface="Yu Gothic" pitchFamily="34" charset="-122"/>
                <a:cs typeface="Yu Gothic" pitchFamily="34" charset="-120"/>
              </a:rPr>
              <a:t>スリルの減弱・血管の虚脱</a:t>
            </a:r>
            <a:endParaRPr lang="en-US" sz="1150" dirty="0"/>
          </a:p>
        </p:txBody>
      </p:sp>
      <p:sp>
        <p:nvSpPr>
          <p:cNvPr id="41" name="Text 39"/>
          <p:cNvSpPr txBox="1"/>
          <p:nvPr/>
        </p:nvSpPr>
        <p:spPr>
          <a:xfrm>
            <a:off x="7730338" y="3794760"/>
            <a:ext cx="274320" cy="598932"/>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42" name="Text 40"/>
          <p:cNvSpPr txBox="1"/>
          <p:nvPr/>
        </p:nvSpPr>
        <p:spPr>
          <a:xfrm>
            <a:off x="8050378" y="3794760"/>
            <a:ext cx="3379622" cy="598932"/>
          </a:xfrm>
          <a:prstGeom prst="rect">
            <a:avLst/>
          </a:prstGeom>
          <a:noFill/>
          <a:ln/>
        </p:spPr>
        <p:txBody>
          <a:bodyPr wrap="square" lIns="0" tIns="0" rIns="0" bIns="0" rtlCol="0" anchor="ctr"/>
          <a:lstStyle/>
          <a:p>
            <a:pPr marL="0" indent="0" algn="l">
              <a:buNone/>
            </a:pPr>
            <a:r>
              <a:rPr lang="en-US" sz="1100" b="1" dirty="0">
                <a:solidFill>
                  <a:srgbClr val="1F6F5C"/>
                </a:solidFill>
                <a:latin typeface="Yu Gothic" pitchFamily="34" charset="0"/>
                <a:ea typeface="Yu Gothic" pitchFamily="34" charset="-122"/>
                <a:cs typeface="Yu Gothic" pitchFamily="34" charset="-120"/>
              </a:rPr>
              <a:t>末梢側の狭窄・閉塞を疑う</a:t>
            </a:r>
            <a:endParaRPr lang="en-US" sz="1100" dirty="0"/>
          </a:p>
        </p:txBody>
      </p:sp>
      <p:sp>
        <p:nvSpPr>
          <p:cNvPr id="43" name="Shape 41"/>
          <p:cNvSpPr/>
          <p:nvPr/>
        </p:nvSpPr>
        <p:spPr>
          <a:xfrm>
            <a:off x="4480560" y="4503420"/>
            <a:ext cx="7178040" cy="598932"/>
          </a:xfrm>
          <a:prstGeom prst="roundRect">
            <a:avLst>
              <a:gd name="adj" fmla="val 9160"/>
            </a:avLst>
          </a:prstGeom>
          <a:solidFill>
            <a:srgbClr val="EEF5F3"/>
          </a:solidFill>
          <a:ln/>
        </p:spPr>
        <p:txBody>
          <a:bodyPr/>
          <a:lstStyle/>
          <a:p>
            <a:endParaRPr lang="ja-JP" altLang="en-US"/>
          </a:p>
        </p:txBody>
      </p:sp>
      <p:sp>
        <p:nvSpPr>
          <p:cNvPr id="44" name="Text 42"/>
          <p:cNvSpPr txBox="1"/>
          <p:nvPr/>
        </p:nvSpPr>
        <p:spPr>
          <a:xfrm>
            <a:off x="4709160" y="4503420"/>
            <a:ext cx="3158338" cy="598932"/>
          </a:xfrm>
          <a:prstGeom prst="rect">
            <a:avLst/>
          </a:prstGeom>
          <a:noFill/>
          <a:ln/>
        </p:spPr>
        <p:txBody>
          <a:bodyPr wrap="square" lIns="0" tIns="0" rIns="0" bIns="0" rtlCol="0" anchor="ctr"/>
          <a:lstStyle/>
          <a:p>
            <a:pPr marL="0" indent="0" algn="l">
              <a:buNone/>
            </a:pPr>
            <a:r>
              <a:rPr lang="en-US" sz="1150" b="1" dirty="0">
                <a:solidFill>
                  <a:srgbClr val="1F2933"/>
                </a:solidFill>
                <a:latin typeface="Yu Gothic" pitchFamily="34" charset="0"/>
                <a:ea typeface="Yu Gothic" pitchFamily="34" charset="-122"/>
                <a:cs typeface="Yu Gothic" pitchFamily="34" charset="-120"/>
              </a:rPr>
              <a:t>血管そのものが硬い</a:t>
            </a:r>
            <a:endParaRPr lang="en-US" sz="1150" dirty="0"/>
          </a:p>
        </p:txBody>
      </p:sp>
      <p:sp>
        <p:nvSpPr>
          <p:cNvPr id="45" name="Text 43"/>
          <p:cNvSpPr txBox="1"/>
          <p:nvPr/>
        </p:nvSpPr>
        <p:spPr>
          <a:xfrm>
            <a:off x="7730338" y="4503420"/>
            <a:ext cx="274320" cy="598932"/>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46" name="Text 44"/>
          <p:cNvSpPr txBox="1"/>
          <p:nvPr/>
        </p:nvSpPr>
        <p:spPr>
          <a:xfrm>
            <a:off x="8050378" y="4503420"/>
            <a:ext cx="3379622" cy="598932"/>
          </a:xfrm>
          <a:prstGeom prst="rect">
            <a:avLst/>
          </a:prstGeom>
          <a:noFill/>
          <a:ln/>
        </p:spPr>
        <p:txBody>
          <a:bodyPr wrap="square" lIns="0" tIns="0" rIns="0" bIns="0" rtlCol="0" anchor="ctr"/>
          <a:lstStyle/>
          <a:p>
            <a:pPr marL="0" indent="0" algn="l">
              <a:buNone/>
            </a:pPr>
            <a:r>
              <a:rPr lang="en-US" sz="1100" b="1" dirty="0">
                <a:solidFill>
                  <a:srgbClr val="1F6F5C"/>
                </a:solidFill>
                <a:latin typeface="Yu Gothic" pitchFamily="34" charset="0"/>
                <a:ea typeface="Yu Gothic" pitchFamily="34" charset="-122"/>
                <a:cs typeface="Yu Gothic" pitchFamily="34" charset="-120"/>
              </a:rPr>
              <a:t>血栓形成・石灰化沈着・壁在血栓など</a:t>
            </a:r>
            <a:endParaRPr lang="en-US" sz="1100" dirty="0"/>
          </a:p>
        </p:txBody>
      </p:sp>
      <p:sp>
        <p:nvSpPr>
          <p:cNvPr id="47" name="Shape 45"/>
          <p:cNvSpPr/>
          <p:nvPr/>
        </p:nvSpPr>
        <p:spPr>
          <a:xfrm>
            <a:off x="4480560" y="5212080"/>
            <a:ext cx="7178040" cy="598932"/>
          </a:xfrm>
          <a:prstGeom prst="roundRect">
            <a:avLst>
              <a:gd name="adj" fmla="val 9160"/>
            </a:avLst>
          </a:prstGeom>
          <a:solidFill>
            <a:srgbClr val="EEF5F3"/>
          </a:solidFill>
          <a:ln/>
        </p:spPr>
        <p:txBody>
          <a:bodyPr/>
          <a:lstStyle/>
          <a:p>
            <a:endParaRPr lang="ja-JP" altLang="en-US"/>
          </a:p>
        </p:txBody>
      </p:sp>
      <p:sp>
        <p:nvSpPr>
          <p:cNvPr id="48" name="Text 46"/>
          <p:cNvSpPr txBox="1"/>
          <p:nvPr/>
        </p:nvSpPr>
        <p:spPr>
          <a:xfrm>
            <a:off x="4709160" y="5212080"/>
            <a:ext cx="3158338" cy="598932"/>
          </a:xfrm>
          <a:prstGeom prst="rect">
            <a:avLst/>
          </a:prstGeom>
          <a:noFill/>
          <a:ln/>
        </p:spPr>
        <p:txBody>
          <a:bodyPr wrap="square" lIns="0" tIns="0" rIns="0" bIns="0" rtlCol="0" anchor="ctr"/>
          <a:lstStyle/>
          <a:p>
            <a:pPr marL="0" indent="0" algn="l">
              <a:buNone/>
            </a:pPr>
            <a:r>
              <a:rPr lang="en-US" sz="1150" b="1" dirty="0">
                <a:solidFill>
                  <a:srgbClr val="1F2933"/>
                </a:solidFill>
                <a:latin typeface="Yu Gothic" pitchFamily="34" charset="0"/>
                <a:ea typeface="Yu Gothic" pitchFamily="34" charset="-122"/>
                <a:cs typeface="Yu Gothic" pitchFamily="34" charset="-120"/>
              </a:rPr>
              <a:t>瘤が拍動性に触知</a:t>
            </a:r>
            <a:endParaRPr lang="en-US" sz="1150" dirty="0"/>
          </a:p>
        </p:txBody>
      </p:sp>
      <p:sp>
        <p:nvSpPr>
          <p:cNvPr id="49" name="Text 47"/>
          <p:cNvSpPr txBox="1"/>
          <p:nvPr/>
        </p:nvSpPr>
        <p:spPr>
          <a:xfrm>
            <a:off x="7730338" y="5212080"/>
            <a:ext cx="274320" cy="598932"/>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50" name="Text 48"/>
          <p:cNvSpPr txBox="1"/>
          <p:nvPr/>
        </p:nvSpPr>
        <p:spPr>
          <a:xfrm>
            <a:off x="8050378" y="5212080"/>
            <a:ext cx="3379622" cy="598932"/>
          </a:xfrm>
          <a:prstGeom prst="rect">
            <a:avLst/>
          </a:prstGeom>
          <a:noFill/>
          <a:ln/>
        </p:spPr>
        <p:txBody>
          <a:bodyPr wrap="square" lIns="0" tIns="0" rIns="0" bIns="0" rtlCol="0" anchor="ctr"/>
          <a:lstStyle/>
          <a:p>
            <a:pPr marL="0" indent="0" algn="l">
              <a:buNone/>
            </a:pPr>
            <a:r>
              <a:rPr lang="en-US" sz="1100" b="1" dirty="0">
                <a:solidFill>
                  <a:srgbClr val="1F6F5C"/>
                </a:solidFill>
                <a:latin typeface="Yu Gothic" pitchFamily="34" charset="0"/>
                <a:ea typeface="Yu Gothic" pitchFamily="34" charset="-122"/>
                <a:cs typeface="Yu Gothic" pitchFamily="34" charset="-120"/>
              </a:rPr>
              <a:t>瘤の中枢側に責任病変の疑い</a:t>
            </a:r>
            <a:endParaRPr lang="en-US" sz="1100" dirty="0"/>
          </a:p>
        </p:txBody>
      </p:sp>
      <p:sp>
        <p:nvSpPr>
          <p:cNvPr id="51" name="Shape 49"/>
          <p:cNvSpPr/>
          <p:nvPr/>
        </p:nvSpPr>
        <p:spPr>
          <a:xfrm>
            <a:off x="4480560" y="5920740"/>
            <a:ext cx="7178040" cy="598932"/>
          </a:xfrm>
          <a:prstGeom prst="roundRect">
            <a:avLst>
              <a:gd name="adj" fmla="val 9160"/>
            </a:avLst>
          </a:prstGeom>
          <a:solidFill>
            <a:srgbClr val="EEF5F3"/>
          </a:solidFill>
          <a:ln/>
        </p:spPr>
        <p:txBody>
          <a:bodyPr/>
          <a:lstStyle/>
          <a:p>
            <a:endParaRPr lang="ja-JP" altLang="en-US"/>
          </a:p>
        </p:txBody>
      </p:sp>
      <p:sp>
        <p:nvSpPr>
          <p:cNvPr id="52" name="Text 50"/>
          <p:cNvSpPr txBox="1"/>
          <p:nvPr/>
        </p:nvSpPr>
        <p:spPr>
          <a:xfrm>
            <a:off x="4709160" y="5920740"/>
            <a:ext cx="3158338" cy="598932"/>
          </a:xfrm>
          <a:prstGeom prst="rect">
            <a:avLst/>
          </a:prstGeom>
          <a:noFill/>
          <a:ln/>
        </p:spPr>
        <p:txBody>
          <a:bodyPr wrap="square" lIns="0" tIns="0" rIns="0" bIns="0" rtlCol="0" anchor="ctr"/>
          <a:lstStyle/>
          <a:p>
            <a:pPr marL="0" indent="0" algn="l">
              <a:buNone/>
            </a:pPr>
            <a:r>
              <a:rPr lang="en-US" sz="1150" b="1" dirty="0">
                <a:solidFill>
                  <a:srgbClr val="1F2933"/>
                </a:solidFill>
                <a:latin typeface="Yu Gothic" pitchFamily="34" charset="0"/>
                <a:ea typeface="Yu Gothic" pitchFamily="34" charset="-122"/>
                <a:cs typeface="Yu Gothic" pitchFamily="34" charset="-120"/>
              </a:rPr>
              <a:t>血管が硬い／スリル・拍動が消失</a:t>
            </a:r>
            <a:endParaRPr lang="en-US" sz="1150" dirty="0"/>
          </a:p>
        </p:txBody>
      </p:sp>
      <p:sp>
        <p:nvSpPr>
          <p:cNvPr id="53" name="Text 51"/>
          <p:cNvSpPr txBox="1"/>
          <p:nvPr/>
        </p:nvSpPr>
        <p:spPr>
          <a:xfrm>
            <a:off x="7730338" y="5920740"/>
            <a:ext cx="274320" cy="598932"/>
          </a:xfrm>
          <a:prstGeom prst="rect">
            <a:avLst/>
          </a:prstGeom>
          <a:noFill/>
          <a:ln/>
        </p:spPr>
        <p:txBody>
          <a:bodyPr wrap="square" lIns="0" tIns="0" rIns="0" bIns="0" rtlCol="0" anchor="ctr"/>
          <a:lstStyle/>
          <a:p>
            <a:pPr marL="0" indent="0" algn="ctr">
              <a:buNone/>
            </a:pPr>
            <a:r>
              <a:rPr lang="en-US" sz="1200" dirty="0">
                <a:solidFill>
                  <a:srgbClr val="4B5B63"/>
                </a:solidFill>
                <a:latin typeface="Yu Gothic" pitchFamily="34" charset="0"/>
                <a:ea typeface="Yu Gothic" pitchFamily="34" charset="-122"/>
                <a:cs typeface="Yu Gothic" pitchFamily="34" charset="-120"/>
              </a:rPr>
              <a:t>→</a:t>
            </a:r>
            <a:endParaRPr lang="en-US" sz="1200" dirty="0"/>
          </a:p>
        </p:txBody>
      </p:sp>
      <p:sp>
        <p:nvSpPr>
          <p:cNvPr id="54" name="Text 52"/>
          <p:cNvSpPr txBox="1"/>
          <p:nvPr/>
        </p:nvSpPr>
        <p:spPr>
          <a:xfrm>
            <a:off x="8050378" y="5920740"/>
            <a:ext cx="3379622" cy="598932"/>
          </a:xfrm>
          <a:prstGeom prst="rect">
            <a:avLst/>
          </a:prstGeom>
          <a:noFill/>
          <a:ln/>
        </p:spPr>
        <p:txBody>
          <a:bodyPr wrap="square" lIns="0" tIns="0" rIns="0" bIns="0" rtlCol="0" anchor="ctr"/>
          <a:lstStyle/>
          <a:p>
            <a:pPr marL="0" indent="0" algn="l">
              <a:buNone/>
            </a:pPr>
            <a:r>
              <a:rPr lang="en-US" sz="1100" b="1" dirty="0">
                <a:solidFill>
                  <a:srgbClr val="1F6F5C"/>
                </a:solidFill>
                <a:latin typeface="Yu Gothic" pitchFamily="34" charset="0"/>
                <a:ea typeface="Yu Gothic" pitchFamily="34" charset="-122"/>
                <a:cs typeface="Yu Gothic" pitchFamily="34" charset="-120"/>
              </a:rPr>
              <a:t>シャント閉塞が考えられる</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800" b="1" dirty="0">
                <a:solidFill>
                  <a:srgbClr val="1F2933"/>
                </a:solidFill>
                <a:latin typeface="Yu Gothic" pitchFamily="34" charset="0"/>
                <a:ea typeface="Yu Gothic" pitchFamily="34" charset="-122"/>
                <a:cs typeface="Yu Gothic" pitchFamily="34" charset="-120"/>
              </a:rPr>
              <a:t>身体所見③：聴診</a:t>
            </a:r>
            <a:endParaRPr lang="en-US" sz="28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シャント音の高低・大小・連続性から、血流と病変部位を推測する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身体所見</a:t>
            </a:r>
            <a:endParaRPr lang="en-US" sz="1100" dirty="0"/>
          </a:p>
        </p:txBody>
      </p:sp>
      <p:sp>
        <p:nvSpPr>
          <p:cNvPr id="6" name="Shape 4"/>
          <p:cNvSpPr/>
          <p:nvPr/>
        </p:nvSpPr>
        <p:spPr>
          <a:xfrm>
            <a:off x="502920" y="1600200"/>
            <a:ext cx="3794760" cy="502920"/>
          </a:xfrm>
          <a:prstGeom prst="roundRect">
            <a:avLst>
              <a:gd name="adj" fmla="val 14545"/>
            </a:avLst>
          </a:prstGeom>
          <a:solidFill>
            <a:srgbClr val="33475B"/>
          </a:solidFill>
          <a:ln/>
        </p:spPr>
        <p:txBody>
          <a:bodyPr/>
          <a:lstStyle/>
          <a:p>
            <a:endParaRPr lang="ja-JP" altLang="en-US"/>
          </a:p>
        </p:txBody>
      </p:sp>
      <p:sp>
        <p:nvSpPr>
          <p:cNvPr id="7" name="Text 5"/>
          <p:cNvSpPr txBox="1"/>
          <p:nvPr/>
        </p:nvSpPr>
        <p:spPr>
          <a:xfrm>
            <a:off x="777240" y="1600200"/>
            <a:ext cx="324612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観察方法</a:t>
            </a:r>
            <a:endParaRPr lang="en-US" sz="1600" dirty="0"/>
          </a:p>
        </p:txBody>
      </p:sp>
      <p:sp>
        <p:nvSpPr>
          <p:cNvPr id="8" name="Shape 6"/>
          <p:cNvSpPr/>
          <p:nvPr/>
        </p:nvSpPr>
        <p:spPr>
          <a:xfrm>
            <a:off x="4480560" y="1600200"/>
            <a:ext cx="7178040" cy="502920"/>
          </a:xfrm>
          <a:prstGeom prst="roundRect">
            <a:avLst>
              <a:gd name="adj" fmla="val 14545"/>
            </a:avLst>
          </a:prstGeom>
          <a:solidFill>
            <a:srgbClr val="5A7184"/>
          </a:solidFill>
          <a:ln/>
        </p:spPr>
        <p:txBody>
          <a:bodyPr/>
          <a:lstStyle/>
          <a:p>
            <a:endParaRPr lang="ja-JP" altLang="en-US"/>
          </a:p>
        </p:txBody>
      </p:sp>
      <p:sp>
        <p:nvSpPr>
          <p:cNvPr id="9" name="Text 7"/>
          <p:cNvSpPr txBox="1"/>
          <p:nvPr/>
        </p:nvSpPr>
        <p:spPr>
          <a:xfrm>
            <a:off x="4754880" y="1600200"/>
            <a:ext cx="6629400" cy="50292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疑うべき病態</a:t>
            </a:r>
            <a:endParaRPr lang="en-US" sz="1600" dirty="0"/>
          </a:p>
        </p:txBody>
      </p:sp>
      <p:sp>
        <p:nvSpPr>
          <p:cNvPr id="10" name="Text 8"/>
          <p:cNvSpPr txBox="1"/>
          <p:nvPr/>
        </p:nvSpPr>
        <p:spPr>
          <a:xfrm>
            <a:off x="4754880" y="1600200"/>
            <a:ext cx="6629400" cy="502920"/>
          </a:xfrm>
          <a:prstGeom prst="rect">
            <a:avLst/>
          </a:prstGeom>
          <a:noFill/>
          <a:ln/>
        </p:spPr>
        <p:txBody>
          <a:bodyPr wrap="square" lIns="635" tIns="635" rIns="635" bIns="635" rtlCol="0" anchor="ctr"/>
          <a:lstStyle/>
          <a:p>
            <a:pPr marL="0" indent="0" algn="r">
              <a:buNone/>
            </a:pPr>
            <a:r>
              <a:rPr lang="en-US" sz="1150" dirty="0">
                <a:solidFill>
                  <a:srgbClr val="E4E9EC"/>
                </a:solidFill>
                <a:latin typeface="Yu Gothic" pitchFamily="34" charset="0"/>
                <a:ea typeface="Yu Gothic" pitchFamily="34" charset="-122"/>
                <a:cs typeface="Yu Gothic" pitchFamily="34" charset="-120"/>
              </a:rPr>
              <a:t>所見 → 疑われる病態</a:t>
            </a:r>
            <a:endParaRPr lang="en-US" sz="1150" dirty="0"/>
          </a:p>
        </p:txBody>
      </p:sp>
      <p:sp>
        <p:nvSpPr>
          <p:cNvPr id="11" name="Shape 9"/>
          <p:cNvSpPr/>
          <p:nvPr/>
        </p:nvSpPr>
        <p:spPr>
          <a:xfrm>
            <a:off x="502920" y="2377440"/>
            <a:ext cx="3794760" cy="1051560"/>
          </a:xfrm>
          <a:prstGeom prst="roundRect">
            <a:avLst>
              <a:gd name="adj" fmla="val 8696"/>
            </a:avLst>
          </a:prstGeom>
          <a:solidFill>
            <a:srgbClr val="EEF5F3"/>
          </a:solidFill>
          <a:ln/>
        </p:spPr>
        <p:txBody>
          <a:bodyPr/>
          <a:lstStyle/>
          <a:p>
            <a:endParaRPr lang="ja-JP" altLang="en-US"/>
          </a:p>
        </p:txBody>
      </p:sp>
      <p:sp>
        <p:nvSpPr>
          <p:cNvPr id="12" name="Text 10"/>
          <p:cNvSpPr txBox="1"/>
          <p:nvPr/>
        </p:nvSpPr>
        <p:spPr>
          <a:xfrm>
            <a:off x="731520" y="2523744"/>
            <a:ext cx="3337560" cy="320040"/>
          </a:xfrm>
          <a:prstGeom prst="rect">
            <a:avLst/>
          </a:prstGeom>
          <a:noFill/>
          <a:ln/>
        </p:spPr>
        <p:txBody>
          <a:bodyPr wrap="square" lIns="0" tIns="0" rIns="0" bIns="0" rtlCol="0" anchor="ctr"/>
          <a:lstStyle/>
          <a:p>
            <a:pPr marL="0" indent="0" algn="l">
              <a:buNone/>
            </a:pPr>
            <a:r>
              <a:rPr lang="en-US" sz="1300" b="1" dirty="0">
                <a:solidFill>
                  <a:srgbClr val="1F2933"/>
                </a:solidFill>
                <a:latin typeface="Yu Gothic" pitchFamily="34" charset="0"/>
                <a:ea typeface="Yu Gothic" pitchFamily="34" charset="-122"/>
                <a:cs typeface="Yu Gothic" pitchFamily="34" charset="-120"/>
              </a:rPr>
              <a:t>聴診の方法</a:t>
            </a:r>
            <a:endParaRPr lang="en-US" sz="1300" dirty="0"/>
          </a:p>
        </p:txBody>
      </p:sp>
      <p:sp>
        <p:nvSpPr>
          <p:cNvPr id="13" name="Text 11"/>
          <p:cNvSpPr txBox="1"/>
          <p:nvPr/>
        </p:nvSpPr>
        <p:spPr>
          <a:xfrm>
            <a:off x="731520" y="2852928"/>
            <a:ext cx="3337560" cy="530352"/>
          </a:xfrm>
          <a:prstGeom prst="rect">
            <a:avLst/>
          </a:prstGeom>
          <a:noFill/>
          <a:ln/>
        </p:spPr>
        <p:txBody>
          <a:bodyPr wrap="square" lIns="0" tIns="0" rIns="0" bIns="0" rtlCol="0" anchor="t"/>
          <a:lstStyle/>
          <a:p>
            <a:pPr marL="0" indent="0" algn="l">
              <a:buNone/>
            </a:pPr>
            <a:r>
              <a:rPr lang="en-US" sz="1050" dirty="0">
                <a:solidFill>
                  <a:srgbClr val="4B5B63"/>
                </a:solidFill>
                <a:latin typeface="Yu Gothic" pitchFamily="34" charset="0"/>
                <a:ea typeface="Yu Gothic" pitchFamily="34" charset="-122"/>
                <a:cs typeface="Yu Gothic" pitchFamily="34" charset="-120"/>
              </a:rPr>
              <a:t>聴診器を用いて、シャント血管に沿ってシャント音の状態や変化を評価する</a:t>
            </a:r>
            <a:endParaRPr lang="en-US" sz="1050" dirty="0"/>
          </a:p>
        </p:txBody>
      </p:sp>
      <p:sp>
        <p:nvSpPr>
          <p:cNvPr id="14" name="Text 12"/>
          <p:cNvSpPr txBox="1"/>
          <p:nvPr/>
        </p:nvSpPr>
        <p:spPr>
          <a:xfrm>
            <a:off x="502920" y="3611880"/>
            <a:ext cx="3794760" cy="292608"/>
          </a:xfrm>
          <a:prstGeom prst="rect">
            <a:avLst/>
          </a:prstGeom>
          <a:noFill/>
          <a:ln/>
        </p:spPr>
        <p:txBody>
          <a:bodyPr wrap="square" lIns="0" tIns="0" rIns="0" bIns="0" rtlCol="0" anchor="ctr"/>
          <a:lstStyle/>
          <a:p>
            <a:pPr marL="0" indent="0" algn="l">
              <a:buNone/>
            </a:pPr>
            <a:r>
              <a:rPr lang="en-US" sz="1200" b="1" dirty="0">
                <a:solidFill>
                  <a:srgbClr val="1F6F5C"/>
                </a:solidFill>
                <a:latin typeface="Yu Gothic" pitchFamily="34" charset="0"/>
                <a:ea typeface="Yu Gothic" pitchFamily="34" charset="-122"/>
                <a:cs typeface="Yu Gothic" pitchFamily="34" charset="-120"/>
              </a:rPr>
              <a:t>評価する3つのポイント</a:t>
            </a:r>
            <a:endParaRPr lang="en-US" sz="1200" dirty="0"/>
          </a:p>
        </p:txBody>
      </p:sp>
      <p:sp>
        <p:nvSpPr>
          <p:cNvPr id="15" name="Shape 13"/>
          <p:cNvSpPr/>
          <p:nvPr/>
        </p:nvSpPr>
        <p:spPr>
          <a:xfrm>
            <a:off x="502920" y="3977640"/>
            <a:ext cx="3794760" cy="777240"/>
          </a:xfrm>
          <a:prstGeom prst="roundRect">
            <a:avLst>
              <a:gd name="adj" fmla="val 9412"/>
            </a:avLst>
          </a:prstGeom>
          <a:solidFill>
            <a:srgbClr val="EEF5F3"/>
          </a:solidFill>
          <a:ln/>
        </p:spPr>
        <p:txBody>
          <a:bodyPr/>
          <a:lstStyle/>
          <a:p>
            <a:endParaRPr lang="ja-JP" altLang="en-US"/>
          </a:p>
        </p:txBody>
      </p:sp>
      <p:sp>
        <p:nvSpPr>
          <p:cNvPr id="16" name="Shape 14"/>
          <p:cNvSpPr/>
          <p:nvPr/>
        </p:nvSpPr>
        <p:spPr>
          <a:xfrm>
            <a:off x="685800" y="4210812"/>
            <a:ext cx="310896" cy="310896"/>
          </a:xfrm>
          <a:prstGeom prst="ellipse">
            <a:avLst/>
          </a:prstGeom>
          <a:solidFill>
            <a:srgbClr val="1F6F5C"/>
          </a:solidFill>
          <a:ln/>
        </p:spPr>
        <p:txBody>
          <a:bodyPr/>
          <a:lstStyle/>
          <a:p>
            <a:endParaRPr lang="ja-JP" altLang="en-US"/>
          </a:p>
        </p:txBody>
      </p:sp>
      <p:sp>
        <p:nvSpPr>
          <p:cNvPr id="17" name="Text 15"/>
          <p:cNvSpPr txBox="1"/>
          <p:nvPr/>
        </p:nvSpPr>
        <p:spPr>
          <a:xfrm>
            <a:off x="685800" y="42108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18" name="Text 16"/>
          <p:cNvSpPr txBox="1"/>
          <p:nvPr/>
        </p:nvSpPr>
        <p:spPr>
          <a:xfrm>
            <a:off x="1097280" y="4069080"/>
            <a:ext cx="297180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音の高低</a:t>
            </a:r>
            <a:endParaRPr lang="en-US" sz="1250" dirty="0"/>
          </a:p>
        </p:txBody>
      </p:sp>
      <p:sp>
        <p:nvSpPr>
          <p:cNvPr id="19" name="Text 17"/>
          <p:cNvSpPr txBox="1"/>
          <p:nvPr/>
        </p:nvSpPr>
        <p:spPr>
          <a:xfrm>
            <a:off x="1097280" y="4361688"/>
            <a:ext cx="2971800" cy="365760"/>
          </a:xfrm>
          <a:prstGeom prst="rect">
            <a:avLst/>
          </a:prstGeom>
          <a:noFill/>
          <a:ln/>
        </p:spPr>
        <p:txBody>
          <a:bodyPr wrap="square" lIns="0" tIns="0" rIns="0" bIns="0" rtlCol="0" anchor="t"/>
          <a:lstStyle/>
          <a:p>
            <a:pPr marL="0" indent="0" algn="l">
              <a:buNone/>
            </a:pPr>
            <a:r>
              <a:rPr lang="en-US" sz="950" dirty="0">
                <a:solidFill>
                  <a:srgbClr val="4B5B63"/>
                </a:solidFill>
                <a:latin typeface="Yu Gothic" pitchFamily="34" charset="0"/>
                <a:ea typeface="Yu Gothic" pitchFamily="34" charset="-122"/>
                <a:cs typeface="Yu Gothic" pitchFamily="34" charset="-120"/>
              </a:rPr>
              <a:t>高調音は狭窄を疑う手がかりになる</a:t>
            </a:r>
            <a:endParaRPr lang="en-US" sz="950" dirty="0"/>
          </a:p>
        </p:txBody>
      </p:sp>
      <p:sp>
        <p:nvSpPr>
          <p:cNvPr id="20" name="Shape 18"/>
          <p:cNvSpPr/>
          <p:nvPr/>
        </p:nvSpPr>
        <p:spPr>
          <a:xfrm>
            <a:off x="502920" y="4873752"/>
            <a:ext cx="3794760" cy="777240"/>
          </a:xfrm>
          <a:prstGeom prst="roundRect">
            <a:avLst>
              <a:gd name="adj" fmla="val 9412"/>
            </a:avLst>
          </a:prstGeom>
          <a:solidFill>
            <a:srgbClr val="EEF5F3"/>
          </a:solidFill>
          <a:ln/>
        </p:spPr>
        <p:txBody>
          <a:bodyPr/>
          <a:lstStyle/>
          <a:p>
            <a:endParaRPr lang="ja-JP" altLang="en-US"/>
          </a:p>
        </p:txBody>
      </p:sp>
      <p:sp>
        <p:nvSpPr>
          <p:cNvPr id="21" name="Shape 19"/>
          <p:cNvSpPr/>
          <p:nvPr/>
        </p:nvSpPr>
        <p:spPr>
          <a:xfrm>
            <a:off x="685800" y="5106924"/>
            <a:ext cx="310896" cy="310896"/>
          </a:xfrm>
          <a:prstGeom prst="ellipse">
            <a:avLst/>
          </a:prstGeom>
          <a:solidFill>
            <a:srgbClr val="1F6F5C"/>
          </a:solidFill>
          <a:ln/>
        </p:spPr>
        <p:txBody>
          <a:bodyPr/>
          <a:lstStyle/>
          <a:p>
            <a:endParaRPr lang="ja-JP" altLang="en-US"/>
          </a:p>
        </p:txBody>
      </p:sp>
      <p:sp>
        <p:nvSpPr>
          <p:cNvPr id="22" name="Text 20"/>
          <p:cNvSpPr txBox="1"/>
          <p:nvPr/>
        </p:nvSpPr>
        <p:spPr>
          <a:xfrm>
            <a:off x="685800" y="51069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3" name="Text 21"/>
          <p:cNvSpPr txBox="1"/>
          <p:nvPr/>
        </p:nvSpPr>
        <p:spPr>
          <a:xfrm>
            <a:off x="1097280" y="4965192"/>
            <a:ext cx="297180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音の大小</a:t>
            </a:r>
            <a:endParaRPr lang="en-US" sz="1250" dirty="0"/>
          </a:p>
        </p:txBody>
      </p:sp>
      <p:sp>
        <p:nvSpPr>
          <p:cNvPr id="24" name="Text 22"/>
          <p:cNvSpPr txBox="1"/>
          <p:nvPr/>
        </p:nvSpPr>
        <p:spPr>
          <a:xfrm>
            <a:off x="1097280" y="5257800"/>
            <a:ext cx="2971800" cy="365760"/>
          </a:xfrm>
          <a:prstGeom prst="rect">
            <a:avLst/>
          </a:prstGeom>
          <a:noFill/>
          <a:ln/>
        </p:spPr>
        <p:txBody>
          <a:bodyPr wrap="square" lIns="0" tIns="0" rIns="0" bIns="0" rtlCol="0" anchor="t"/>
          <a:lstStyle/>
          <a:p>
            <a:pPr marL="0" indent="0" algn="l">
              <a:buNone/>
            </a:pPr>
            <a:r>
              <a:rPr lang="en-US" sz="950" dirty="0">
                <a:solidFill>
                  <a:srgbClr val="4B5B63"/>
                </a:solidFill>
                <a:latin typeface="Yu Gothic" pitchFamily="34" charset="0"/>
                <a:ea typeface="Yu Gothic" pitchFamily="34" charset="-122"/>
                <a:cs typeface="Yu Gothic" pitchFamily="34" charset="-120"/>
              </a:rPr>
              <a:t>中枢側まで届く大きな音は過剰血流を疑う</a:t>
            </a:r>
            <a:endParaRPr lang="en-US" sz="950" dirty="0"/>
          </a:p>
        </p:txBody>
      </p:sp>
      <p:sp>
        <p:nvSpPr>
          <p:cNvPr id="25" name="Shape 23"/>
          <p:cNvSpPr/>
          <p:nvPr/>
        </p:nvSpPr>
        <p:spPr>
          <a:xfrm>
            <a:off x="502920" y="5769864"/>
            <a:ext cx="3794760" cy="777240"/>
          </a:xfrm>
          <a:prstGeom prst="roundRect">
            <a:avLst>
              <a:gd name="adj" fmla="val 9412"/>
            </a:avLst>
          </a:prstGeom>
          <a:solidFill>
            <a:srgbClr val="EEF5F3"/>
          </a:solidFill>
          <a:ln/>
        </p:spPr>
        <p:txBody>
          <a:bodyPr/>
          <a:lstStyle/>
          <a:p>
            <a:endParaRPr lang="ja-JP" altLang="en-US"/>
          </a:p>
        </p:txBody>
      </p:sp>
      <p:sp>
        <p:nvSpPr>
          <p:cNvPr id="26" name="Shape 24"/>
          <p:cNvSpPr/>
          <p:nvPr/>
        </p:nvSpPr>
        <p:spPr>
          <a:xfrm>
            <a:off x="685800" y="6003036"/>
            <a:ext cx="310896" cy="310896"/>
          </a:xfrm>
          <a:prstGeom prst="ellipse">
            <a:avLst/>
          </a:prstGeom>
          <a:solidFill>
            <a:srgbClr val="1F6F5C"/>
          </a:solidFill>
          <a:ln/>
        </p:spPr>
        <p:txBody>
          <a:bodyPr/>
          <a:lstStyle/>
          <a:p>
            <a:endParaRPr lang="ja-JP" altLang="en-US"/>
          </a:p>
        </p:txBody>
      </p:sp>
      <p:sp>
        <p:nvSpPr>
          <p:cNvPr id="27" name="Text 25"/>
          <p:cNvSpPr txBox="1"/>
          <p:nvPr/>
        </p:nvSpPr>
        <p:spPr>
          <a:xfrm>
            <a:off x="685800" y="60030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28" name="Text 26"/>
          <p:cNvSpPr txBox="1"/>
          <p:nvPr/>
        </p:nvSpPr>
        <p:spPr>
          <a:xfrm>
            <a:off x="1097280" y="5861304"/>
            <a:ext cx="2971800" cy="27432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音の連続性</a:t>
            </a:r>
            <a:endParaRPr lang="en-US" sz="1250" dirty="0"/>
          </a:p>
        </p:txBody>
      </p:sp>
      <p:sp>
        <p:nvSpPr>
          <p:cNvPr id="29" name="Text 27"/>
          <p:cNvSpPr txBox="1"/>
          <p:nvPr/>
        </p:nvSpPr>
        <p:spPr>
          <a:xfrm>
            <a:off x="1097280" y="6153912"/>
            <a:ext cx="2971800" cy="365760"/>
          </a:xfrm>
          <a:prstGeom prst="rect">
            <a:avLst/>
          </a:prstGeom>
          <a:noFill/>
          <a:ln/>
        </p:spPr>
        <p:txBody>
          <a:bodyPr wrap="square" lIns="0" tIns="0" rIns="0" bIns="0" rtlCol="0" anchor="t"/>
          <a:lstStyle/>
          <a:p>
            <a:pPr marL="0" indent="0" algn="l">
              <a:buNone/>
            </a:pPr>
            <a:r>
              <a:rPr lang="en-US" sz="950" dirty="0">
                <a:solidFill>
                  <a:srgbClr val="4B5B63"/>
                </a:solidFill>
                <a:latin typeface="Yu Gothic" pitchFamily="34" charset="0"/>
                <a:ea typeface="Yu Gothic" pitchFamily="34" charset="-122"/>
                <a:cs typeface="Yu Gothic" pitchFamily="34" charset="-120"/>
              </a:rPr>
              <a:t>拍動音（断続的）は中枢の狭窄・閉塞を疑う</a:t>
            </a:r>
            <a:endParaRPr lang="en-US" sz="950" dirty="0"/>
          </a:p>
        </p:txBody>
      </p:sp>
      <p:sp>
        <p:nvSpPr>
          <p:cNvPr id="30" name="Shape 28"/>
          <p:cNvSpPr/>
          <p:nvPr/>
        </p:nvSpPr>
        <p:spPr>
          <a:xfrm>
            <a:off x="4480560" y="2377440"/>
            <a:ext cx="7178040" cy="640080"/>
          </a:xfrm>
          <a:prstGeom prst="roundRect">
            <a:avLst>
              <a:gd name="adj" fmla="val 8571"/>
            </a:avLst>
          </a:prstGeom>
          <a:solidFill>
            <a:srgbClr val="EEF5F3"/>
          </a:solidFill>
          <a:ln/>
        </p:spPr>
        <p:txBody>
          <a:bodyPr/>
          <a:lstStyle/>
          <a:p>
            <a:endParaRPr lang="ja-JP" altLang="en-US"/>
          </a:p>
        </p:txBody>
      </p:sp>
      <p:sp>
        <p:nvSpPr>
          <p:cNvPr id="31" name="Text 29"/>
          <p:cNvSpPr txBox="1"/>
          <p:nvPr/>
        </p:nvSpPr>
        <p:spPr>
          <a:xfrm>
            <a:off x="4709160" y="2377440"/>
            <a:ext cx="2871216" cy="64008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高調音</a:t>
            </a:r>
            <a:endParaRPr lang="en-US" sz="1250" dirty="0"/>
          </a:p>
        </p:txBody>
      </p:sp>
      <p:sp>
        <p:nvSpPr>
          <p:cNvPr id="32" name="Text 30"/>
          <p:cNvSpPr txBox="1"/>
          <p:nvPr/>
        </p:nvSpPr>
        <p:spPr>
          <a:xfrm>
            <a:off x="7443216" y="2377440"/>
            <a:ext cx="274320" cy="640080"/>
          </a:xfrm>
          <a:prstGeom prst="rect">
            <a:avLst/>
          </a:prstGeom>
          <a:noFill/>
          <a:ln/>
        </p:spPr>
        <p:txBody>
          <a:bodyPr wrap="square" lIns="0" tIns="0" rIns="0" bIns="0" rtlCol="0" anchor="ctr"/>
          <a:lstStyle/>
          <a:p>
            <a:pPr marL="0" indent="0" algn="ctr">
              <a:buNone/>
            </a:pPr>
            <a:r>
              <a:rPr lang="en-US" sz="1300" dirty="0">
                <a:solidFill>
                  <a:srgbClr val="4B5B63"/>
                </a:solidFill>
                <a:latin typeface="Yu Gothic" pitchFamily="34" charset="0"/>
                <a:ea typeface="Yu Gothic" pitchFamily="34" charset="-122"/>
                <a:cs typeface="Yu Gothic" pitchFamily="34" charset="-120"/>
              </a:rPr>
              <a:t>→</a:t>
            </a:r>
            <a:endParaRPr lang="en-US" sz="1300" dirty="0"/>
          </a:p>
        </p:txBody>
      </p:sp>
      <p:sp>
        <p:nvSpPr>
          <p:cNvPr id="33" name="Text 31"/>
          <p:cNvSpPr txBox="1"/>
          <p:nvPr/>
        </p:nvSpPr>
        <p:spPr>
          <a:xfrm>
            <a:off x="7763256" y="2377440"/>
            <a:ext cx="3666744" cy="640080"/>
          </a:xfrm>
          <a:prstGeom prst="rect">
            <a:avLst/>
          </a:prstGeom>
          <a:noFill/>
          <a:ln/>
        </p:spPr>
        <p:txBody>
          <a:bodyPr wrap="square" lIns="0" tIns="0" rIns="0" bIns="0" rtlCol="0" anchor="ctr"/>
          <a:lstStyle/>
          <a:p>
            <a:pPr marL="0" indent="0" algn="l">
              <a:buNone/>
            </a:pPr>
            <a:r>
              <a:rPr lang="en-US" sz="1200" b="1" dirty="0">
                <a:solidFill>
                  <a:srgbClr val="1F6F5C"/>
                </a:solidFill>
                <a:latin typeface="Yu Gothic" pitchFamily="34" charset="0"/>
                <a:ea typeface="Yu Gothic" pitchFamily="34" charset="-122"/>
                <a:cs typeface="Yu Gothic" pitchFamily="34" charset="-120"/>
              </a:rPr>
              <a:t>その部位の狭窄病変を疑う</a:t>
            </a:r>
            <a:endParaRPr lang="en-US" sz="1200" dirty="0"/>
          </a:p>
        </p:txBody>
      </p:sp>
      <p:sp>
        <p:nvSpPr>
          <p:cNvPr id="34" name="Shape 32"/>
          <p:cNvSpPr/>
          <p:nvPr/>
        </p:nvSpPr>
        <p:spPr>
          <a:xfrm>
            <a:off x="4480560" y="3154680"/>
            <a:ext cx="7178040" cy="640080"/>
          </a:xfrm>
          <a:prstGeom prst="roundRect">
            <a:avLst>
              <a:gd name="adj" fmla="val 8571"/>
            </a:avLst>
          </a:prstGeom>
          <a:solidFill>
            <a:srgbClr val="EEF5F3"/>
          </a:solidFill>
          <a:ln/>
        </p:spPr>
        <p:txBody>
          <a:bodyPr/>
          <a:lstStyle/>
          <a:p>
            <a:endParaRPr lang="ja-JP" altLang="en-US"/>
          </a:p>
        </p:txBody>
      </p:sp>
      <p:sp>
        <p:nvSpPr>
          <p:cNvPr id="35" name="Text 33"/>
          <p:cNvSpPr txBox="1"/>
          <p:nvPr/>
        </p:nvSpPr>
        <p:spPr>
          <a:xfrm>
            <a:off x="4709160" y="3154680"/>
            <a:ext cx="2871216" cy="64008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拍動音</a:t>
            </a:r>
            <a:endParaRPr lang="en-US" sz="1250" dirty="0"/>
          </a:p>
        </p:txBody>
      </p:sp>
      <p:sp>
        <p:nvSpPr>
          <p:cNvPr id="36" name="Text 34"/>
          <p:cNvSpPr txBox="1"/>
          <p:nvPr/>
        </p:nvSpPr>
        <p:spPr>
          <a:xfrm>
            <a:off x="7443216" y="3154680"/>
            <a:ext cx="274320" cy="640080"/>
          </a:xfrm>
          <a:prstGeom prst="rect">
            <a:avLst/>
          </a:prstGeom>
          <a:noFill/>
          <a:ln/>
        </p:spPr>
        <p:txBody>
          <a:bodyPr wrap="square" lIns="0" tIns="0" rIns="0" bIns="0" rtlCol="0" anchor="ctr"/>
          <a:lstStyle/>
          <a:p>
            <a:pPr marL="0" indent="0" algn="ctr">
              <a:buNone/>
            </a:pPr>
            <a:r>
              <a:rPr lang="en-US" sz="1300" dirty="0">
                <a:solidFill>
                  <a:srgbClr val="4B5B63"/>
                </a:solidFill>
                <a:latin typeface="Yu Gothic" pitchFamily="34" charset="0"/>
                <a:ea typeface="Yu Gothic" pitchFamily="34" charset="-122"/>
                <a:cs typeface="Yu Gothic" pitchFamily="34" charset="-120"/>
              </a:rPr>
              <a:t>→</a:t>
            </a:r>
            <a:endParaRPr lang="en-US" sz="1300" dirty="0"/>
          </a:p>
        </p:txBody>
      </p:sp>
      <p:sp>
        <p:nvSpPr>
          <p:cNvPr id="37" name="Text 35"/>
          <p:cNvSpPr txBox="1"/>
          <p:nvPr/>
        </p:nvSpPr>
        <p:spPr>
          <a:xfrm>
            <a:off x="7763256" y="3154680"/>
            <a:ext cx="3666744" cy="640080"/>
          </a:xfrm>
          <a:prstGeom prst="rect">
            <a:avLst/>
          </a:prstGeom>
          <a:noFill/>
          <a:ln/>
        </p:spPr>
        <p:txBody>
          <a:bodyPr wrap="square" lIns="0" tIns="0" rIns="0" bIns="0" rtlCol="0" anchor="ctr"/>
          <a:lstStyle/>
          <a:p>
            <a:pPr marL="0" indent="0" algn="l">
              <a:buNone/>
            </a:pPr>
            <a:r>
              <a:rPr lang="en-US" sz="1200" b="1" dirty="0">
                <a:solidFill>
                  <a:srgbClr val="1F6F5C"/>
                </a:solidFill>
                <a:latin typeface="Yu Gothic" pitchFamily="34" charset="0"/>
                <a:ea typeface="Yu Gothic" pitchFamily="34" charset="-122"/>
                <a:cs typeface="Yu Gothic" pitchFamily="34" charset="-120"/>
              </a:rPr>
              <a:t>中枢側の狭窄・閉塞病変を疑う</a:t>
            </a:r>
            <a:endParaRPr lang="en-US" sz="1200" dirty="0"/>
          </a:p>
        </p:txBody>
      </p:sp>
      <p:sp>
        <p:nvSpPr>
          <p:cNvPr id="38" name="Shape 36"/>
          <p:cNvSpPr/>
          <p:nvPr/>
        </p:nvSpPr>
        <p:spPr>
          <a:xfrm>
            <a:off x="4480560" y="3931920"/>
            <a:ext cx="7178040" cy="640080"/>
          </a:xfrm>
          <a:prstGeom prst="roundRect">
            <a:avLst>
              <a:gd name="adj" fmla="val 8571"/>
            </a:avLst>
          </a:prstGeom>
          <a:solidFill>
            <a:srgbClr val="EEF5F3"/>
          </a:solidFill>
          <a:ln/>
        </p:spPr>
        <p:txBody>
          <a:bodyPr/>
          <a:lstStyle/>
          <a:p>
            <a:endParaRPr lang="ja-JP" altLang="en-US"/>
          </a:p>
        </p:txBody>
      </p:sp>
      <p:sp>
        <p:nvSpPr>
          <p:cNvPr id="39" name="Text 37"/>
          <p:cNvSpPr txBox="1"/>
          <p:nvPr/>
        </p:nvSpPr>
        <p:spPr>
          <a:xfrm>
            <a:off x="4709160" y="3931920"/>
            <a:ext cx="2871216" cy="64008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中枢側まで届く大きな音</a:t>
            </a:r>
            <a:endParaRPr lang="en-US" sz="1250" dirty="0"/>
          </a:p>
        </p:txBody>
      </p:sp>
      <p:sp>
        <p:nvSpPr>
          <p:cNvPr id="40" name="Text 38"/>
          <p:cNvSpPr txBox="1"/>
          <p:nvPr/>
        </p:nvSpPr>
        <p:spPr>
          <a:xfrm>
            <a:off x="7443216" y="3931920"/>
            <a:ext cx="274320" cy="640080"/>
          </a:xfrm>
          <a:prstGeom prst="rect">
            <a:avLst/>
          </a:prstGeom>
          <a:noFill/>
          <a:ln/>
        </p:spPr>
        <p:txBody>
          <a:bodyPr wrap="square" lIns="0" tIns="0" rIns="0" bIns="0" rtlCol="0" anchor="ctr"/>
          <a:lstStyle/>
          <a:p>
            <a:pPr marL="0" indent="0" algn="ctr">
              <a:buNone/>
            </a:pPr>
            <a:r>
              <a:rPr lang="en-US" sz="1300" dirty="0">
                <a:solidFill>
                  <a:srgbClr val="4B5B63"/>
                </a:solidFill>
                <a:latin typeface="Yu Gothic" pitchFamily="34" charset="0"/>
                <a:ea typeface="Yu Gothic" pitchFamily="34" charset="-122"/>
                <a:cs typeface="Yu Gothic" pitchFamily="34" charset="-120"/>
              </a:rPr>
              <a:t>→</a:t>
            </a:r>
            <a:endParaRPr lang="en-US" sz="1300" dirty="0"/>
          </a:p>
        </p:txBody>
      </p:sp>
      <p:sp>
        <p:nvSpPr>
          <p:cNvPr id="41" name="Text 39"/>
          <p:cNvSpPr txBox="1"/>
          <p:nvPr/>
        </p:nvSpPr>
        <p:spPr>
          <a:xfrm>
            <a:off x="7763256" y="3931920"/>
            <a:ext cx="3666744" cy="640080"/>
          </a:xfrm>
          <a:prstGeom prst="rect">
            <a:avLst/>
          </a:prstGeom>
          <a:noFill/>
          <a:ln/>
        </p:spPr>
        <p:txBody>
          <a:bodyPr wrap="square" lIns="0" tIns="0" rIns="0" bIns="0" rtlCol="0" anchor="ctr"/>
          <a:lstStyle/>
          <a:p>
            <a:pPr marL="0" indent="0" algn="l">
              <a:buNone/>
            </a:pPr>
            <a:r>
              <a:rPr lang="en-US" sz="1200" b="1" dirty="0">
                <a:solidFill>
                  <a:srgbClr val="1F6F5C"/>
                </a:solidFill>
                <a:latin typeface="Yu Gothic" pitchFamily="34" charset="0"/>
                <a:ea typeface="Yu Gothic" pitchFamily="34" charset="-122"/>
                <a:cs typeface="Yu Gothic" pitchFamily="34" charset="-120"/>
              </a:rPr>
              <a:t>過剰血流</a:t>
            </a:r>
            <a:endParaRPr lang="en-US" sz="1200" dirty="0"/>
          </a:p>
        </p:txBody>
      </p:sp>
      <p:sp>
        <p:nvSpPr>
          <p:cNvPr id="42" name="Shape 40"/>
          <p:cNvSpPr/>
          <p:nvPr/>
        </p:nvSpPr>
        <p:spPr>
          <a:xfrm>
            <a:off x="4480560" y="4709160"/>
            <a:ext cx="7178040" cy="640080"/>
          </a:xfrm>
          <a:prstGeom prst="roundRect">
            <a:avLst>
              <a:gd name="adj" fmla="val 8571"/>
            </a:avLst>
          </a:prstGeom>
          <a:solidFill>
            <a:srgbClr val="EEF5F3"/>
          </a:solidFill>
          <a:ln/>
        </p:spPr>
        <p:txBody>
          <a:bodyPr/>
          <a:lstStyle/>
          <a:p>
            <a:endParaRPr lang="ja-JP" altLang="en-US"/>
          </a:p>
        </p:txBody>
      </p:sp>
      <p:sp>
        <p:nvSpPr>
          <p:cNvPr id="43" name="Text 41"/>
          <p:cNvSpPr txBox="1"/>
          <p:nvPr/>
        </p:nvSpPr>
        <p:spPr>
          <a:xfrm>
            <a:off x="4709160" y="4709160"/>
            <a:ext cx="2871216" cy="640080"/>
          </a:xfrm>
          <a:prstGeom prst="rect">
            <a:avLst/>
          </a:prstGeom>
          <a:noFill/>
          <a:ln/>
        </p:spPr>
        <p:txBody>
          <a:bodyPr wrap="square" lIns="0" tIns="0" rIns="0" bIns="0" rtlCol="0" anchor="ctr"/>
          <a:lstStyle/>
          <a:p>
            <a:pPr marL="0" indent="0" algn="l">
              <a:buNone/>
            </a:pPr>
            <a:r>
              <a:rPr lang="en-US" sz="1250" b="1" dirty="0">
                <a:solidFill>
                  <a:srgbClr val="1F2933"/>
                </a:solidFill>
                <a:latin typeface="Yu Gothic" pitchFamily="34" charset="0"/>
                <a:ea typeface="Yu Gothic" pitchFamily="34" charset="-122"/>
                <a:cs typeface="Yu Gothic" pitchFamily="34" charset="-120"/>
              </a:rPr>
              <a:t>微弱な音</a:t>
            </a:r>
            <a:endParaRPr lang="en-US" sz="1250" dirty="0"/>
          </a:p>
        </p:txBody>
      </p:sp>
      <p:sp>
        <p:nvSpPr>
          <p:cNvPr id="44" name="Text 42"/>
          <p:cNvSpPr txBox="1"/>
          <p:nvPr/>
        </p:nvSpPr>
        <p:spPr>
          <a:xfrm>
            <a:off x="7443216" y="4709160"/>
            <a:ext cx="274320" cy="640080"/>
          </a:xfrm>
          <a:prstGeom prst="rect">
            <a:avLst/>
          </a:prstGeom>
          <a:noFill/>
          <a:ln/>
        </p:spPr>
        <p:txBody>
          <a:bodyPr wrap="square" lIns="0" tIns="0" rIns="0" bIns="0" rtlCol="0" anchor="ctr"/>
          <a:lstStyle/>
          <a:p>
            <a:pPr marL="0" indent="0" algn="ctr">
              <a:buNone/>
            </a:pPr>
            <a:r>
              <a:rPr lang="en-US" sz="1300" dirty="0">
                <a:solidFill>
                  <a:srgbClr val="4B5B63"/>
                </a:solidFill>
                <a:latin typeface="Yu Gothic" pitchFamily="34" charset="0"/>
                <a:ea typeface="Yu Gothic" pitchFamily="34" charset="-122"/>
                <a:cs typeface="Yu Gothic" pitchFamily="34" charset="-120"/>
              </a:rPr>
              <a:t>→</a:t>
            </a:r>
            <a:endParaRPr lang="en-US" sz="1300" dirty="0"/>
          </a:p>
        </p:txBody>
      </p:sp>
      <p:sp>
        <p:nvSpPr>
          <p:cNvPr id="45" name="Text 43"/>
          <p:cNvSpPr txBox="1"/>
          <p:nvPr/>
        </p:nvSpPr>
        <p:spPr>
          <a:xfrm>
            <a:off x="7763256" y="4709160"/>
            <a:ext cx="3666744" cy="640080"/>
          </a:xfrm>
          <a:prstGeom prst="rect">
            <a:avLst/>
          </a:prstGeom>
          <a:noFill/>
          <a:ln/>
        </p:spPr>
        <p:txBody>
          <a:bodyPr wrap="square" lIns="0" tIns="0" rIns="0" bIns="0" rtlCol="0" anchor="ctr"/>
          <a:lstStyle/>
          <a:p>
            <a:pPr marL="0" indent="0" algn="l">
              <a:buNone/>
            </a:pPr>
            <a:r>
              <a:rPr lang="en-US" sz="1200" b="1" dirty="0">
                <a:solidFill>
                  <a:srgbClr val="1F6F5C"/>
                </a:solidFill>
                <a:latin typeface="Yu Gothic" pitchFamily="34" charset="0"/>
                <a:ea typeface="Yu Gothic" pitchFamily="34" charset="-122"/>
                <a:cs typeface="Yu Gothic" pitchFamily="34" charset="-120"/>
              </a:rPr>
              <a:t>低血圧／脱水／動脈硬化など</a:t>
            </a:r>
            <a:endParaRPr lang="en-US" sz="1200" dirty="0"/>
          </a:p>
        </p:txBody>
      </p:sp>
      <p:sp>
        <p:nvSpPr>
          <p:cNvPr id="46" name="Text 44"/>
          <p:cNvSpPr txBox="1"/>
          <p:nvPr/>
        </p:nvSpPr>
        <p:spPr>
          <a:xfrm>
            <a:off x="4480560" y="5532120"/>
            <a:ext cx="7178040" cy="457200"/>
          </a:xfrm>
          <a:prstGeom prst="rect">
            <a:avLst/>
          </a:prstGeom>
          <a:noFill/>
          <a:ln/>
        </p:spPr>
        <p:txBody>
          <a:bodyPr wrap="square" lIns="0" tIns="0" rIns="0" bIns="0" rtlCol="0" anchor="t"/>
          <a:lstStyle/>
          <a:p>
            <a:pPr marL="0" indent="0" algn="l">
              <a:buNone/>
            </a:pPr>
            <a:r>
              <a:rPr lang="en-US" sz="1000" i="1" dirty="0">
                <a:solidFill>
                  <a:srgbClr val="4B5B63"/>
                </a:solidFill>
                <a:latin typeface="Yu Gothic" pitchFamily="34" charset="0"/>
                <a:ea typeface="Yu Gothic" pitchFamily="34" charset="-122"/>
                <a:cs typeface="Yu Gothic" pitchFamily="34" charset="-120"/>
              </a:rPr>
              <a:t>※ 高調音が聴取される部位でも狭窄を認めない場合や、狭窄があっても高調音を聴取しない場合もある</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600" b="1" dirty="0">
                <a:solidFill>
                  <a:srgbClr val="1F2933"/>
                </a:solidFill>
                <a:latin typeface="Yu Gothic" pitchFamily="34" charset="0"/>
                <a:ea typeface="Yu Gothic" pitchFamily="34" charset="-122"/>
                <a:cs typeface="Yu Gothic" pitchFamily="34" charset="-120"/>
              </a:rPr>
              <a:t>シャントトラブル：脱血不良</a:t>
            </a:r>
            <a:endParaRPr lang="en-US" sz="26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定義と原因を理解する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透析時のトラブル</a:t>
            </a:r>
            <a:endParaRPr lang="en-US" sz="1100" dirty="0"/>
          </a:p>
        </p:txBody>
      </p:sp>
      <p:sp>
        <p:nvSpPr>
          <p:cNvPr id="6" name="Shape 4"/>
          <p:cNvSpPr/>
          <p:nvPr/>
        </p:nvSpPr>
        <p:spPr>
          <a:xfrm>
            <a:off x="502920" y="1600200"/>
            <a:ext cx="11155680" cy="1005840"/>
          </a:xfrm>
          <a:prstGeom prst="roundRect">
            <a:avLst>
              <a:gd name="adj" fmla="val 9091"/>
            </a:avLst>
          </a:prstGeom>
          <a:solidFill>
            <a:srgbClr val="EEF5F3"/>
          </a:solidFill>
          <a:ln/>
        </p:spPr>
        <p:txBody>
          <a:bodyPr/>
          <a:lstStyle/>
          <a:p>
            <a:endParaRPr lang="ja-JP" altLang="en-US"/>
          </a:p>
        </p:txBody>
      </p:sp>
      <p:sp>
        <p:nvSpPr>
          <p:cNvPr id="7" name="Shape 5"/>
          <p:cNvSpPr/>
          <p:nvPr/>
        </p:nvSpPr>
        <p:spPr>
          <a:xfrm>
            <a:off x="731520" y="1801368"/>
            <a:ext cx="1005840" cy="384048"/>
          </a:xfrm>
          <a:prstGeom prst="roundRect">
            <a:avLst>
              <a:gd name="adj" fmla="val 14286"/>
            </a:avLst>
          </a:prstGeom>
          <a:solidFill>
            <a:srgbClr val="33475B"/>
          </a:solidFill>
          <a:ln/>
        </p:spPr>
        <p:txBody>
          <a:bodyPr/>
          <a:lstStyle/>
          <a:p>
            <a:endParaRPr lang="ja-JP" altLang="en-US"/>
          </a:p>
        </p:txBody>
      </p:sp>
      <p:sp>
        <p:nvSpPr>
          <p:cNvPr id="8" name="Text 6"/>
          <p:cNvSpPr txBox="1"/>
          <p:nvPr/>
        </p:nvSpPr>
        <p:spPr>
          <a:xfrm>
            <a:off x="731520" y="1801368"/>
            <a:ext cx="10058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Yu Gothic" pitchFamily="34" charset="0"/>
                <a:ea typeface="Yu Gothic" pitchFamily="34" charset="-122"/>
                <a:cs typeface="Yu Gothic" pitchFamily="34" charset="-120"/>
              </a:rPr>
              <a:t>定義</a:t>
            </a:r>
            <a:endParaRPr lang="en-US" sz="1250" dirty="0"/>
          </a:p>
        </p:txBody>
      </p:sp>
      <p:sp>
        <p:nvSpPr>
          <p:cNvPr id="9" name="Text 7"/>
          <p:cNvSpPr txBox="1"/>
          <p:nvPr/>
        </p:nvSpPr>
        <p:spPr>
          <a:xfrm>
            <a:off x="1920240" y="1709928"/>
            <a:ext cx="9326880" cy="786384"/>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血液透析を行う上で、所定の血流量がVAから脱血できない状態。透析治療で最も多く遭遇する異常所見のひとつである。</a:t>
            </a:r>
            <a:endParaRPr lang="en-US" sz="1350" dirty="0"/>
          </a:p>
        </p:txBody>
      </p:sp>
      <p:sp>
        <p:nvSpPr>
          <p:cNvPr id="10" name="Shape 8"/>
          <p:cNvSpPr/>
          <p:nvPr/>
        </p:nvSpPr>
        <p:spPr>
          <a:xfrm>
            <a:off x="502920" y="2834640"/>
            <a:ext cx="11155680" cy="457200"/>
          </a:xfrm>
          <a:prstGeom prst="roundRect">
            <a:avLst>
              <a:gd name="adj" fmla="val 16000"/>
            </a:avLst>
          </a:prstGeom>
          <a:solidFill>
            <a:srgbClr val="5A7184"/>
          </a:solidFill>
          <a:ln/>
        </p:spPr>
        <p:txBody>
          <a:bodyPr/>
          <a:lstStyle/>
          <a:p>
            <a:endParaRPr lang="ja-JP" altLang="en-US"/>
          </a:p>
        </p:txBody>
      </p:sp>
      <p:sp>
        <p:nvSpPr>
          <p:cNvPr id="11" name="Text 9"/>
          <p:cNvSpPr txBox="1"/>
          <p:nvPr/>
        </p:nvSpPr>
        <p:spPr>
          <a:xfrm>
            <a:off x="777240" y="2834640"/>
            <a:ext cx="10607040" cy="457200"/>
          </a:xfrm>
          <a:prstGeom prst="rect">
            <a:avLst/>
          </a:prstGeom>
          <a:noFill/>
          <a:ln/>
        </p:spPr>
        <p:txBody>
          <a:bodyPr wrap="square" lIns="0" tIns="0" rIns="0" bIns="0" rtlCol="0" anchor="ctr"/>
          <a:lstStyle/>
          <a:p>
            <a:pPr marL="0" indent="0" algn="l">
              <a:buNone/>
            </a:pPr>
            <a:r>
              <a:rPr lang="en-US" sz="1500" b="1" dirty="0">
                <a:solidFill>
                  <a:srgbClr val="FFFFFF"/>
                </a:solidFill>
                <a:latin typeface="Yu Gothic" pitchFamily="34" charset="0"/>
                <a:ea typeface="Yu Gothic" pitchFamily="34" charset="-122"/>
                <a:cs typeface="Yu Gothic" pitchFamily="34" charset="-120"/>
              </a:rPr>
              <a:t>原因</a:t>
            </a:r>
            <a:endParaRPr lang="en-US" sz="1500" dirty="0"/>
          </a:p>
        </p:txBody>
      </p:sp>
      <p:sp>
        <p:nvSpPr>
          <p:cNvPr id="12" name="Shape 10"/>
          <p:cNvSpPr/>
          <p:nvPr/>
        </p:nvSpPr>
        <p:spPr>
          <a:xfrm>
            <a:off x="502920" y="3474720"/>
            <a:ext cx="11155680" cy="1489213"/>
          </a:xfrm>
          <a:prstGeom prst="roundRect">
            <a:avLst>
              <a:gd name="adj" fmla="val 4912"/>
            </a:avLst>
          </a:prstGeom>
          <a:solidFill>
            <a:srgbClr val="EEF5F3"/>
          </a:solidFill>
          <a:ln/>
        </p:spPr>
        <p:txBody>
          <a:bodyPr/>
          <a:lstStyle/>
          <a:p>
            <a:endParaRPr lang="ja-JP" altLang="en-US"/>
          </a:p>
        </p:txBody>
      </p:sp>
      <p:sp>
        <p:nvSpPr>
          <p:cNvPr id="13" name="Shape 11"/>
          <p:cNvSpPr/>
          <p:nvPr/>
        </p:nvSpPr>
        <p:spPr>
          <a:xfrm>
            <a:off x="704088" y="3639312"/>
            <a:ext cx="329184" cy="329184"/>
          </a:xfrm>
          <a:prstGeom prst="ellipse">
            <a:avLst/>
          </a:prstGeom>
          <a:solidFill>
            <a:srgbClr val="5A7184"/>
          </a:solidFill>
          <a:ln/>
        </p:spPr>
        <p:txBody>
          <a:bodyPr/>
          <a:lstStyle/>
          <a:p>
            <a:endParaRPr lang="ja-JP" altLang="en-US"/>
          </a:p>
        </p:txBody>
      </p:sp>
      <p:sp>
        <p:nvSpPr>
          <p:cNvPr id="14" name="Text 12"/>
          <p:cNvSpPr txBox="1"/>
          <p:nvPr/>
        </p:nvSpPr>
        <p:spPr>
          <a:xfrm>
            <a:off x="704088" y="36393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5" name="Text 13"/>
          <p:cNvSpPr txBox="1"/>
          <p:nvPr/>
        </p:nvSpPr>
        <p:spPr>
          <a:xfrm>
            <a:off x="1124712" y="3584448"/>
            <a:ext cx="10287000" cy="320040"/>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穿刺部位の血流量低下</a:t>
            </a:r>
            <a:endParaRPr lang="en-US" sz="1350" dirty="0"/>
          </a:p>
        </p:txBody>
      </p:sp>
      <p:sp>
        <p:nvSpPr>
          <p:cNvPr id="16" name="Text 14"/>
          <p:cNvSpPr txBox="1"/>
          <p:nvPr/>
        </p:nvSpPr>
        <p:spPr>
          <a:xfrm>
            <a:off x="1124712" y="3913632"/>
            <a:ext cx="10149840" cy="986293"/>
          </a:xfrm>
          <a:prstGeom prst="rect">
            <a:avLst/>
          </a:prstGeom>
          <a:noFill/>
          <a:ln/>
        </p:spPr>
        <p:txBody>
          <a:bodyPr wrap="square" lIns="0" tIns="0" rIns="0" bIns="0" rtlCol="0" anchor="t"/>
          <a:lstStyle/>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吻合部から脱血穿刺部位までの間の狭窄や閉塞</a:t>
            </a:r>
            <a:endParaRPr lang="en-US" sz="1050" dirty="0"/>
          </a:p>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脱血穿刺部位までに側副静脈があり、脱血部の血流が低下している場合</a:t>
            </a:r>
            <a:endParaRPr lang="en-US" sz="1050" dirty="0"/>
          </a:p>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流入動脈の狭窄や閉塞（吻合部より末梢側からのみ流れ込んでいる場合など）</a:t>
            </a:r>
            <a:endParaRPr lang="en-US" sz="1050" dirty="0"/>
          </a:p>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中枢動脈（腋窩動脈や鎖骨下動脈など）の狭窄や閉塞</a:t>
            </a:r>
            <a:endParaRPr lang="en-US" sz="1050" dirty="0"/>
          </a:p>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患者の全身状態の影響（脱水、低血圧、著明な心機能低下など）</a:t>
            </a:r>
            <a:endParaRPr lang="en-US" sz="1050" dirty="0"/>
          </a:p>
        </p:txBody>
      </p:sp>
      <p:sp>
        <p:nvSpPr>
          <p:cNvPr id="17" name="Shape 15"/>
          <p:cNvSpPr/>
          <p:nvPr/>
        </p:nvSpPr>
        <p:spPr>
          <a:xfrm>
            <a:off x="502920" y="5101093"/>
            <a:ext cx="11155680" cy="682156"/>
          </a:xfrm>
          <a:prstGeom prst="roundRect">
            <a:avLst>
              <a:gd name="adj" fmla="val 10724"/>
            </a:avLst>
          </a:prstGeom>
          <a:solidFill>
            <a:srgbClr val="EEF5F3"/>
          </a:solidFill>
          <a:ln/>
        </p:spPr>
        <p:txBody>
          <a:bodyPr/>
          <a:lstStyle/>
          <a:p>
            <a:endParaRPr lang="ja-JP" altLang="en-US"/>
          </a:p>
        </p:txBody>
      </p:sp>
      <p:sp>
        <p:nvSpPr>
          <p:cNvPr id="18" name="Shape 16"/>
          <p:cNvSpPr/>
          <p:nvPr/>
        </p:nvSpPr>
        <p:spPr>
          <a:xfrm>
            <a:off x="704088" y="5265685"/>
            <a:ext cx="329184" cy="329184"/>
          </a:xfrm>
          <a:prstGeom prst="ellipse">
            <a:avLst/>
          </a:prstGeom>
          <a:solidFill>
            <a:srgbClr val="5A7184"/>
          </a:solidFill>
          <a:ln/>
        </p:spPr>
        <p:txBody>
          <a:bodyPr/>
          <a:lstStyle/>
          <a:p>
            <a:endParaRPr lang="ja-JP" altLang="en-US"/>
          </a:p>
        </p:txBody>
      </p:sp>
      <p:sp>
        <p:nvSpPr>
          <p:cNvPr id="19" name="Text 17"/>
          <p:cNvSpPr txBox="1"/>
          <p:nvPr/>
        </p:nvSpPr>
        <p:spPr>
          <a:xfrm>
            <a:off x="704088" y="5265685"/>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20" name="Text 18"/>
          <p:cNvSpPr txBox="1"/>
          <p:nvPr/>
        </p:nvSpPr>
        <p:spPr>
          <a:xfrm>
            <a:off x="1124712" y="5210821"/>
            <a:ext cx="10287000" cy="320040"/>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穿刺針外套が正しく血管内に留置されていない</a:t>
            </a:r>
            <a:endParaRPr lang="en-US" sz="1350" dirty="0"/>
          </a:p>
        </p:txBody>
      </p:sp>
      <p:sp>
        <p:nvSpPr>
          <p:cNvPr id="21" name="Text 19"/>
          <p:cNvSpPr txBox="1"/>
          <p:nvPr/>
        </p:nvSpPr>
        <p:spPr>
          <a:xfrm>
            <a:off x="1124712" y="5540005"/>
            <a:ext cx="10149840" cy="179236"/>
          </a:xfrm>
          <a:prstGeom prst="rect">
            <a:avLst/>
          </a:prstGeom>
          <a:noFill/>
          <a:ln/>
        </p:spPr>
        <p:txBody>
          <a:bodyPr wrap="square" lIns="0" tIns="0" rIns="0" bIns="0" rtlCol="0" anchor="t"/>
          <a:lstStyle/>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狭窄部や血栓、血管壁、静脈弁などに穿刺針外套の先端が当たっている場合など</a:t>
            </a:r>
            <a:endParaRPr lang="en-US" sz="1050" dirty="0"/>
          </a:p>
        </p:txBody>
      </p:sp>
      <p:sp>
        <p:nvSpPr>
          <p:cNvPr id="22" name="Shape 20"/>
          <p:cNvSpPr/>
          <p:nvPr/>
        </p:nvSpPr>
        <p:spPr>
          <a:xfrm>
            <a:off x="502920" y="5920409"/>
            <a:ext cx="11155680" cy="480391"/>
          </a:xfrm>
          <a:prstGeom prst="roundRect">
            <a:avLst>
              <a:gd name="adj" fmla="val 15228"/>
            </a:avLst>
          </a:prstGeom>
          <a:solidFill>
            <a:srgbClr val="EEF5F3"/>
          </a:solidFill>
          <a:ln/>
        </p:spPr>
        <p:txBody>
          <a:bodyPr/>
          <a:lstStyle/>
          <a:p>
            <a:endParaRPr lang="ja-JP" altLang="en-US"/>
          </a:p>
        </p:txBody>
      </p:sp>
      <p:sp>
        <p:nvSpPr>
          <p:cNvPr id="23" name="Shape 21"/>
          <p:cNvSpPr/>
          <p:nvPr/>
        </p:nvSpPr>
        <p:spPr>
          <a:xfrm>
            <a:off x="704088" y="6085001"/>
            <a:ext cx="329184" cy="329184"/>
          </a:xfrm>
          <a:prstGeom prst="ellipse">
            <a:avLst/>
          </a:prstGeom>
          <a:solidFill>
            <a:srgbClr val="5A7184"/>
          </a:solidFill>
          <a:ln/>
        </p:spPr>
        <p:txBody>
          <a:bodyPr/>
          <a:lstStyle/>
          <a:p>
            <a:endParaRPr lang="ja-JP" altLang="en-US"/>
          </a:p>
        </p:txBody>
      </p:sp>
      <p:sp>
        <p:nvSpPr>
          <p:cNvPr id="24" name="Text 22"/>
          <p:cNvSpPr txBox="1"/>
          <p:nvPr/>
        </p:nvSpPr>
        <p:spPr>
          <a:xfrm>
            <a:off x="704088" y="6085001"/>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5" name="Text 23"/>
          <p:cNvSpPr txBox="1"/>
          <p:nvPr/>
        </p:nvSpPr>
        <p:spPr>
          <a:xfrm>
            <a:off x="1124712" y="6030137"/>
            <a:ext cx="10287000" cy="320040"/>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透析用血液回路内の異常</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97CB1-ACCB-6BD7-80A4-CD7D3C70341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6390E7-9E1D-E451-F6E7-4EADC4ACA7BA}"/>
              </a:ext>
            </a:extLst>
          </p:cNvPr>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600" b="1" dirty="0">
                <a:solidFill>
                  <a:srgbClr val="1F2933"/>
                </a:solidFill>
                <a:latin typeface="Yu Gothic" pitchFamily="34" charset="0"/>
                <a:ea typeface="Yu Gothic" pitchFamily="34" charset="-122"/>
                <a:cs typeface="Yu Gothic" pitchFamily="34" charset="-120"/>
              </a:rPr>
              <a:t>シャントトラブル：脱血不良</a:t>
            </a:r>
            <a:endParaRPr lang="en-US" sz="2600" dirty="0"/>
          </a:p>
        </p:txBody>
      </p:sp>
      <p:sp>
        <p:nvSpPr>
          <p:cNvPr id="3" name="Text 1">
            <a:extLst>
              <a:ext uri="{FF2B5EF4-FFF2-40B4-BE49-F238E27FC236}">
                <a16:creationId xmlns:a16="http://schemas.microsoft.com/office/drawing/2014/main" id="{3E047F6D-5F8F-33B4-3961-196184D79CE6}"/>
              </a:ext>
            </a:extLst>
          </p:cNvPr>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ja-JP" altLang="en-US" sz="2000" b="1" dirty="0"/>
              <a:t>各パターン</a:t>
            </a:r>
            <a:endParaRPr lang="en-US" sz="2000" b="1" dirty="0"/>
          </a:p>
        </p:txBody>
      </p:sp>
      <p:sp>
        <p:nvSpPr>
          <p:cNvPr id="4" name="Shape 2">
            <a:extLst>
              <a:ext uri="{FF2B5EF4-FFF2-40B4-BE49-F238E27FC236}">
                <a16:creationId xmlns:a16="http://schemas.microsoft.com/office/drawing/2014/main" id="{2BAE4254-5AF5-8201-447E-4B428D98F133}"/>
              </a:ext>
            </a:extLst>
          </p:cNvPr>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a:extLst>
              <a:ext uri="{FF2B5EF4-FFF2-40B4-BE49-F238E27FC236}">
                <a16:creationId xmlns:a16="http://schemas.microsoft.com/office/drawing/2014/main" id="{7A620644-5E01-B8B6-AF59-8B89263E6E6E}"/>
              </a:ext>
            </a:extLst>
          </p:cNvPr>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透析時のトラブル</a:t>
            </a:r>
            <a:endParaRPr lang="en-US" sz="1100" dirty="0"/>
          </a:p>
        </p:txBody>
      </p:sp>
      <p:pic>
        <p:nvPicPr>
          <p:cNvPr id="27" name="図 26">
            <a:extLst>
              <a:ext uri="{FF2B5EF4-FFF2-40B4-BE49-F238E27FC236}">
                <a16:creationId xmlns:a16="http://schemas.microsoft.com/office/drawing/2014/main" id="{B7545569-3CF5-27CE-0386-F8872418AEE4}"/>
              </a:ext>
            </a:extLst>
          </p:cNvPr>
          <p:cNvPicPr>
            <a:picLocks noChangeAspect="1"/>
          </p:cNvPicPr>
          <p:nvPr/>
        </p:nvPicPr>
        <p:blipFill>
          <a:blip r:embed="rId2"/>
          <a:stretch>
            <a:fillRect/>
          </a:stretch>
        </p:blipFill>
        <p:spPr>
          <a:xfrm>
            <a:off x="289249" y="1378130"/>
            <a:ext cx="3694153" cy="2349539"/>
          </a:xfrm>
          <a:prstGeom prst="rect">
            <a:avLst/>
          </a:prstGeom>
        </p:spPr>
      </p:pic>
      <p:pic>
        <p:nvPicPr>
          <p:cNvPr id="29" name="図 28">
            <a:extLst>
              <a:ext uri="{FF2B5EF4-FFF2-40B4-BE49-F238E27FC236}">
                <a16:creationId xmlns:a16="http://schemas.microsoft.com/office/drawing/2014/main" id="{6A5EC9EF-FEA8-46D8-20DB-35E3FE264036}"/>
              </a:ext>
            </a:extLst>
          </p:cNvPr>
          <p:cNvPicPr>
            <a:picLocks noChangeAspect="1"/>
          </p:cNvPicPr>
          <p:nvPr/>
        </p:nvPicPr>
        <p:blipFill>
          <a:blip r:embed="rId3"/>
          <a:stretch>
            <a:fillRect/>
          </a:stretch>
        </p:blipFill>
        <p:spPr>
          <a:xfrm>
            <a:off x="3837965" y="1554480"/>
            <a:ext cx="3439914" cy="2173189"/>
          </a:xfrm>
          <a:prstGeom prst="rect">
            <a:avLst/>
          </a:prstGeom>
        </p:spPr>
      </p:pic>
      <p:pic>
        <p:nvPicPr>
          <p:cNvPr id="31" name="図 30">
            <a:extLst>
              <a:ext uri="{FF2B5EF4-FFF2-40B4-BE49-F238E27FC236}">
                <a16:creationId xmlns:a16="http://schemas.microsoft.com/office/drawing/2014/main" id="{BA429E5C-5398-08D8-03AC-A649069D9157}"/>
              </a:ext>
            </a:extLst>
          </p:cNvPr>
          <p:cNvPicPr>
            <a:picLocks noChangeAspect="1"/>
          </p:cNvPicPr>
          <p:nvPr/>
        </p:nvPicPr>
        <p:blipFill>
          <a:blip r:embed="rId4"/>
          <a:stretch>
            <a:fillRect/>
          </a:stretch>
        </p:blipFill>
        <p:spPr>
          <a:xfrm>
            <a:off x="7406804" y="1782147"/>
            <a:ext cx="4309101" cy="1912323"/>
          </a:xfrm>
          <a:prstGeom prst="rect">
            <a:avLst/>
          </a:prstGeom>
        </p:spPr>
      </p:pic>
      <p:pic>
        <p:nvPicPr>
          <p:cNvPr id="33" name="図 32">
            <a:extLst>
              <a:ext uri="{FF2B5EF4-FFF2-40B4-BE49-F238E27FC236}">
                <a16:creationId xmlns:a16="http://schemas.microsoft.com/office/drawing/2014/main" id="{F07B13D1-F342-1A6F-9B58-95AEBF1B5BA0}"/>
              </a:ext>
            </a:extLst>
          </p:cNvPr>
          <p:cNvPicPr>
            <a:picLocks noChangeAspect="1"/>
          </p:cNvPicPr>
          <p:nvPr/>
        </p:nvPicPr>
        <p:blipFill>
          <a:blip r:embed="rId5"/>
          <a:stretch>
            <a:fillRect/>
          </a:stretch>
        </p:blipFill>
        <p:spPr>
          <a:xfrm>
            <a:off x="1752995" y="4171807"/>
            <a:ext cx="3495247" cy="2247980"/>
          </a:xfrm>
          <a:prstGeom prst="rect">
            <a:avLst/>
          </a:prstGeom>
        </p:spPr>
      </p:pic>
      <p:pic>
        <p:nvPicPr>
          <p:cNvPr id="35" name="図 34">
            <a:extLst>
              <a:ext uri="{FF2B5EF4-FFF2-40B4-BE49-F238E27FC236}">
                <a16:creationId xmlns:a16="http://schemas.microsoft.com/office/drawing/2014/main" id="{05612CAE-058A-EFC1-3932-E9CA1232FB67}"/>
              </a:ext>
            </a:extLst>
          </p:cNvPr>
          <p:cNvPicPr>
            <a:picLocks noChangeAspect="1"/>
          </p:cNvPicPr>
          <p:nvPr/>
        </p:nvPicPr>
        <p:blipFill>
          <a:blip r:embed="rId6"/>
          <a:stretch>
            <a:fillRect/>
          </a:stretch>
        </p:blipFill>
        <p:spPr>
          <a:xfrm>
            <a:off x="6288833" y="3873618"/>
            <a:ext cx="3495247" cy="2452407"/>
          </a:xfrm>
          <a:prstGeom prst="rect">
            <a:avLst/>
          </a:prstGeom>
        </p:spPr>
      </p:pic>
    </p:spTree>
    <p:extLst>
      <p:ext uri="{BB962C8B-B14F-4D97-AF65-F5344CB8AC3E}">
        <p14:creationId xmlns:p14="http://schemas.microsoft.com/office/powerpoint/2010/main" val="2522474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600" b="1" dirty="0">
                <a:solidFill>
                  <a:srgbClr val="1F2933"/>
                </a:solidFill>
                <a:latin typeface="Yu Gothic" pitchFamily="34" charset="0"/>
                <a:ea typeface="Yu Gothic" pitchFamily="34" charset="-122"/>
                <a:cs typeface="Yu Gothic" pitchFamily="34" charset="-120"/>
              </a:rPr>
              <a:t>シャントトラブル：静脈圧の上昇</a:t>
            </a:r>
            <a:endParaRPr lang="en-US" sz="26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定義と原因を理解する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透析時のトラブル</a:t>
            </a:r>
            <a:endParaRPr lang="en-US" sz="1100" dirty="0"/>
          </a:p>
        </p:txBody>
      </p:sp>
      <p:sp>
        <p:nvSpPr>
          <p:cNvPr id="6" name="Shape 4"/>
          <p:cNvSpPr/>
          <p:nvPr/>
        </p:nvSpPr>
        <p:spPr>
          <a:xfrm>
            <a:off x="502920" y="1600200"/>
            <a:ext cx="11155680" cy="1005840"/>
          </a:xfrm>
          <a:prstGeom prst="roundRect">
            <a:avLst>
              <a:gd name="adj" fmla="val 9091"/>
            </a:avLst>
          </a:prstGeom>
          <a:solidFill>
            <a:srgbClr val="EEF5F3"/>
          </a:solidFill>
          <a:ln/>
        </p:spPr>
        <p:txBody>
          <a:bodyPr/>
          <a:lstStyle/>
          <a:p>
            <a:endParaRPr lang="ja-JP" altLang="en-US"/>
          </a:p>
        </p:txBody>
      </p:sp>
      <p:sp>
        <p:nvSpPr>
          <p:cNvPr id="7" name="Shape 5"/>
          <p:cNvSpPr/>
          <p:nvPr/>
        </p:nvSpPr>
        <p:spPr>
          <a:xfrm>
            <a:off x="731520" y="1801368"/>
            <a:ext cx="1005840" cy="384048"/>
          </a:xfrm>
          <a:prstGeom prst="roundRect">
            <a:avLst>
              <a:gd name="adj" fmla="val 14286"/>
            </a:avLst>
          </a:prstGeom>
          <a:solidFill>
            <a:srgbClr val="33475B"/>
          </a:solidFill>
          <a:ln/>
        </p:spPr>
        <p:txBody>
          <a:bodyPr/>
          <a:lstStyle/>
          <a:p>
            <a:endParaRPr lang="ja-JP" altLang="en-US"/>
          </a:p>
        </p:txBody>
      </p:sp>
      <p:sp>
        <p:nvSpPr>
          <p:cNvPr id="8" name="Text 6"/>
          <p:cNvSpPr txBox="1"/>
          <p:nvPr/>
        </p:nvSpPr>
        <p:spPr>
          <a:xfrm>
            <a:off x="731520" y="1801368"/>
            <a:ext cx="10058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Yu Gothic" pitchFamily="34" charset="0"/>
                <a:ea typeface="Yu Gothic" pitchFamily="34" charset="-122"/>
                <a:cs typeface="Yu Gothic" pitchFamily="34" charset="-120"/>
              </a:rPr>
              <a:t>定義</a:t>
            </a:r>
            <a:endParaRPr lang="en-US" sz="1250" dirty="0"/>
          </a:p>
        </p:txBody>
      </p:sp>
      <p:sp>
        <p:nvSpPr>
          <p:cNvPr id="9" name="Text 7"/>
          <p:cNvSpPr txBox="1"/>
          <p:nvPr/>
        </p:nvSpPr>
        <p:spPr>
          <a:xfrm>
            <a:off x="1920240" y="1709928"/>
            <a:ext cx="9326880" cy="786384"/>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静脈圧（返血圧）とは、浄化された血液を体内に戻す際の返血部位の圧力のこと。静脈圧の上昇とは、返血部位の血管内圧が上昇することを示す。</a:t>
            </a:r>
            <a:endParaRPr lang="en-US" sz="1350" dirty="0"/>
          </a:p>
        </p:txBody>
      </p:sp>
      <p:sp>
        <p:nvSpPr>
          <p:cNvPr id="10" name="Shape 8"/>
          <p:cNvSpPr/>
          <p:nvPr/>
        </p:nvSpPr>
        <p:spPr>
          <a:xfrm>
            <a:off x="502920" y="2834640"/>
            <a:ext cx="11155680" cy="457200"/>
          </a:xfrm>
          <a:prstGeom prst="roundRect">
            <a:avLst>
              <a:gd name="adj" fmla="val 16000"/>
            </a:avLst>
          </a:prstGeom>
          <a:solidFill>
            <a:srgbClr val="5A7184"/>
          </a:solidFill>
          <a:ln/>
        </p:spPr>
        <p:txBody>
          <a:bodyPr/>
          <a:lstStyle/>
          <a:p>
            <a:endParaRPr lang="ja-JP" altLang="en-US"/>
          </a:p>
        </p:txBody>
      </p:sp>
      <p:sp>
        <p:nvSpPr>
          <p:cNvPr id="11" name="Text 9"/>
          <p:cNvSpPr txBox="1"/>
          <p:nvPr/>
        </p:nvSpPr>
        <p:spPr>
          <a:xfrm>
            <a:off x="777240" y="2834640"/>
            <a:ext cx="10607040" cy="457200"/>
          </a:xfrm>
          <a:prstGeom prst="rect">
            <a:avLst/>
          </a:prstGeom>
          <a:noFill/>
          <a:ln/>
        </p:spPr>
        <p:txBody>
          <a:bodyPr wrap="square" lIns="0" tIns="0" rIns="0" bIns="0" rtlCol="0" anchor="ctr"/>
          <a:lstStyle/>
          <a:p>
            <a:pPr marL="0" indent="0" algn="l">
              <a:buNone/>
            </a:pPr>
            <a:r>
              <a:rPr lang="en-US" sz="1500" b="1" dirty="0">
                <a:solidFill>
                  <a:srgbClr val="FFFFFF"/>
                </a:solidFill>
                <a:latin typeface="Yu Gothic" pitchFamily="34" charset="0"/>
                <a:ea typeface="Yu Gothic" pitchFamily="34" charset="-122"/>
                <a:cs typeface="Yu Gothic" pitchFamily="34" charset="-120"/>
              </a:rPr>
              <a:t>原因</a:t>
            </a:r>
            <a:endParaRPr lang="en-US" sz="1500" dirty="0"/>
          </a:p>
        </p:txBody>
      </p:sp>
      <p:sp>
        <p:nvSpPr>
          <p:cNvPr id="12" name="Shape 10"/>
          <p:cNvSpPr/>
          <p:nvPr/>
        </p:nvSpPr>
        <p:spPr>
          <a:xfrm>
            <a:off x="502920" y="3474720"/>
            <a:ext cx="11155680" cy="393192"/>
          </a:xfrm>
          <a:prstGeom prst="roundRect">
            <a:avLst>
              <a:gd name="adj" fmla="val 18605"/>
            </a:avLst>
          </a:prstGeom>
          <a:solidFill>
            <a:srgbClr val="EEF5F3"/>
          </a:solidFill>
          <a:ln/>
        </p:spPr>
        <p:txBody>
          <a:bodyPr/>
          <a:lstStyle/>
          <a:p>
            <a:endParaRPr lang="ja-JP" altLang="en-US"/>
          </a:p>
        </p:txBody>
      </p:sp>
      <p:sp>
        <p:nvSpPr>
          <p:cNvPr id="13" name="Shape 11"/>
          <p:cNvSpPr/>
          <p:nvPr/>
        </p:nvSpPr>
        <p:spPr>
          <a:xfrm>
            <a:off x="704088" y="3639312"/>
            <a:ext cx="329184" cy="329184"/>
          </a:xfrm>
          <a:prstGeom prst="ellipse">
            <a:avLst/>
          </a:prstGeom>
          <a:solidFill>
            <a:srgbClr val="5A7184"/>
          </a:solidFill>
          <a:ln/>
        </p:spPr>
        <p:txBody>
          <a:bodyPr/>
          <a:lstStyle/>
          <a:p>
            <a:endParaRPr lang="ja-JP" altLang="en-US"/>
          </a:p>
        </p:txBody>
      </p:sp>
      <p:sp>
        <p:nvSpPr>
          <p:cNvPr id="14" name="Text 12"/>
          <p:cNvSpPr txBox="1"/>
          <p:nvPr/>
        </p:nvSpPr>
        <p:spPr>
          <a:xfrm>
            <a:off x="704088" y="36393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5" name="Text 13"/>
          <p:cNvSpPr txBox="1"/>
          <p:nvPr/>
        </p:nvSpPr>
        <p:spPr>
          <a:xfrm>
            <a:off x="1124712" y="3474720"/>
            <a:ext cx="10287000" cy="393192"/>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返血穿刺部そのもの（針先の近傍）、もしくはそれよりも中枢側に存在する狭窄や閉塞</a:t>
            </a:r>
            <a:endParaRPr lang="en-US" sz="1350" dirty="0"/>
          </a:p>
        </p:txBody>
      </p:sp>
      <p:sp>
        <p:nvSpPr>
          <p:cNvPr id="16" name="Shape 14"/>
          <p:cNvSpPr/>
          <p:nvPr/>
        </p:nvSpPr>
        <p:spPr>
          <a:xfrm>
            <a:off x="502920" y="4005072"/>
            <a:ext cx="11155680" cy="393192"/>
          </a:xfrm>
          <a:prstGeom prst="roundRect">
            <a:avLst>
              <a:gd name="adj" fmla="val 18605"/>
            </a:avLst>
          </a:prstGeom>
          <a:solidFill>
            <a:srgbClr val="EEF5F3"/>
          </a:solidFill>
          <a:ln/>
        </p:spPr>
        <p:txBody>
          <a:bodyPr/>
          <a:lstStyle/>
          <a:p>
            <a:endParaRPr lang="ja-JP" altLang="en-US"/>
          </a:p>
        </p:txBody>
      </p:sp>
      <p:sp>
        <p:nvSpPr>
          <p:cNvPr id="17" name="Shape 15"/>
          <p:cNvSpPr/>
          <p:nvPr/>
        </p:nvSpPr>
        <p:spPr>
          <a:xfrm>
            <a:off x="704088" y="4169664"/>
            <a:ext cx="329184" cy="329184"/>
          </a:xfrm>
          <a:prstGeom prst="ellipse">
            <a:avLst/>
          </a:prstGeom>
          <a:solidFill>
            <a:srgbClr val="5A7184"/>
          </a:solidFill>
          <a:ln/>
        </p:spPr>
        <p:txBody>
          <a:bodyPr/>
          <a:lstStyle/>
          <a:p>
            <a:endParaRPr lang="ja-JP" altLang="en-US"/>
          </a:p>
        </p:txBody>
      </p:sp>
      <p:sp>
        <p:nvSpPr>
          <p:cNvPr id="18" name="Text 16"/>
          <p:cNvSpPr txBox="1"/>
          <p:nvPr/>
        </p:nvSpPr>
        <p:spPr>
          <a:xfrm>
            <a:off x="704088" y="41696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9" name="Text 17"/>
          <p:cNvSpPr txBox="1"/>
          <p:nvPr/>
        </p:nvSpPr>
        <p:spPr>
          <a:xfrm>
            <a:off x="1124712" y="4005072"/>
            <a:ext cx="10287000" cy="393192"/>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透析用血液回路内の異常</a:t>
            </a:r>
            <a:endParaRPr lang="en-US" sz="1350" dirty="0"/>
          </a:p>
        </p:txBody>
      </p:sp>
      <p:sp>
        <p:nvSpPr>
          <p:cNvPr id="20" name="Shape 18"/>
          <p:cNvSpPr/>
          <p:nvPr/>
        </p:nvSpPr>
        <p:spPr>
          <a:xfrm>
            <a:off x="502920" y="4535424"/>
            <a:ext cx="11155680" cy="393192"/>
          </a:xfrm>
          <a:prstGeom prst="roundRect">
            <a:avLst>
              <a:gd name="adj" fmla="val 18605"/>
            </a:avLst>
          </a:prstGeom>
          <a:solidFill>
            <a:srgbClr val="EEF5F3"/>
          </a:solidFill>
          <a:ln/>
        </p:spPr>
        <p:txBody>
          <a:bodyPr/>
          <a:lstStyle/>
          <a:p>
            <a:endParaRPr lang="ja-JP" altLang="en-US"/>
          </a:p>
        </p:txBody>
      </p:sp>
      <p:sp>
        <p:nvSpPr>
          <p:cNvPr id="21" name="Shape 19"/>
          <p:cNvSpPr/>
          <p:nvPr/>
        </p:nvSpPr>
        <p:spPr>
          <a:xfrm>
            <a:off x="704088" y="4700016"/>
            <a:ext cx="329184" cy="329184"/>
          </a:xfrm>
          <a:prstGeom prst="ellipse">
            <a:avLst/>
          </a:prstGeom>
          <a:solidFill>
            <a:srgbClr val="5A7184"/>
          </a:solidFill>
          <a:ln/>
        </p:spPr>
        <p:txBody>
          <a:bodyPr/>
          <a:lstStyle/>
          <a:p>
            <a:endParaRPr lang="ja-JP" altLang="en-US"/>
          </a:p>
        </p:txBody>
      </p:sp>
      <p:sp>
        <p:nvSpPr>
          <p:cNvPr id="22" name="Text 20"/>
          <p:cNvSpPr txBox="1"/>
          <p:nvPr/>
        </p:nvSpPr>
        <p:spPr>
          <a:xfrm>
            <a:off x="704088" y="47000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3" name="Text 21"/>
          <p:cNvSpPr txBox="1"/>
          <p:nvPr/>
        </p:nvSpPr>
        <p:spPr>
          <a:xfrm>
            <a:off x="1124712" y="4535424"/>
            <a:ext cx="10287000" cy="393192"/>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Qb（血流量）に比して返血の穿刺針のサイズが小さい場合</a:t>
            </a:r>
            <a:endParaRPr lang="en-US" sz="1350" dirty="0"/>
          </a:p>
        </p:txBody>
      </p:sp>
      <p:sp>
        <p:nvSpPr>
          <p:cNvPr id="24" name="Shape 22"/>
          <p:cNvSpPr/>
          <p:nvPr/>
        </p:nvSpPr>
        <p:spPr>
          <a:xfrm>
            <a:off x="502920" y="5065776"/>
            <a:ext cx="11155680" cy="393192"/>
          </a:xfrm>
          <a:prstGeom prst="roundRect">
            <a:avLst>
              <a:gd name="adj" fmla="val 18605"/>
            </a:avLst>
          </a:prstGeom>
          <a:solidFill>
            <a:srgbClr val="EEF5F3"/>
          </a:solidFill>
          <a:ln/>
        </p:spPr>
        <p:txBody>
          <a:bodyPr/>
          <a:lstStyle/>
          <a:p>
            <a:endParaRPr lang="ja-JP" altLang="en-US"/>
          </a:p>
        </p:txBody>
      </p:sp>
      <p:sp>
        <p:nvSpPr>
          <p:cNvPr id="25" name="Shape 23"/>
          <p:cNvSpPr/>
          <p:nvPr/>
        </p:nvSpPr>
        <p:spPr>
          <a:xfrm>
            <a:off x="704088" y="5230368"/>
            <a:ext cx="329184" cy="329184"/>
          </a:xfrm>
          <a:prstGeom prst="ellipse">
            <a:avLst/>
          </a:prstGeom>
          <a:solidFill>
            <a:srgbClr val="5A7184"/>
          </a:solidFill>
          <a:ln/>
        </p:spPr>
        <p:txBody>
          <a:bodyPr/>
          <a:lstStyle/>
          <a:p>
            <a:endParaRPr lang="ja-JP" altLang="en-US"/>
          </a:p>
        </p:txBody>
      </p:sp>
      <p:sp>
        <p:nvSpPr>
          <p:cNvPr id="26" name="Text 24"/>
          <p:cNvSpPr txBox="1"/>
          <p:nvPr/>
        </p:nvSpPr>
        <p:spPr>
          <a:xfrm>
            <a:off x="704088" y="523036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27" name="Text 25"/>
          <p:cNvSpPr txBox="1"/>
          <p:nvPr/>
        </p:nvSpPr>
        <p:spPr>
          <a:xfrm>
            <a:off x="1124712" y="5065776"/>
            <a:ext cx="10287000" cy="393192"/>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血管蛇行や隔壁、血管荒廃により、穿刺針外套の先端が血管壁に当たっている場合</a:t>
            </a:r>
            <a:endParaRPr lang="en-US" sz="1350" dirty="0"/>
          </a:p>
        </p:txBody>
      </p:sp>
      <p:sp>
        <p:nvSpPr>
          <p:cNvPr id="28" name="Shape 26"/>
          <p:cNvSpPr/>
          <p:nvPr/>
        </p:nvSpPr>
        <p:spPr>
          <a:xfrm>
            <a:off x="502920" y="5596128"/>
            <a:ext cx="11155680" cy="393192"/>
          </a:xfrm>
          <a:prstGeom prst="roundRect">
            <a:avLst>
              <a:gd name="adj" fmla="val 18605"/>
            </a:avLst>
          </a:prstGeom>
          <a:solidFill>
            <a:srgbClr val="EEF5F3"/>
          </a:solidFill>
          <a:ln/>
        </p:spPr>
        <p:txBody>
          <a:bodyPr/>
          <a:lstStyle/>
          <a:p>
            <a:endParaRPr lang="ja-JP" altLang="en-US"/>
          </a:p>
        </p:txBody>
      </p:sp>
      <p:sp>
        <p:nvSpPr>
          <p:cNvPr id="29" name="Shape 27"/>
          <p:cNvSpPr/>
          <p:nvPr/>
        </p:nvSpPr>
        <p:spPr>
          <a:xfrm>
            <a:off x="704088" y="5760720"/>
            <a:ext cx="329184" cy="329184"/>
          </a:xfrm>
          <a:prstGeom prst="ellipse">
            <a:avLst/>
          </a:prstGeom>
          <a:solidFill>
            <a:srgbClr val="5A7184"/>
          </a:solidFill>
          <a:ln/>
        </p:spPr>
        <p:txBody>
          <a:bodyPr/>
          <a:lstStyle/>
          <a:p>
            <a:endParaRPr lang="ja-JP" altLang="en-US"/>
          </a:p>
        </p:txBody>
      </p:sp>
      <p:sp>
        <p:nvSpPr>
          <p:cNvPr id="30" name="Text 28"/>
          <p:cNvSpPr txBox="1"/>
          <p:nvPr/>
        </p:nvSpPr>
        <p:spPr>
          <a:xfrm>
            <a:off x="704088" y="57607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5</a:t>
            </a:r>
            <a:endParaRPr lang="en-US" sz="1300" dirty="0"/>
          </a:p>
        </p:txBody>
      </p:sp>
      <p:sp>
        <p:nvSpPr>
          <p:cNvPr id="31" name="Text 29"/>
          <p:cNvSpPr txBox="1"/>
          <p:nvPr/>
        </p:nvSpPr>
        <p:spPr>
          <a:xfrm>
            <a:off x="1124712" y="5596128"/>
            <a:ext cx="10287000" cy="393192"/>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過剰血流によって相対的に血管内圧が上昇している場合</a:t>
            </a:r>
            <a:endParaRPr lang="en-US" sz="1350" dirty="0"/>
          </a:p>
        </p:txBody>
      </p:sp>
      <p:sp>
        <p:nvSpPr>
          <p:cNvPr id="32" name="Text 30"/>
          <p:cNvSpPr txBox="1"/>
          <p:nvPr/>
        </p:nvSpPr>
        <p:spPr>
          <a:xfrm>
            <a:off x="502920" y="6172200"/>
            <a:ext cx="11155680" cy="548640"/>
          </a:xfrm>
          <a:prstGeom prst="rect">
            <a:avLst/>
          </a:prstGeom>
          <a:noFill/>
          <a:ln/>
        </p:spPr>
        <p:txBody>
          <a:bodyPr wrap="square" lIns="0" tIns="0" rIns="0" bIns="0" rtlCol="0" anchor="t"/>
          <a:lstStyle/>
          <a:p>
            <a:pPr marL="0" indent="0" algn="l">
              <a:buNone/>
            </a:pPr>
            <a:r>
              <a:rPr lang="en-US" sz="1000" i="1" dirty="0">
                <a:solidFill>
                  <a:srgbClr val="4B5B63"/>
                </a:solidFill>
                <a:latin typeface="Yu Gothic" pitchFamily="34" charset="0"/>
                <a:ea typeface="Yu Gothic" pitchFamily="34" charset="-122"/>
                <a:cs typeface="Yu Gothic" pitchFamily="34" charset="-120"/>
              </a:rPr>
              <a:t>※ 脱血部と返血部の間に狭窄病変がある場合は異常所見が出にくい（末梢側での脱血や中枢側での返血では静脈圧は上昇しない）</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600" b="1" dirty="0">
                <a:solidFill>
                  <a:srgbClr val="1F2933"/>
                </a:solidFill>
                <a:latin typeface="Yu Gothic" pitchFamily="34" charset="0"/>
                <a:ea typeface="Yu Gothic" pitchFamily="34" charset="-122"/>
                <a:cs typeface="Yu Gothic" pitchFamily="34" charset="-120"/>
              </a:rPr>
              <a:t>シャントトラブル：再循環</a:t>
            </a:r>
            <a:endParaRPr lang="en-US" sz="26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定義と原因を理解する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透析時のトラブル</a:t>
            </a:r>
            <a:endParaRPr lang="en-US" sz="1100" dirty="0"/>
          </a:p>
        </p:txBody>
      </p:sp>
      <p:sp>
        <p:nvSpPr>
          <p:cNvPr id="6" name="Shape 4"/>
          <p:cNvSpPr/>
          <p:nvPr/>
        </p:nvSpPr>
        <p:spPr>
          <a:xfrm>
            <a:off x="502920" y="1600200"/>
            <a:ext cx="11155680" cy="1005840"/>
          </a:xfrm>
          <a:prstGeom prst="roundRect">
            <a:avLst>
              <a:gd name="adj" fmla="val 9091"/>
            </a:avLst>
          </a:prstGeom>
          <a:solidFill>
            <a:srgbClr val="EEF5F3"/>
          </a:solidFill>
          <a:ln/>
        </p:spPr>
        <p:txBody>
          <a:bodyPr/>
          <a:lstStyle/>
          <a:p>
            <a:endParaRPr lang="ja-JP" altLang="en-US"/>
          </a:p>
        </p:txBody>
      </p:sp>
      <p:sp>
        <p:nvSpPr>
          <p:cNvPr id="7" name="Shape 5"/>
          <p:cNvSpPr/>
          <p:nvPr/>
        </p:nvSpPr>
        <p:spPr>
          <a:xfrm>
            <a:off x="731520" y="1801368"/>
            <a:ext cx="1005840" cy="384048"/>
          </a:xfrm>
          <a:prstGeom prst="roundRect">
            <a:avLst>
              <a:gd name="adj" fmla="val 14286"/>
            </a:avLst>
          </a:prstGeom>
          <a:solidFill>
            <a:srgbClr val="33475B"/>
          </a:solidFill>
          <a:ln/>
        </p:spPr>
        <p:txBody>
          <a:bodyPr/>
          <a:lstStyle/>
          <a:p>
            <a:endParaRPr lang="ja-JP" altLang="en-US"/>
          </a:p>
        </p:txBody>
      </p:sp>
      <p:sp>
        <p:nvSpPr>
          <p:cNvPr id="8" name="Text 6"/>
          <p:cNvSpPr txBox="1"/>
          <p:nvPr/>
        </p:nvSpPr>
        <p:spPr>
          <a:xfrm>
            <a:off x="731520" y="1801368"/>
            <a:ext cx="10058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Yu Gothic" pitchFamily="34" charset="0"/>
                <a:ea typeface="Yu Gothic" pitchFamily="34" charset="-122"/>
                <a:cs typeface="Yu Gothic" pitchFamily="34" charset="-120"/>
              </a:rPr>
              <a:t>定義</a:t>
            </a:r>
            <a:endParaRPr lang="en-US" sz="1250" dirty="0"/>
          </a:p>
        </p:txBody>
      </p:sp>
      <p:sp>
        <p:nvSpPr>
          <p:cNvPr id="9" name="Text 7"/>
          <p:cNvSpPr txBox="1"/>
          <p:nvPr/>
        </p:nvSpPr>
        <p:spPr>
          <a:xfrm>
            <a:off x="1920240" y="1709928"/>
            <a:ext cx="9326880" cy="786384"/>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透析により浄化された血液が体内に返血された際、血流の一部もしくは大半が脱血部位から再度、透析用血液回路側に引き込まれる現象。再循環した割合を再循環率と呼ぶ。</a:t>
            </a:r>
            <a:endParaRPr lang="en-US" sz="1350" dirty="0"/>
          </a:p>
        </p:txBody>
      </p:sp>
      <p:sp>
        <p:nvSpPr>
          <p:cNvPr id="10" name="Shape 8"/>
          <p:cNvSpPr/>
          <p:nvPr/>
        </p:nvSpPr>
        <p:spPr>
          <a:xfrm>
            <a:off x="502920" y="2834640"/>
            <a:ext cx="11155680" cy="457200"/>
          </a:xfrm>
          <a:prstGeom prst="roundRect">
            <a:avLst>
              <a:gd name="adj" fmla="val 16000"/>
            </a:avLst>
          </a:prstGeom>
          <a:solidFill>
            <a:srgbClr val="5A7184"/>
          </a:solidFill>
          <a:ln/>
        </p:spPr>
        <p:txBody>
          <a:bodyPr/>
          <a:lstStyle/>
          <a:p>
            <a:endParaRPr lang="ja-JP" altLang="en-US"/>
          </a:p>
        </p:txBody>
      </p:sp>
      <p:sp>
        <p:nvSpPr>
          <p:cNvPr id="11" name="Text 9"/>
          <p:cNvSpPr txBox="1"/>
          <p:nvPr/>
        </p:nvSpPr>
        <p:spPr>
          <a:xfrm>
            <a:off x="777240" y="2834640"/>
            <a:ext cx="10607040" cy="457200"/>
          </a:xfrm>
          <a:prstGeom prst="rect">
            <a:avLst/>
          </a:prstGeom>
          <a:noFill/>
          <a:ln/>
        </p:spPr>
        <p:txBody>
          <a:bodyPr wrap="square" lIns="0" tIns="0" rIns="0" bIns="0" rtlCol="0" anchor="ctr"/>
          <a:lstStyle/>
          <a:p>
            <a:pPr marL="0" indent="0" algn="l">
              <a:buNone/>
            </a:pPr>
            <a:r>
              <a:rPr lang="en-US" sz="1500" b="1" dirty="0">
                <a:solidFill>
                  <a:srgbClr val="FFFFFF"/>
                </a:solidFill>
                <a:latin typeface="Yu Gothic" pitchFamily="34" charset="0"/>
                <a:ea typeface="Yu Gothic" pitchFamily="34" charset="-122"/>
                <a:cs typeface="Yu Gothic" pitchFamily="34" charset="-120"/>
              </a:rPr>
              <a:t>原因</a:t>
            </a:r>
            <a:endParaRPr lang="en-US" sz="1500" dirty="0"/>
          </a:p>
        </p:txBody>
      </p:sp>
      <p:sp>
        <p:nvSpPr>
          <p:cNvPr id="12" name="Shape 10"/>
          <p:cNvSpPr/>
          <p:nvPr/>
        </p:nvSpPr>
        <p:spPr>
          <a:xfrm>
            <a:off x="502920" y="3474720"/>
            <a:ext cx="11155680" cy="622479"/>
          </a:xfrm>
          <a:prstGeom prst="roundRect">
            <a:avLst>
              <a:gd name="adj" fmla="val 11752"/>
            </a:avLst>
          </a:prstGeom>
          <a:solidFill>
            <a:srgbClr val="EEF5F3"/>
          </a:solidFill>
          <a:ln/>
        </p:spPr>
        <p:txBody>
          <a:bodyPr/>
          <a:lstStyle/>
          <a:p>
            <a:endParaRPr lang="ja-JP" altLang="en-US"/>
          </a:p>
        </p:txBody>
      </p:sp>
      <p:sp>
        <p:nvSpPr>
          <p:cNvPr id="13" name="Shape 11"/>
          <p:cNvSpPr/>
          <p:nvPr/>
        </p:nvSpPr>
        <p:spPr>
          <a:xfrm>
            <a:off x="704088" y="3639312"/>
            <a:ext cx="329184" cy="329184"/>
          </a:xfrm>
          <a:prstGeom prst="ellipse">
            <a:avLst/>
          </a:prstGeom>
          <a:solidFill>
            <a:srgbClr val="5A7184"/>
          </a:solidFill>
          <a:ln/>
        </p:spPr>
        <p:txBody>
          <a:bodyPr/>
          <a:lstStyle/>
          <a:p>
            <a:endParaRPr lang="ja-JP" altLang="en-US"/>
          </a:p>
        </p:txBody>
      </p:sp>
      <p:sp>
        <p:nvSpPr>
          <p:cNvPr id="14" name="Text 12"/>
          <p:cNvSpPr txBox="1"/>
          <p:nvPr/>
        </p:nvSpPr>
        <p:spPr>
          <a:xfrm>
            <a:off x="704088" y="36393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5" name="Text 13"/>
          <p:cNvSpPr txBox="1"/>
          <p:nvPr/>
        </p:nvSpPr>
        <p:spPr>
          <a:xfrm>
            <a:off x="1124712" y="3566160"/>
            <a:ext cx="10287000" cy="320040"/>
          </a:xfrm>
          <a:prstGeom prst="rect">
            <a:avLst/>
          </a:prstGeom>
          <a:noFill/>
          <a:ln/>
        </p:spPr>
        <p:txBody>
          <a:bodyPr wrap="square" lIns="0" tIns="0" rIns="0" bIns="0" rtlCol="0" anchor="t"/>
          <a:lstStyle/>
          <a:p>
            <a:pPr marL="0" indent="0" algn="l">
              <a:buNone/>
            </a:pPr>
            <a:r>
              <a:rPr lang="en-US" sz="1350" b="1" dirty="0">
                <a:solidFill>
                  <a:srgbClr val="1F2933"/>
                </a:solidFill>
                <a:latin typeface="Yu Gothic" pitchFamily="34" charset="0"/>
                <a:ea typeface="Yu Gothic" pitchFamily="34" charset="-122"/>
                <a:cs typeface="Yu Gothic" pitchFamily="34" charset="-120"/>
              </a:rPr>
              <a:t>再循環率の目安</a:t>
            </a:r>
            <a:endParaRPr lang="en-US" sz="1350" dirty="0"/>
          </a:p>
        </p:txBody>
      </p:sp>
      <p:sp>
        <p:nvSpPr>
          <p:cNvPr id="16" name="Text 14"/>
          <p:cNvSpPr txBox="1"/>
          <p:nvPr/>
        </p:nvSpPr>
        <p:spPr>
          <a:xfrm>
            <a:off x="1124712" y="3895344"/>
            <a:ext cx="10149840" cy="137847"/>
          </a:xfrm>
          <a:prstGeom prst="rect">
            <a:avLst/>
          </a:prstGeom>
          <a:noFill/>
          <a:ln/>
        </p:spPr>
        <p:txBody>
          <a:bodyPr wrap="square" lIns="0" tIns="0" rIns="0" bIns="0" rtlCol="0" anchor="t"/>
          <a:lstStyle/>
          <a:p>
            <a:pPr marL="0" indent="0" algn="l">
              <a:buNone/>
            </a:pPr>
            <a:r>
              <a:rPr lang="en-US" sz="1050" dirty="0">
                <a:solidFill>
                  <a:srgbClr val="4B5B63"/>
                </a:solidFill>
                <a:latin typeface="Yu Gothic" pitchFamily="34" charset="0"/>
                <a:ea typeface="Yu Gothic" pitchFamily="34" charset="-122"/>
                <a:cs typeface="Yu Gothic" pitchFamily="34" charset="-120"/>
              </a:rPr>
              <a:t>概ね10％以上の再循環率がある場合は、原因を精査する。</a:t>
            </a:r>
            <a:endParaRPr lang="en-US" sz="1050" dirty="0"/>
          </a:p>
        </p:txBody>
      </p:sp>
      <p:sp>
        <p:nvSpPr>
          <p:cNvPr id="17" name="Shape 15"/>
          <p:cNvSpPr/>
          <p:nvPr/>
        </p:nvSpPr>
        <p:spPr>
          <a:xfrm>
            <a:off x="502920" y="4234359"/>
            <a:ext cx="11155680" cy="1406802"/>
          </a:xfrm>
          <a:prstGeom prst="roundRect">
            <a:avLst>
              <a:gd name="adj" fmla="val 5200"/>
            </a:avLst>
          </a:prstGeom>
          <a:solidFill>
            <a:srgbClr val="EEF5F3"/>
          </a:solidFill>
          <a:ln/>
        </p:spPr>
        <p:txBody>
          <a:bodyPr/>
          <a:lstStyle/>
          <a:p>
            <a:endParaRPr lang="ja-JP" altLang="en-US"/>
          </a:p>
        </p:txBody>
      </p:sp>
      <p:sp>
        <p:nvSpPr>
          <p:cNvPr id="18" name="Shape 16"/>
          <p:cNvSpPr/>
          <p:nvPr/>
        </p:nvSpPr>
        <p:spPr>
          <a:xfrm>
            <a:off x="704088" y="4398951"/>
            <a:ext cx="329184" cy="329184"/>
          </a:xfrm>
          <a:prstGeom prst="ellipse">
            <a:avLst/>
          </a:prstGeom>
          <a:solidFill>
            <a:srgbClr val="5A7184"/>
          </a:solidFill>
          <a:ln/>
        </p:spPr>
        <p:txBody>
          <a:bodyPr/>
          <a:lstStyle/>
          <a:p>
            <a:endParaRPr lang="ja-JP" altLang="en-US"/>
          </a:p>
        </p:txBody>
      </p:sp>
      <p:sp>
        <p:nvSpPr>
          <p:cNvPr id="19" name="Text 17"/>
          <p:cNvSpPr txBox="1"/>
          <p:nvPr/>
        </p:nvSpPr>
        <p:spPr>
          <a:xfrm>
            <a:off x="704088" y="4398951"/>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20" name="Text 18"/>
          <p:cNvSpPr txBox="1"/>
          <p:nvPr/>
        </p:nvSpPr>
        <p:spPr>
          <a:xfrm>
            <a:off x="1124712" y="4325799"/>
            <a:ext cx="10287000" cy="320040"/>
          </a:xfrm>
          <a:prstGeom prst="rect">
            <a:avLst/>
          </a:prstGeom>
          <a:noFill/>
          <a:ln/>
        </p:spPr>
        <p:txBody>
          <a:bodyPr wrap="square" lIns="0" tIns="0" rIns="0" bIns="0" rtlCol="0" anchor="t"/>
          <a:lstStyle/>
          <a:p>
            <a:pPr marL="0" indent="0" algn="l">
              <a:buNone/>
            </a:pPr>
            <a:r>
              <a:rPr lang="en-US" sz="1350" b="1" dirty="0">
                <a:solidFill>
                  <a:srgbClr val="1F2933"/>
                </a:solidFill>
                <a:latin typeface="Yu Gothic" pitchFamily="34" charset="0"/>
                <a:ea typeface="Yu Gothic" pitchFamily="34" charset="-122"/>
                <a:cs typeface="Yu Gothic" pitchFamily="34" charset="-120"/>
              </a:rPr>
              <a:t>起こりうる影響</a:t>
            </a:r>
            <a:endParaRPr lang="en-US" sz="1350" dirty="0"/>
          </a:p>
        </p:txBody>
      </p:sp>
      <p:sp>
        <p:nvSpPr>
          <p:cNvPr id="21" name="Text 19"/>
          <p:cNvSpPr txBox="1"/>
          <p:nvPr/>
        </p:nvSpPr>
        <p:spPr>
          <a:xfrm>
            <a:off x="1124712" y="4654983"/>
            <a:ext cx="10149840" cy="922170"/>
          </a:xfrm>
          <a:prstGeom prst="rect">
            <a:avLst/>
          </a:prstGeom>
          <a:noFill/>
          <a:ln/>
        </p:spPr>
        <p:txBody>
          <a:bodyPr wrap="square" lIns="0" tIns="0" rIns="0" bIns="0" rtlCol="0" anchor="t"/>
          <a:lstStyle/>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再循環が発生すると脱血不良に気づきにくくなる</a:t>
            </a:r>
            <a:endParaRPr lang="en-US" sz="1050" dirty="0"/>
          </a:p>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除水の経過に伴う回路内濃縮が生じることがある</a:t>
            </a:r>
            <a:endParaRPr lang="en-US" sz="1050" dirty="0"/>
          </a:p>
          <a:p>
            <a:pPr marL="0" indent="0" algn="l">
              <a:lnSpc>
                <a:spcPct val="115000"/>
              </a:lnSpc>
              <a:buNone/>
            </a:pPr>
            <a:r>
              <a:rPr lang="en-US" sz="1050" dirty="0">
                <a:solidFill>
                  <a:srgbClr val="4B5B63"/>
                </a:solidFill>
                <a:latin typeface="Yu Gothic" pitchFamily="34" charset="0"/>
                <a:ea typeface="Yu Gothic" pitchFamily="34" charset="-122"/>
                <a:cs typeface="Yu Gothic" pitchFamily="34" charset="-120"/>
              </a:rPr>
              <a:t>• 著しい透析効率の低下が生じる場合がある</a:t>
            </a:r>
            <a:endParaRPr lang="en-US" sz="1050" dirty="0"/>
          </a:p>
        </p:txBody>
      </p:sp>
      <p:sp>
        <p:nvSpPr>
          <p:cNvPr id="22" name="Shape 20"/>
          <p:cNvSpPr/>
          <p:nvPr/>
        </p:nvSpPr>
        <p:spPr>
          <a:xfrm>
            <a:off x="502920" y="5778321"/>
            <a:ext cx="11155680" cy="622479"/>
          </a:xfrm>
          <a:prstGeom prst="roundRect">
            <a:avLst>
              <a:gd name="adj" fmla="val 11752"/>
            </a:avLst>
          </a:prstGeom>
          <a:solidFill>
            <a:srgbClr val="EEF5F3"/>
          </a:solidFill>
          <a:ln/>
        </p:spPr>
        <p:txBody>
          <a:bodyPr/>
          <a:lstStyle/>
          <a:p>
            <a:endParaRPr lang="ja-JP" altLang="en-US"/>
          </a:p>
        </p:txBody>
      </p:sp>
      <p:sp>
        <p:nvSpPr>
          <p:cNvPr id="23" name="Shape 21"/>
          <p:cNvSpPr/>
          <p:nvPr/>
        </p:nvSpPr>
        <p:spPr>
          <a:xfrm>
            <a:off x="704088" y="5942913"/>
            <a:ext cx="329184" cy="329184"/>
          </a:xfrm>
          <a:prstGeom prst="ellipse">
            <a:avLst/>
          </a:prstGeom>
          <a:solidFill>
            <a:srgbClr val="5A7184"/>
          </a:solidFill>
          <a:ln/>
        </p:spPr>
        <p:txBody>
          <a:bodyPr/>
          <a:lstStyle/>
          <a:p>
            <a:endParaRPr lang="ja-JP" altLang="en-US"/>
          </a:p>
        </p:txBody>
      </p:sp>
      <p:sp>
        <p:nvSpPr>
          <p:cNvPr id="24" name="Text 22"/>
          <p:cNvSpPr txBox="1"/>
          <p:nvPr/>
        </p:nvSpPr>
        <p:spPr>
          <a:xfrm>
            <a:off x="704088" y="5942913"/>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5" name="Text 23"/>
          <p:cNvSpPr txBox="1"/>
          <p:nvPr/>
        </p:nvSpPr>
        <p:spPr>
          <a:xfrm>
            <a:off x="1124712" y="5869761"/>
            <a:ext cx="10287000" cy="320040"/>
          </a:xfrm>
          <a:prstGeom prst="rect">
            <a:avLst/>
          </a:prstGeom>
          <a:noFill/>
          <a:ln/>
        </p:spPr>
        <p:txBody>
          <a:bodyPr wrap="square" lIns="0" tIns="0" rIns="0" bIns="0" rtlCol="0" anchor="t"/>
          <a:lstStyle/>
          <a:p>
            <a:pPr marL="0" indent="0" algn="l">
              <a:buNone/>
            </a:pPr>
            <a:r>
              <a:rPr lang="en-US" sz="1350" b="1" dirty="0">
                <a:solidFill>
                  <a:srgbClr val="1F2933"/>
                </a:solidFill>
                <a:latin typeface="Yu Gothic" pitchFamily="34" charset="0"/>
                <a:ea typeface="Yu Gothic" pitchFamily="34" charset="-122"/>
                <a:cs typeface="Yu Gothic" pitchFamily="34" charset="-120"/>
              </a:rPr>
              <a:t>主な要因</a:t>
            </a:r>
            <a:endParaRPr lang="en-US" sz="1350" dirty="0"/>
          </a:p>
        </p:txBody>
      </p:sp>
      <p:sp>
        <p:nvSpPr>
          <p:cNvPr id="26" name="Text 24"/>
          <p:cNvSpPr txBox="1"/>
          <p:nvPr/>
        </p:nvSpPr>
        <p:spPr>
          <a:xfrm>
            <a:off x="1124712" y="6198945"/>
            <a:ext cx="10149840" cy="137847"/>
          </a:xfrm>
          <a:prstGeom prst="rect">
            <a:avLst/>
          </a:prstGeom>
          <a:noFill/>
          <a:ln/>
        </p:spPr>
        <p:txBody>
          <a:bodyPr wrap="square" lIns="0" tIns="0" rIns="0" bIns="0" rtlCol="0" anchor="t"/>
          <a:lstStyle/>
          <a:p>
            <a:pPr marL="0" indent="0" algn="l">
              <a:buNone/>
            </a:pPr>
            <a:r>
              <a:rPr lang="en-US" sz="1050" dirty="0">
                <a:solidFill>
                  <a:srgbClr val="4B5B63"/>
                </a:solidFill>
                <a:latin typeface="Yu Gothic" pitchFamily="34" charset="0"/>
                <a:ea typeface="Yu Gothic" pitchFamily="34" charset="-122"/>
                <a:cs typeface="Yu Gothic" pitchFamily="34" charset="-120"/>
              </a:rPr>
              <a:t>脱血部・返血部の位置関係や、その間に存在する血管の狭窄・閉塞などが関与するとされる（原典の図42を参照）。</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3AE7-9A80-6AF7-1CCB-074A1ED8F77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DBA2B1-2AE2-A405-6E05-D095D7ED3BB7}"/>
              </a:ext>
            </a:extLst>
          </p:cNvPr>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600" b="1" dirty="0">
                <a:solidFill>
                  <a:srgbClr val="1F2933"/>
                </a:solidFill>
                <a:latin typeface="Yu Gothic" pitchFamily="34" charset="0"/>
                <a:ea typeface="Yu Gothic" pitchFamily="34" charset="-122"/>
                <a:cs typeface="Yu Gothic" pitchFamily="34" charset="-120"/>
              </a:rPr>
              <a:t>シャントトラブル：再循環</a:t>
            </a:r>
            <a:endParaRPr lang="en-US" sz="2600" dirty="0"/>
          </a:p>
        </p:txBody>
      </p:sp>
      <p:sp>
        <p:nvSpPr>
          <p:cNvPr id="3" name="Text 1">
            <a:extLst>
              <a:ext uri="{FF2B5EF4-FFF2-40B4-BE49-F238E27FC236}">
                <a16:creationId xmlns:a16="http://schemas.microsoft.com/office/drawing/2014/main" id="{32583A48-78D0-8B4C-D293-7F5D02BDE02D}"/>
              </a:ext>
            </a:extLst>
          </p:cNvPr>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ja-JP" altLang="en-US" b="1" dirty="0">
                <a:solidFill>
                  <a:srgbClr val="1F6F5C"/>
                </a:solidFill>
                <a:latin typeface="Yu Gothic" pitchFamily="34" charset="0"/>
                <a:ea typeface="Yu Gothic" pitchFamily="34" charset="-122"/>
              </a:rPr>
              <a:t>各パターン</a:t>
            </a:r>
            <a:endParaRPr lang="en-US" dirty="0"/>
          </a:p>
        </p:txBody>
      </p:sp>
      <p:sp>
        <p:nvSpPr>
          <p:cNvPr id="4" name="Shape 2">
            <a:extLst>
              <a:ext uri="{FF2B5EF4-FFF2-40B4-BE49-F238E27FC236}">
                <a16:creationId xmlns:a16="http://schemas.microsoft.com/office/drawing/2014/main" id="{A817CECF-9E5E-7720-4957-B73F9CC4FCC7}"/>
              </a:ext>
            </a:extLst>
          </p:cNvPr>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a:extLst>
              <a:ext uri="{FF2B5EF4-FFF2-40B4-BE49-F238E27FC236}">
                <a16:creationId xmlns:a16="http://schemas.microsoft.com/office/drawing/2014/main" id="{1C00DEBA-CAA1-0C23-3F09-FBAE9704BE85}"/>
              </a:ext>
            </a:extLst>
          </p:cNvPr>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透析時のトラブル</a:t>
            </a:r>
            <a:endParaRPr lang="en-US" sz="1100" dirty="0"/>
          </a:p>
        </p:txBody>
      </p:sp>
      <p:pic>
        <p:nvPicPr>
          <p:cNvPr id="28" name="図 27">
            <a:extLst>
              <a:ext uri="{FF2B5EF4-FFF2-40B4-BE49-F238E27FC236}">
                <a16:creationId xmlns:a16="http://schemas.microsoft.com/office/drawing/2014/main" id="{62F87F02-C864-FB7F-92A9-53997A03C748}"/>
              </a:ext>
            </a:extLst>
          </p:cNvPr>
          <p:cNvPicPr>
            <a:picLocks noChangeAspect="1"/>
          </p:cNvPicPr>
          <p:nvPr/>
        </p:nvPicPr>
        <p:blipFill>
          <a:blip r:embed="rId2"/>
          <a:stretch>
            <a:fillRect/>
          </a:stretch>
        </p:blipFill>
        <p:spPr>
          <a:xfrm>
            <a:off x="1222310" y="1325880"/>
            <a:ext cx="9659049" cy="4783236"/>
          </a:xfrm>
          <a:prstGeom prst="rect">
            <a:avLst/>
          </a:prstGeom>
        </p:spPr>
      </p:pic>
    </p:spTree>
    <p:extLst>
      <p:ext uri="{BB962C8B-B14F-4D97-AF65-F5344CB8AC3E}">
        <p14:creationId xmlns:p14="http://schemas.microsoft.com/office/powerpoint/2010/main" val="26181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600" b="1" dirty="0">
                <a:solidFill>
                  <a:srgbClr val="1F2933"/>
                </a:solidFill>
                <a:latin typeface="Yu Gothic" pitchFamily="34" charset="0"/>
                <a:ea typeface="Yu Gothic" pitchFamily="34" charset="-122"/>
                <a:cs typeface="Yu Gothic" pitchFamily="34" charset="-120"/>
              </a:rPr>
              <a:t>シャントトラブル：止血困難</a:t>
            </a:r>
            <a:endParaRPr lang="en-US" sz="26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定義と原因を理解する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透析時のトラブル</a:t>
            </a:r>
            <a:endParaRPr lang="en-US" sz="1100" dirty="0"/>
          </a:p>
        </p:txBody>
      </p:sp>
      <p:sp>
        <p:nvSpPr>
          <p:cNvPr id="6" name="Shape 4"/>
          <p:cNvSpPr/>
          <p:nvPr/>
        </p:nvSpPr>
        <p:spPr>
          <a:xfrm>
            <a:off x="502920" y="1600200"/>
            <a:ext cx="11155680" cy="1005840"/>
          </a:xfrm>
          <a:prstGeom prst="roundRect">
            <a:avLst>
              <a:gd name="adj" fmla="val 9091"/>
            </a:avLst>
          </a:prstGeom>
          <a:solidFill>
            <a:srgbClr val="EEF5F3"/>
          </a:solidFill>
          <a:ln/>
        </p:spPr>
        <p:txBody>
          <a:bodyPr/>
          <a:lstStyle/>
          <a:p>
            <a:endParaRPr lang="ja-JP" altLang="en-US"/>
          </a:p>
        </p:txBody>
      </p:sp>
      <p:sp>
        <p:nvSpPr>
          <p:cNvPr id="7" name="Shape 5"/>
          <p:cNvSpPr/>
          <p:nvPr/>
        </p:nvSpPr>
        <p:spPr>
          <a:xfrm>
            <a:off x="731520" y="1801368"/>
            <a:ext cx="1005840" cy="384048"/>
          </a:xfrm>
          <a:prstGeom prst="roundRect">
            <a:avLst>
              <a:gd name="adj" fmla="val 14286"/>
            </a:avLst>
          </a:prstGeom>
          <a:solidFill>
            <a:srgbClr val="33475B"/>
          </a:solidFill>
          <a:ln/>
        </p:spPr>
        <p:txBody>
          <a:bodyPr/>
          <a:lstStyle/>
          <a:p>
            <a:endParaRPr lang="ja-JP" altLang="en-US"/>
          </a:p>
        </p:txBody>
      </p:sp>
      <p:sp>
        <p:nvSpPr>
          <p:cNvPr id="8" name="Text 6"/>
          <p:cNvSpPr txBox="1"/>
          <p:nvPr/>
        </p:nvSpPr>
        <p:spPr>
          <a:xfrm>
            <a:off x="731520" y="1801368"/>
            <a:ext cx="10058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Yu Gothic" pitchFamily="34" charset="0"/>
                <a:ea typeface="Yu Gothic" pitchFamily="34" charset="-122"/>
                <a:cs typeface="Yu Gothic" pitchFamily="34" charset="-120"/>
              </a:rPr>
              <a:t>定義</a:t>
            </a:r>
            <a:endParaRPr lang="en-US" sz="1250" dirty="0"/>
          </a:p>
        </p:txBody>
      </p:sp>
      <p:sp>
        <p:nvSpPr>
          <p:cNvPr id="9" name="Text 7"/>
          <p:cNvSpPr txBox="1"/>
          <p:nvPr/>
        </p:nvSpPr>
        <p:spPr>
          <a:xfrm>
            <a:off x="1920240" y="1709928"/>
            <a:ext cx="9326880" cy="786384"/>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抜針後の止血に要する時間が長くなること。止血しにくいこと。</a:t>
            </a:r>
            <a:endParaRPr lang="en-US" sz="1350" dirty="0"/>
          </a:p>
        </p:txBody>
      </p:sp>
      <p:sp>
        <p:nvSpPr>
          <p:cNvPr id="10" name="Shape 8"/>
          <p:cNvSpPr/>
          <p:nvPr/>
        </p:nvSpPr>
        <p:spPr>
          <a:xfrm>
            <a:off x="502920" y="2834640"/>
            <a:ext cx="11155680" cy="457200"/>
          </a:xfrm>
          <a:prstGeom prst="roundRect">
            <a:avLst>
              <a:gd name="adj" fmla="val 16000"/>
            </a:avLst>
          </a:prstGeom>
          <a:solidFill>
            <a:srgbClr val="5A7184"/>
          </a:solidFill>
          <a:ln/>
        </p:spPr>
        <p:txBody>
          <a:bodyPr/>
          <a:lstStyle/>
          <a:p>
            <a:endParaRPr lang="ja-JP" altLang="en-US"/>
          </a:p>
        </p:txBody>
      </p:sp>
      <p:sp>
        <p:nvSpPr>
          <p:cNvPr id="11" name="Text 9"/>
          <p:cNvSpPr txBox="1"/>
          <p:nvPr/>
        </p:nvSpPr>
        <p:spPr>
          <a:xfrm>
            <a:off x="777240" y="2834640"/>
            <a:ext cx="10607040" cy="457200"/>
          </a:xfrm>
          <a:prstGeom prst="rect">
            <a:avLst/>
          </a:prstGeom>
          <a:noFill/>
          <a:ln/>
        </p:spPr>
        <p:txBody>
          <a:bodyPr wrap="square" lIns="0" tIns="0" rIns="0" bIns="0" rtlCol="0" anchor="ctr"/>
          <a:lstStyle/>
          <a:p>
            <a:pPr marL="0" indent="0" algn="l">
              <a:buNone/>
            </a:pPr>
            <a:r>
              <a:rPr lang="en-US" sz="1500" b="1" dirty="0">
                <a:solidFill>
                  <a:srgbClr val="FFFFFF"/>
                </a:solidFill>
                <a:latin typeface="Yu Gothic" pitchFamily="34" charset="0"/>
                <a:ea typeface="Yu Gothic" pitchFamily="34" charset="-122"/>
                <a:cs typeface="Yu Gothic" pitchFamily="34" charset="-120"/>
              </a:rPr>
              <a:t>原因</a:t>
            </a:r>
            <a:endParaRPr lang="en-US" sz="1500" dirty="0"/>
          </a:p>
        </p:txBody>
      </p:sp>
      <p:sp>
        <p:nvSpPr>
          <p:cNvPr id="12" name="Shape 10"/>
          <p:cNvSpPr/>
          <p:nvPr/>
        </p:nvSpPr>
        <p:spPr>
          <a:xfrm>
            <a:off x="502920" y="3474720"/>
            <a:ext cx="11155680" cy="883920"/>
          </a:xfrm>
          <a:prstGeom prst="roundRect">
            <a:avLst>
              <a:gd name="adj" fmla="val 8276"/>
            </a:avLst>
          </a:prstGeom>
          <a:solidFill>
            <a:srgbClr val="EEF5F3"/>
          </a:solidFill>
          <a:ln/>
        </p:spPr>
        <p:txBody>
          <a:bodyPr/>
          <a:lstStyle/>
          <a:p>
            <a:endParaRPr lang="ja-JP" altLang="en-US"/>
          </a:p>
        </p:txBody>
      </p:sp>
      <p:sp>
        <p:nvSpPr>
          <p:cNvPr id="13" name="Shape 11"/>
          <p:cNvSpPr/>
          <p:nvPr/>
        </p:nvSpPr>
        <p:spPr>
          <a:xfrm>
            <a:off x="704088" y="3639312"/>
            <a:ext cx="329184" cy="329184"/>
          </a:xfrm>
          <a:prstGeom prst="ellipse">
            <a:avLst/>
          </a:prstGeom>
          <a:solidFill>
            <a:srgbClr val="5A7184"/>
          </a:solidFill>
          <a:ln/>
        </p:spPr>
        <p:txBody>
          <a:bodyPr/>
          <a:lstStyle/>
          <a:p>
            <a:endParaRPr lang="ja-JP" altLang="en-US"/>
          </a:p>
        </p:txBody>
      </p:sp>
      <p:sp>
        <p:nvSpPr>
          <p:cNvPr id="14" name="Text 12"/>
          <p:cNvSpPr txBox="1"/>
          <p:nvPr/>
        </p:nvSpPr>
        <p:spPr>
          <a:xfrm>
            <a:off x="704088" y="36393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5" name="Text 13"/>
          <p:cNvSpPr txBox="1"/>
          <p:nvPr/>
        </p:nvSpPr>
        <p:spPr>
          <a:xfrm>
            <a:off x="1124712" y="3566160"/>
            <a:ext cx="10287000" cy="320040"/>
          </a:xfrm>
          <a:prstGeom prst="rect">
            <a:avLst/>
          </a:prstGeom>
          <a:noFill/>
          <a:ln/>
        </p:spPr>
        <p:txBody>
          <a:bodyPr wrap="square" lIns="0" tIns="0" rIns="0" bIns="0" rtlCol="0" anchor="t"/>
          <a:lstStyle/>
          <a:p>
            <a:pPr marL="0" indent="0" algn="l">
              <a:buNone/>
            </a:pPr>
            <a:r>
              <a:rPr lang="en-US" sz="1350" b="1" dirty="0">
                <a:solidFill>
                  <a:srgbClr val="1F2933"/>
                </a:solidFill>
                <a:latin typeface="Yu Gothic" pitchFamily="34" charset="0"/>
                <a:ea typeface="Yu Gothic" pitchFamily="34" charset="-122"/>
                <a:cs typeface="Yu Gothic" pitchFamily="34" charset="-120"/>
              </a:rPr>
              <a:t>穿刺部位よりも中枢側の狭窄や閉塞</a:t>
            </a:r>
            <a:endParaRPr lang="en-US" sz="1350" dirty="0"/>
          </a:p>
        </p:txBody>
      </p:sp>
      <p:sp>
        <p:nvSpPr>
          <p:cNvPr id="16" name="Text 14"/>
          <p:cNvSpPr txBox="1"/>
          <p:nvPr/>
        </p:nvSpPr>
        <p:spPr>
          <a:xfrm>
            <a:off x="1124712" y="3895344"/>
            <a:ext cx="10149840" cy="399288"/>
          </a:xfrm>
          <a:prstGeom prst="rect">
            <a:avLst/>
          </a:prstGeom>
          <a:noFill/>
          <a:ln/>
        </p:spPr>
        <p:txBody>
          <a:bodyPr wrap="square" lIns="0" tIns="0" rIns="0" bIns="0" rtlCol="0" anchor="t"/>
          <a:lstStyle/>
          <a:p>
            <a:pPr marL="0" indent="0" algn="l">
              <a:buNone/>
            </a:pPr>
            <a:r>
              <a:rPr lang="en-US" sz="1050" dirty="0">
                <a:solidFill>
                  <a:srgbClr val="4B5B63"/>
                </a:solidFill>
                <a:latin typeface="Yu Gothic" pitchFamily="34" charset="0"/>
                <a:ea typeface="Yu Gothic" pitchFamily="34" charset="-122"/>
                <a:cs typeface="Yu Gothic" pitchFamily="34" charset="-120"/>
              </a:rPr>
              <a:t>止血部位の血管内圧が上昇している場合に生じる。</a:t>
            </a:r>
            <a:endParaRPr lang="en-US" sz="1050" dirty="0"/>
          </a:p>
        </p:txBody>
      </p:sp>
      <p:sp>
        <p:nvSpPr>
          <p:cNvPr id="17" name="Shape 15"/>
          <p:cNvSpPr/>
          <p:nvPr/>
        </p:nvSpPr>
        <p:spPr>
          <a:xfrm>
            <a:off x="502920" y="4495800"/>
            <a:ext cx="11155680" cy="883920"/>
          </a:xfrm>
          <a:prstGeom prst="roundRect">
            <a:avLst>
              <a:gd name="adj" fmla="val 8276"/>
            </a:avLst>
          </a:prstGeom>
          <a:solidFill>
            <a:srgbClr val="EEF5F3"/>
          </a:solidFill>
          <a:ln/>
        </p:spPr>
        <p:txBody>
          <a:bodyPr/>
          <a:lstStyle/>
          <a:p>
            <a:endParaRPr lang="ja-JP" altLang="en-US"/>
          </a:p>
        </p:txBody>
      </p:sp>
      <p:sp>
        <p:nvSpPr>
          <p:cNvPr id="18" name="Shape 16"/>
          <p:cNvSpPr/>
          <p:nvPr/>
        </p:nvSpPr>
        <p:spPr>
          <a:xfrm>
            <a:off x="704088" y="4660392"/>
            <a:ext cx="329184" cy="329184"/>
          </a:xfrm>
          <a:prstGeom prst="ellipse">
            <a:avLst/>
          </a:prstGeom>
          <a:solidFill>
            <a:srgbClr val="5A7184"/>
          </a:solidFill>
          <a:ln/>
        </p:spPr>
        <p:txBody>
          <a:bodyPr/>
          <a:lstStyle/>
          <a:p>
            <a:endParaRPr lang="ja-JP" altLang="en-US"/>
          </a:p>
        </p:txBody>
      </p:sp>
      <p:sp>
        <p:nvSpPr>
          <p:cNvPr id="19" name="Text 17"/>
          <p:cNvSpPr txBox="1"/>
          <p:nvPr/>
        </p:nvSpPr>
        <p:spPr>
          <a:xfrm>
            <a:off x="704088" y="46603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20" name="Text 18"/>
          <p:cNvSpPr txBox="1"/>
          <p:nvPr/>
        </p:nvSpPr>
        <p:spPr>
          <a:xfrm>
            <a:off x="1124712" y="4495800"/>
            <a:ext cx="10287000" cy="883920"/>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抗凝固薬、抗血小板薬による影響</a:t>
            </a:r>
            <a:endParaRPr lang="en-US" sz="1350" dirty="0"/>
          </a:p>
        </p:txBody>
      </p:sp>
      <p:sp>
        <p:nvSpPr>
          <p:cNvPr id="21" name="Shape 19"/>
          <p:cNvSpPr/>
          <p:nvPr/>
        </p:nvSpPr>
        <p:spPr>
          <a:xfrm>
            <a:off x="502920" y="5516880"/>
            <a:ext cx="11155680" cy="883920"/>
          </a:xfrm>
          <a:prstGeom prst="roundRect">
            <a:avLst>
              <a:gd name="adj" fmla="val 8276"/>
            </a:avLst>
          </a:prstGeom>
          <a:solidFill>
            <a:srgbClr val="EEF5F3"/>
          </a:solidFill>
          <a:ln/>
        </p:spPr>
        <p:txBody>
          <a:bodyPr/>
          <a:lstStyle/>
          <a:p>
            <a:endParaRPr lang="ja-JP" altLang="en-US"/>
          </a:p>
        </p:txBody>
      </p:sp>
      <p:sp>
        <p:nvSpPr>
          <p:cNvPr id="22" name="Shape 20"/>
          <p:cNvSpPr/>
          <p:nvPr/>
        </p:nvSpPr>
        <p:spPr>
          <a:xfrm>
            <a:off x="704088" y="5681472"/>
            <a:ext cx="329184" cy="329184"/>
          </a:xfrm>
          <a:prstGeom prst="ellipse">
            <a:avLst/>
          </a:prstGeom>
          <a:solidFill>
            <a:srgbClr val="5A7184"/>
          </a:solidFill>
          <a:ln/>
        </p:spPr>
        <p:txBody>
          <a:bodyPr/>
          <a:lstStyle/>
          <a:p>
            <a:endParaRPr lang="ja-JP" altLang="en-US"/>
          </a:p>
        </p:txBody>
      </p:sp>
      <p:sp>
        <p:nvSpPr>
          <p:cNvPr id="23" name="Text 21"/>
          <p:cNvSpPr txBox="1"/>
          <p:nvPr/>
        </p:nvSpPr>
        <p:spPr>
          <a:xfrm>
            <a:off x="704088" y="56814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4" name="Text 22"/>
          <p:cNvSpPr txBox="1"/>
          <p:nvPr/>
        </p:nvSpPr>
        <p:spPr>
          <a:xfrm>
            <a:off x="1124712" y="5608320"/>
            <a:ext cx="10287000" cy="320040"/>
          </a:xfrm>
          <a:prstGeom prst="rect">
            <a:avLst/>
          </a:prstGeom>
          <a:noFill/>
          <a:ln/>
        </p:spPr>
        <p:txBody>
          <a:bodyPr wrap="square" lIns="0" tIns="0" rIns="0" bIns="0" rtlCol="0" anchor="t"/>
          <a:lstStyle/>
          <a:p>
            <a:pPr marL="0" indent="0" algn="l">
              <a:buNone/>
            </a:pPr>
            <a:r>
              <a:rPr lang="en-US" sz="1350" b="1" dirty="0">
                <a:solidFill>
                  <a:srgbClr val="1F2933"/>
                </a:solidFill>
                <a:latin typeface="Yu Gothic" pitchFamily="34" charset="0"/>
                <a:ea typeface="Yu Gothic" pitchFamily="34" charset="-122"/>
                <a:cs typeface="Yu Gothic" pitchFamily="34" charset="-120"/>
              </a:rPr>
              <a:t>皮膚・血管の状態</a:t>
            </a:r>
            <a:endParaRPr lang="en-US" sz="1350" dirty="0"/>
          </a:p>
        </p:txBody>
      </p:sp>
      <p:sp>
        <p:nvSpPr>
          <p:cNvPr id="25" name="Text 23"/>
          <p:cNvSpPr txBox="1"/>
          <p:nvPr/>
        </p:nvSpPr>
        <p:spPr>
          <a:xfrm>
            <a:off x="1124712" y="5937504"/>
            <a:ext cx="10149840" cy="399288"/>
          </a:xfrm>
          <a:prstGeom prst="rect">
            <a:avLst/>
          </a:prstGeom>
          <a:noFill/>
          <a:ln/>
        </p:spPr>
        <p:txBody>
          <a:bodyPr wrap="square" lIns="0" tIns="0" rIns="0" bIns="0" rtlCol="0" anchor="t"/>
          <a:lstStyle/>
          <a:p>
            <a:pPr marL="0" indent="0" algn="l">
              <a:buNone/>
            </a:pPr>
            <a:r>
              <a:rPr lang="en-US" sz="1050" dirty="0">
                <a:solidFill>
                  <a:srgbClr val="4B5B63"/>
                </a:solidFill>
                <a:latin typeface="Yu Gothic" pitchFamily="34" charset="0"/>
                <a:ea typeface="Yu Gothic" pitchFamily="34" charset="-122"/>
                <a:cs typeface="Yu Gothic" pitchFamily="34" charset="-120"/>
              </a:rPr>
              <a:t>皮膚の脆弱、血管壁の荒廃、皮膚から血管までの距離が短い場合など。</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365760"/>
            <a:ext cx="8961120" cy="594360"/>
          </a:xfrm>
          <a:prstGeom prst="rect">
            <a:avLst/>
          </a:prstGeom>
          <a:noFill/>
          <a:ln/>
        </p:spPr>
        <p:txBody>
          <a:bodyPr wrap="square" lIns="0" tIns="0" rIns="0" bIns="0" rtlCol="0" anchor="ctr"/>
          <a:lstStyle/>
          <a:p>
            <a:pPr marL="0" indent="0" algn="l">
              <a:buNone/>
            </a:pPr>
            <a:r>
              <a:rPr lang="en-US" sz="2600" b="1" dirty="0">
                <a:solidFill>
                  <a:srgbClr val="1F2933"/>
                </a:solidFill>
                <a:latin typeface="Yu Gothic" pitchFamily="34" charset="0"/>
                <a:ea typeface="Yu Gothic" pitchFamily="34" charset="-122"/>
                <a:cs typeface="Yu Gothic" pitchFamily="34" charset="-120"/>
              </a:rPr>
              <a:t>シャントトラブル：穿刺困難</a:t>
            </a:r>
            <a:endParaRPr lang="en-US" sz="2600" dirty="0"/>
          </a:p>
        </p:txBody>
      </p:sp>
      <p:sp>
        <p:nvSpPr>
          <p:cNvPr id="3" name="Text 1"/>
          <p:cNvSpPr txBox="1"/>
          <p:nvPr/>
        </p:nvSpPr>
        <p:spPr>
          <a:xfrm>
            <a:off x="822960" y="960120"/>
            <a:ext cx="10058400" cy="365760"/>
          </a:xfrm>
          <a:prstGeom prst="rect">
            <a:avLst/>
          </a:prstGeom>
          <a:noFill/>
          <a:ln/>
        </p:spPr>
        <p:txBody>
          <a:bodyPr wrap="square" lIns="0" tIns="0" rIns="0" bIns="0" rtlCol="0" anchor="ctr"/>
          <a:lstStyle/>
          <a:p>
            <a:pPr marL="0" indent="0" algn="l">
              <a:buNone/>
            </a:pPr>
            <a:r>
              <a:rPr lang="en-US" sz="1400" b="1" dirty="0">
                <a:solidFill>
                  <a:srgbClr val="1F6F5C"/>
                </a:solidFill>
                <a:latin typeface="Yu Gothic" pitchFamily="34" charset="0"/>
                <a:ea typeface="Yu Gothic" pitchFamily="34" charset="-122"/>
                <a:cs typeface="Yu Gothic" pitchFamily="34" charset="-120"/>
              </a:rPr>
              <a:t>定義と原因を理解する</a:t>
            </a:r>
            <a:endParaRPr lang="en-US" sz="1400" dirty="0"/>
          </a:p>
        </p:txBody>
      </p:sp>
      <p:sp>
        <p:nvSpPr>
          <p:cNvPr id="4" name="Shape 2"/>
          <p:cNvSpPr/>
          <p:nvPr/>
        </p:nvSpPr>
        <p:spPr>
          <a:xfrm>
            <a:off x="10195560" y="365760"/>
            <a:ext cx="1600200" cy="438912"/>
          </a:xfrm>
          <a:prstGeom prst="roundRect">
            <a:avLst>
              <a:gd name="adj" fmla="val 16667"/>
            </a:avLst>
          </a:prstGeom>
          <a:solidFill>
            <a:srgbClr val="E7F3EF"/>
          </a:solidFill>
          <a:ln/>
        </p:spPr>
        <p:txBody>
          <a:bodyPr/>
          <a:lstStyle/>
          <a:p>
            <a:endParaRPr lang="ja-JP" altLang="en-US"/>
          </a:p>
        </p:txBody>
      </p:sp>
      <p:sp>
        <p:nvSpPr>
          <p:cNvPr id="5" name="Text 3"/>
          <p:cNvSpPr txBox="1"/>
          <p:nvPr/>
        </p:nvSpPr>
        <p:spPr>
          <a:xfrm>
            <a:off x="10195560" y="365760"/>
            <a:ext cx="1600200" cy="438912"/>
          </a:xfrm>
          <a:prstGeom prst="rect">
            <a:avLst/>
          </a:prstGeom>
          <a:noFill/>
          <a:ln/>
        </p:spPr>
        <p:txBody>
          <a:bodyPr wrap="square" lIns="0" tIns="0" rIns="0" bIns="0" rtlCol="0" anchor="ctr"/>
          <a:lstStyle/>
          <a:p>
            <a:pPr marL="0" indent="0" algn="ctr">
              <a:buNone/>
            </a:pPr>
            <a:r>
              <a:rPr lang="en-US" sz="1100" b="1" dirty="0">
                <a:solidFill>
                  <a:srgbClr val="1F6F5C"/>
                </a:solidFill>
                <a:latin typeface="Yu Gothic" pitchFamily="34" charset="0"/>
                <a:ea typeface="Yu Gothic" pitchFamily="34" charset="-122"/>
                <a:cs typeface="Yu Gothic" pitchFamily="34" charset="-120"/>
              </a:rPr>
              <a:t>透析時のトラブル</a:t>
            </a:r>
            <a:endParaRPr lang="en-US" sz="1100" dirty="0"/>
          </a:p>
        </p:txBody>
      </p:sp>
      <p:sp>
        <p:nvSpPr>
          <p:cNvPr id="6" name="Shape 4"/>
          <p:cNvSpPr/>
          <p:nvPr/>
        </p:nvSpPr>
        <p:spPr>
          <a:xfrm>
            <a:off x="502920" y="1600200"/>
            <a:ext cx="11155680" cy="1005840"/>
          </a:xfrm>
          <a:prstGeom prst="roundRect">
            <a:avLst>
              <a:gd name="adj" fmla="val 9091"/>
            </a:avLst>
          </a:prstGeom>
          <a:solidFill>
            <a:srgbClr val="EEF5F3"/>
          </a:solidFill>
          <a:ln/>
        </p:spPr>
        <p:txBody>
          <a:bodyPr/>
          <a:lstStyle/>
          <a:p>
            <a:endParaRPr lang="ja-JP" altLang="en-US"/>
          </a:p>
        </p:txBody>
      </p:sp>
      <p:sp>
        <p:nvSpPr>
          <p:cNvPr id="7" name="Shape 5"/>
          <p:cNvSpPr/>
          <p:nvPr/>
        </p:nvSpPr>
        <p:spPr>
          <a:xfrm>
            <a:off x="731520" y="1801368"/>
            <a:ext cx="1005840" cy="384048"/>
          </a:xfrm>
          <a:prstGeom prst="roundRect">
            <a:avLst>
              <a:gd name="adj" fmla="val 14286"/>
            </a:avLst>
          </a:prstGeom>
          <a:solidFill>
            <a:srgbClr val="33475B"/>
          </a:solidFill>
          <a:ln/>
        </p:spPr>
        <p:txBody>
          <a:bodyPr/>
          <a:lstStyle/>
          <a:p>
            <a:endParaRPr lang="ja-JP" altLang="en-US"/>
          </a:p>
        </p:txBody>
      </p:sp>
      <p:sp>
        <p:nvSpPr>
          <p:cNvPr id="8" name="Text 6"/>
          <p:cNvSpPr txBox="1"/>
          <p:nvPr/>
        </p:nvSpPr>
        <p:spPr>
          <a:xfrm>
            <a:off x="731520" y="1801368"/>
            <a:ext cx="100584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Yu Gothic" pitchFamily="34" charset="0"/>
                <a:ea typeface="Yu Gothic" pitchFamily="34" charset="-122"/>
                <a:cs typeface="Yu Gothic" pitchFamily="34" charset="-120"/>
              </a:rPr>
              <a:t>定義</a:t>
            </a:r>
            <a:endParaRPr lang="en-US" sz="1250" dirty="0"/>
          </a:p>
        </p:txBody>
      </p:sp>
      <p:sp>
        <p:nvSpPr>
          <p:cNvPr id="9" name="Text 7"/>
          <p:cNvSpPr txBox="1"/>
          <p:nvPr/>
        </p:nvSpPr>
        <p:spPr>
          <a:xfrm>
            <a:off x="1920240" y="1709928"/>
            <a:ext cx="9326880" cy="786384"/>
          </a:xfrm>
          <a:prstGeom prst="rect">
            <a:avLst/>
          </a:prstGeom>
          <a:noFill/>
          <a:ln/>
        </p:spPr>
        <p:txBody>
          <a:bodyPr wrap="square" lIns="0" tIns="0" rIns="0" bIns="0" rtlCol="0" anchor="ctr"/>
          <a:lstStyle/>
          <a:p>
            <a:pPr marL="0" indent="0" algn="l">
              <a:buNone/>
            </a:pPr>
            <a:r>
              <a:rPr lang="en-US" sz="1350" b="1" dirty="0">
                <a:solidFill>
                  <a:srgbClr val="1F2933"/>
                </a:solidFill>
                <a:latin typeface="Yu Gothic" pitchFamily="34" charset="0"/>
                <a:ea typeface="Yu Gothic" pitchFamily="34" charset="-122"/>
                <a:cs typeface="Yu Gothic" pitchFamily="34" charset="-120"/>
              </a:rPr>
              <a:t>血管内の適切な位置に穿刺針を留置することが困難であること。血管内に穿刺針（内針）を挿入できない場合と、穿刺針外套が進みにくい場合とがある。</a:t>
            </a:r>
            <a:endParaRPr lang="en-US" sz="1350" dirty="0"/>
          </a:p>
        </p:txBody>
      </p:sp>
      <p:sp>
        <p:nvSpPr>
          <p:cNvPr id="10" name="Shape 8"/>
          <p:cNvSpPr/>
          <p:nvPr/>
        </p:nvSpPr>
        <p:spPr>
          <a:xfrm>
            <a:off x="502920" y="2834640"/>
            <a:ext cx="11155680" cy="457200"/>
          </a:xfrm>
          <a:prstGeom prst="roundRect">
            <a:avLst>
              <a:gd name="adj" fmla="val 16000"/>
            </a:avLst>
          </a:prstGeom>
          <a:solidFill>
            <a:srgbClr val="5A7184"/>
          </a:solidFill>
          <a:ln/>
        </p:spPr>
        <p:txBody>
          <a:bodyPr/>
          <a:lstStyle/>
          <a:p>
            <a:endParaRPr lang="ja-JP" altLang="en-US"/>
          </a:p>
        </p:txBody>
      </p:sp>
      <p:sp>
        <p:nvSpPr>
          <p:cNvPr id="11" name="Text 9"/>
          <p:cNvSpPr txBox="1"/>
          <p:nvPr/>
        </p:nvSpPr>
        <p:spPr>
          <a:xfrm>
            <a:off x="777240" y="2834640"/>
            <a:ext cx="10607040" cy="457200"/>
          </a:xfrm>
          <a:prstGeom prst="rect">
            <a:avLst/>
          </a:prstGeom>
          <a:noFill/>
          <a:ln/>
        </p:spPr>
        <p:txBody>
          <a:bodyPr wrap="square" lIns="0" tIns="0" rIns="0" bIns="0" rtlCol="0" anchor="ctr"/>
          <a:lstStyle/>
          <a:p>
            <a:pPr marL="0" indent="0" algn="l">
              <a:buNone/>
            </a:pPr>
            <a:r>
              <a:rPr lang="en-US" sz="1500" b="1" dirty="0">
                <a:solidFill>
                  <a:srgbClr val="FFFFFF"/>
                </a:solidFill>
                <a:latin typeface="Yu Gothic" pitchFamily="34" charset="0"/>
                <a:ea typeface="Yu Gothic" pitchFamily="34" charset="-122"/>
                <a:cs typeface="Yu Gothic" pitchFamily="34" charset="-120"/>
              </a:rPr>
              <a:t>原因</a:t>
            </a:r>
            <a:endParaRPr lang="en-US" sz="1500" dirty="0"/>
          </a:p>
        </p:txBody>
      </p:sp>
      <p:sp>
        <p:nvSpPr>
          <p:cNvPr id="12" name="Shape 10"/>
          <p:cNvSpPr/>
          <p:nvPr/>
        </p:nvSpPr>
        <p:spPr>
          <a:xfrm>
            <a:off x="502920" y="3474720"/>
            <a:ext cx="11155680" cy="1394460"/>
          </a:xfrm>
          <a:prstGeom prst="roundRect">
            <a:avLst>
              <a:gd name="adj" fmla="val 5246"/>
            </a:avLst>
          </a:prstGeom>
          <a:solidFill>
            <a:srgbClr val="EEF5F3"/>
          </a:solidFill>
          <a:ln/>
        </p:spPr>
        <p:txBody>
          <a:bodyPr/>
          <a:lstStyle/>
          <a:p>
            <a:endParaRPr lang="ja-JP" altLang="en-US"/>
          </a:p>
        </p:txBody>
      </p:sp>
      <p:sp>
        <p:nvSpPr>
          <p:cNvPr id="13" name="Shape 11"/>
          <p:cNvSpPr/>
          <p:nvPr/>
        </p:nvSpPr>
        <p:spPr>
          <a:xfrm>
            <a:off x="704088" y="3639312"/>
            <a:ext cx="329184" cy="329184"/>
          </a:xfrm>
          <a:prstGeom prst="ellipse">
            <a:avLst/>
          </a:prstGeom>
          <a:solidFill>
            <a:srgbClr val="5A7184"/>
          </a:solidFill>
          <a:ln/>
        </p:spPr>
        <p:txBody>
          <a:bodyPr/>
          <a:lstStyle/>
          <a:p>
            <a:endParaRPr lang="ja-JP" altLang="en-US"/>
          </a:p>
        </p:txBody>
      </p:sp>
      <p:sp>
        <p:nvSpPr>
          <p:cNvPr id="14" name="Text 12"/>
          <p:cNvSpPr txBox="1"/>
          <p:nvPr/>
        </p:nvSpPr>
        <p:spPr>
          <a:xfrm>
            <a:off x="704088" y="36393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5" name="Text 13"/>
          <p:cNvSpPr txBox="1"/>
          <p:nvPr/>
        </p:nvSpPr>
        <p:spPr>
          <a:xfrm>
            <a:off x="1124712" y="3566160"/>
            <a:ext cx="10287000" cy="320040"/>
          </a:xfrm>
          <a:prstGeom prst="rect">
            <a:avLst/>
          </a:prstGeom>
          <a:noFill/>
          <a:ln/>
        </p:spPr>
        <p:txBody>
          <a:bodyPr wrap="square" lIns="0" tIns="0" rIns="0" bIns="0" rtlCol="0" anchor="t"/>
          <a:lstStyle/>
          <a:p>
            <a:pPr marL="0" indent="0" algn="l">
              <a:buNone/>
            </a:pPr>
            <a:r>
              <a:rPr lang="en-US" sz="1350" b="1" dirty="0">
                <a:solidFill>
                  <a:srgbClr val="1F2933"/>
                </a:solidFill>
                <a:latin typeface="Yu Gothic" pitchFamily="34" charset="0"/>
                <a:ea typeface="Yu Gothic" pitchFamily="34" charset="-122"/>
                <a:cs typeface="Yu Gothic" pitchFamily="34" charset="-120"/>
              </a:rPr>
              <a:t>内針を挿入できない場合</a:t>
            </a:r>
            <a:endParaRPr lang="en-US" sz="1350" dirty="0"/>
          </a:p>
        </p:txBody>
      </p:sp>
      <p:sp>
        <p:nvSpPr>
          <p:cNvPr id="16" name="Text 14"/>
          <p:cNvSpPr txBox="1"/>
          <p:nvPr/>
        </p:nvSpPr>
        <p:spPr>
          <a:xfrm>
            <a:off x="1124712" y="3895344"/>
            <a:ext cx="10149840" cy="909828"/>
          </a:xfrm>
          <a:prstGeom prst="rect">
            <a:avLst/>
          </a:prstGeom>
          <a:noFill/>
          <a:ln/>
        </p:spPr>
        <p:txBody>
          <a:bodyPr wrap="square" lIns="0" tIns="0" rIns="0" bIns="0" rtlCol="0" anchor="t"/>
          <a:lstStyle/>
          <a:p>
            <a:pPr marL="0" indent="0" algn="l">
              <a:buNone/>
            </a:pPr>
            <a:r>
              <a:rPr lang="en-US" sz="1050" dirty="0">
                <a:solidFill>
                  <a:srgbClr val="4B5B63"/>
                </a:solidFill>
                <a:latin typeface="Yu Gothic" pitchFamily="34" charset="0"/>
                <a:ea typeface="Yu Gothic" pitchFamily="34" charset="-122"/>
                <a:cs typeface="Yu Gothic" pitchFamily="34" charset="-120"/>
              </a:rPr>
              <a:t>狭窄、閉塞、壁在血栓、血管壁の石灰化、血管径が小さいまたは深い場合、血流量の低下、穿刺技術などが原因となる。</a:t>
            </a:r>
            <a:endParaRPr lang="en-US" sz="1050" dirty="0"/>
          </a:p>
        </p:txBody>
      </p:sp>
      <p:sp>
        <p:nvSpPr>
          <p:cNvPr id="17" name="Shape 15"/>
          <p:cNvSpPr/>
          <p:nvPr/>
        </p:nvSpPr>
        <p:spPr>
          <a:xfrm>
            <a:off x="502920" y="5006340"/>
            <a:ext cx="11155680" cy="1394460"/>
          </a:xfrm>
          <a:prstGeom prst="roundRect">
            <a:avLst>
              <a:gd name="adj" fmla="val 5246"/>
            </a:avLst>
          </a:prstGeom>
          <a:solidFill>
            <a:srgbClr val="EEF5F3"/>
          </a:solidFill>
          <a:ln/>
        </p:spPr>
        <p:txBody>
          <a:bodyPr/>
          <a:lstStyle/>
          <a:p>
            <a:endParaRPr lang="ja-JP" altLang="en-US"/>
          </a:p>
        </p:txBody>
      </p:sp>
      <p:sp>
        <p:nvSpPr>
          <p:cNvPr id="18" name="Shape 16"/>
          <p:cNvSpPr/>
          <p:nvPr/>
        </p:nvSpPr>
        <p:spPr>
          <a:xfrm>
            <a:off x="704088" y="5170932"/>
            <a:ext cx="329184" cy="329184"/>
          </a:xfrm>
          <a:prstGeom prst="ellipse">
            <a:avLst/>
          </a:prstGeom>
          <a:solidFill>
            <a:srgbClr val="5A7184"/>
          </a:solidFill>
          <a:ln/>
        </p:spPr>
        <p:txBody>
          <a:bodyPr/>
          <a:lstStyle/>
          <a:p>
            <a:endParaRPr lang="ja-JP" altLang="en-US"/>
          </a:p>
        </p:txBody>
      </p:sp>
      <p:sp>
        <p:nvSpPr>
          <p:cNvPr id="19" name="Text 17"/>
          <p:cNvSpPr txBox="1"/>
          <p:nvPr/>
        </p:nvSpPr>
        <p:spPr>
          <a:xfrm>
            <a:off x="704088" y="51709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20" name="Text 18"/>
          <p:cNvSpPr txBox="1"/>
          <p:nvPr/>
        </p:nvSpPr>
        <p:spPr>
          <a:xfrm>
            <a:off x="1124712" y="5097780"/>
            <a:ext cx="10287000" cy="320040"/>
          </a:xfrm>
          <a:prstGeom prst="rect">
            <a:avLst/>
          </a:prstGeom>
          <a:noFill/>
          <a:ln/>
        </p:spPr>
        <p:txBody>
          <a:bodyPr wrap="square" lIns="0" tIns="0" rIns="0" bIns="0" rtlCol="0" anchor="t"/>
          <a:lstStyle/>
          <a:p>
            <a:pPr marL="0" indent="0" algn="l">
              <a:buNone/>
            </a:pPr>
            <a:r>
              <a:rPr lang="en-US" sz="1350" b="1" dirty="0">
                <a:solidFill>
                  <a:srgbClr val="1F2933"/>
                </a:solidFill>
                <a:latin typeface="Yu Gothic" pitchFamily="34" charset="0"/>
                <a:ea typeface="Yu Gothic" pitchFamily="34" charset="-122"/>
                <a:cs typeface="Yu Gothic" pitchFamily="34" charset="-120"/>
              </a:rPr>
              <a:t>穿刺針外套が進まない場合</a:t>
            </a:r>
            <a:endParaRPr lang="en-US" sz="1350" dirty="0"/>
          </a:p>
        </p:txBody>
      </p:sp>
      <p:sp>
        <p:nvSpPr>
          <p:cNvPr id="21" name="Text 19"/>
          <p:cNvSpPr txBox="1"/>
          <p:nvPr/>
        </p:nvSpPr>
        <p:spPr>
          <a:xfrm>
            <a:off x="1124712" y="5426964"/>
            <a:ext cx="10149840" cy="909828"/>
          </a:xfrm>
          <a:prstGeom prst="rect">
            <a:avLst/>
          </a:prstGeom>
          <a:noFill/>
          <a:ln/>
        </p:spPr>
        <p:txBody>
          <a:bodyPr wrap="square" lIns="0" tIns="0" rIns="0" bIns="0" rtlCol="0" anchor="t"/>
          <a:lstStyle/>
          <a:p>
            <a:pPr marL="0" indent="0" algn="l">
              <a:buNone/>
            </a:pPr>
            <a:r>
              <a:rPr lang="en-US" sz="1050" dirty="0">
                <a:solidFill>
                  <a:srgbClr val="4B5B63"/>
                </a:solidFill>
                <a:latin typeface="Yu Gothic" pitchFamily="34" charset="0"/>
                <a:ea typeface="Yu Gothic" pitchFamily="34" charset="-122"/>
                <a:cs typeface="Yu Gothic" pitchFamily="34" charset="-120"/>
              </a:rPr>
              <a:t>狭窄、閉塞、壁在血栓、静脈弁、血管の蛇行、血管隔壁、穿刺技術などが原因となる。</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1B273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15600" cy="685800"/>
          </a:xfrm>
          <a:prstGeom prst="rect">
            <a:avLst/>
          </a:prstGeom>
          <a:noFill/>
          <a:ln/>
        </p:spPr>
        <p:txBody>
          <a:bodyPr wrap="square" lIns="0" tIns="0" rIns="0" bIns="0" rtlCol="0" anchor="ctr"/>
          <a:lstStyle/>
          <a:p>
            <a:pPr marL="0" indent="0" algn="l">
              <a:buNone/>
            </a:pPr>
            <a:r>
              <a:rPr lang="en-US" sz="3200" b="1" dirty="0">
                <a:solidFill>
                  <a:srgbClr val="FFFFFF"/>
                </a:solidFill>
                <a:latin typeface="Yu Gothic" pitchFamily="34" charset="0"/>
                <a:ea typeface="Yu Gothic" pitchFamily="34" charset="-122"/>
                <a:cs typeface="Yu Gothic" pitchFamily="34" charset="-120"/>
              </a:rPr>
              <a:t>まとめ</a:t>
            </a:r>
            <a:endParaRPr lang="en-US" sz="3200" dirty="0"/>
          </a:p>
        </p:txBody>
      </p:sp>
      <p:sp>
        <p:nvSpPr>
          <p:cNvPr id="4" name="Shape 2"/>
          <p:cNvSpPr/>
          <p:nvPr/>
        </p:nvSpPr>
        <p:spPr>
          <a:xfrm>
            <a:off x="822960" y="2057400"/>
            <a:ext cx="5120640" cy="1783080"/>
          </a:xfrm>
          <a:prstGeom prst="roundRect">
            <a:avLst>
              <a:gd name="adj" fmla="val 5128"/>
            </a:avLst>
          </a:prstGeom>
          <a:solidFill>
            <a:srgbClr val="26333F"/>
          </a:solidFill>
          <a:ln/>
        </p:spPr>
        <p:txBody>
          <a:bodyPr/>
          <a:lstStyle/>
          <a:p>
            <a:endParaRPr lang="ja-JP" altLang="en-US"/>
          </a:p>
        </p:txBody>
      </p:sp>
      <p:sp>
        <p:nvSpPr>
          <p:cNvPr id="5" name="Shape 3"/>
          <p:cNvSpPr/>
          <p:nvPr/>
        </p:nvSpPr>
        <p:spPr>
          <a:xfrm>
            <a:off x="1097280" y="2331720"/>
            <a:ext cx="685800" cy="685800"/>
          </a:xfrm>
          <a:prstGeom prst="ellipse">
            <a:avLst/>
          </a:prstGeom>
          <a:solidFill>
            <a:srgbClr val="FFFFFF"/>
          </a:solidFill>
          <a:ln/>
        </p:spPr>
        <p:txBody>
          <a:bodyPr/>
          <a:lstStyle/>
          <a:p>
            <a:endParaRPr lang="ja-JP" altLang="en-US"/>
          </a:p>
        </p:txBody>
      </p:sp>
      <p:pic>
        <p:nvPicPr>
          <p:cNvPr id="6" name="Image 0" descr="/home/claude/shunt_slides/icon_heartbeat.png"/>
          <p:cNvPicPr>
            <a:picLocks noChangeAspect="1"/>
          </p:cNvPicPr>
          <p:nvPr/>
        </p:nvPicPr>
        <p:blipFill>
          <a:blip r:embed="rId3"/>
          <a:stretch>
            <a:fillRect/>
          </a:stretch>
        </p:blipFill>
        <p:spPr>
          <a:xfrm>
            <a:off x="1234440" y="2468880"/>
            <a:ext cx="411480" cy="411480"/>
          </a:xfrm>
          <a:prstGeom prst="rect">
            <a:avLst/>
          </a:prstGeom>
        </p:spPr>
      </p:pic>
      <p:sp>
        <p:nvSpPr>
          <p:cNvPr id="7" name="Text 4"/>
          <p:cNvSpPr txBox="1"/>
          <p:nvPr/>
        </p:nvSpPr>
        <p:spPr>
          <a:xfrm>
            <a:off x="1965960" y="231343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VAは血液透析の生命線</a:t>
            </a:r>
            <a:endParaRPr lang="en-US" sz="1600" dirty="0"/>
          </a:p>
        </p:txBody>
      </p:sp>
      <p:sp>
        <p:nvSpPr>
          <p:cNvPr id="8" name="Text 5"/>
          <p:cNvSpPr txBox="1"/>
          <p:nvPr/>
        </p:nvSpPr>
        <p:spPr>
          <a:xfrm>
            <a:off x="1965960" y="274320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動静脈が短絡を形成する「シャント（AVF/AVG）」と、短絡のない「非シャント」に大別される</a:t>
            </a:r>
            <a:endParaRPr lang="en-US" sz="1250" dirty="0"/>
          </a:p>
        </p:txBody>
      </p:sp>
      <p:sp>
        <p:nvSpPr>
          <p:cNvPr id="9" name="Shape 6"/>
          <p:cNvSpPr/>
          <p:nvPr/>
        </p:nvSpPr>
        <p:spPr>
          <a:xfrm>
            <a:off x="6309360" y="2057400"/>
            <a:ext cx="5120640" cy="1783080"/>
          </a:xfrm>
          <a:prstGeom prst="roundRect">
            <a:avLst>
              <a:gd name="adj" fmla="val 5128"/>
            </a:avLst>
          </a:prstGeom>
          <a:solidFill>
            <a:srgbClr val="26333F"/>
          </a:solidFill>
          <a:ln/>
        </p:spPr>
        <p:txBody>
          <a:bodyPr/>
          <a:lstStyle/>
          <a:p>
            <a:endParaRPr lang="ja-JP" altLang="en-US"/>
          </a:p>
        </p:txBody>
      </p:sp>
      <p:sp>
        <p:nvSpPr>
          <p:cNvPr id="10" name="Shape 7"/>
          <p:cNvSpPr/>
          <p:nvPr/>
        </p:nvSpPr>
        <p:spPr>
          <a:xfrm>
            <a:off x="6583680" y="2331720"/>
            <a:ext cx="685800" cy="685800"/>
          </a:xfrm>
          <a:prstGeom prst="ellipse">
            <a:avLst/>
          </a:prstGeom>
          <a:solidFill>
            <a:srgbClr val="FFFFFF"/>
          </a:solidFill>
          <a:ln/>
        </p:spPr>
        <p:txBody>
          <a:bodyPr/>
          <a:lstStyle/>
          <a:p>
            <a:endParaRPr lang="ja-JP" altLang="en-US"/>
          </a:p>
        </p:txBody>
      </p:sp>
      <p:pic>
        <p:nvPicPr>
          <p:cNvPr id="11" name="Image 1" descr="/home/claude/shunt_slides/icon_search.png"/>
          <p:cNvPicPr>
            <a:picLocks noChangeAspect="1"/>
          </p:cNvPicPr>
          <p:nvPr/>
        </p:nvPicPr>
        <p:blipFill>
          <a:blip r:embed="rId4"/>
          <a:stretch>
            <a:fillRect/>
          </a:stretch>
        </p:blipFill>
        <p:spPr>
          <a:xfrm>
            <a:off x="6720840" y="2468880"/>
            <a:ext cx="411480" cy="411480"/>
          </a:xfrm>
          <a:prstGeom prst="rect">
            <a:avLst/>
          </a:prstGeom>
        </p:spPr>
      </p:pic>
      <p:sp>
        <p:nvSpPr>
          <p:cNvPr id="12" name="Text 8"/>
          <p:cNvSpPr txBox="1"/>
          <p:nvPr/>
        </p:nvSpPr>
        <p:spPr>
          <a:xfrm>
            <a:off x="7452360" y="231343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血管解剖が評価の土台になる</a:t>
            </a:r>
            <a:endParaRPr lang="en-US" sz="1600" dirty="0"/>
          </a:p>
        </p:txBody>
      </p:sp>
      <p:sp>
        <p:nvSpPr>
          <p:cNvPr id="13" name="Text 9"/>
          <p:cNvSpPr txBox="1"/>
          <p:nvPr/>
        </p:nvSpPr>
        <p:spPr>
          <a:xfrm>
            <a:off x="7452360" y="274320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上肢の動脈・静脈の走行を理解することで、VAの構造や異常部位を把握しやすくなる</a:t>
            </a:r>
            <a:endParaRPr lang="en-US" sz="1250" dirty="0"/>
          </a:p>
        </p:txBody>
      </p:sp>
      <p:sp>
        <p:nvSpPr>
          <p:cNvPr id="14" name="Shape 10"/>
          <p:cNvSpPr/>
          <p:nvPr/>
        </p:nvSpPr>
        <p:spPr>
          <a:xfrm>
            <a:off x="822960" y="4160520"/>
            <a:ext cx="5120640" cy="1783080"/>
          </a:xfrm>
          <a:prstGeom prst="roundRect">
            <a:avLst>
              <a:gd name="adj" fmla="val 5128"/>
            </a:avLst>
          </a:prstGeom>
          <a:solidFill>
            <a:srgbClr val="26333F"/>
          </a:solidFill>
          <a:ln/>
        </p:spPr>
        <p:txBody>
          <a:bodyPr/>
          <a:lstStyle/>
          <a:p>
            <a:endParaRPr lang="ja-JP" altLang="en-US"/>
          </a:p>
        </p:txBody>
      </p:sp>
      <p:sp>
        <p:nvSpPr>
          <p:cNvPr id="15" name="Shape 11"/>
          <p:cNvSpPr/>
          <p:nvPr/>
        </p:nvSpPr>
        <p:spPr>
          <a:xfrm>
            <a:off x="1097280" y="4434840"/>
            <a:ext cx="685800" cy="685800"/>
          </a:xfrm>
          <a:prstGeom prst="ellipse">
            <a:avLst/>
          </a:prstGeom>
          <a:solidFill>
            <a:srgbClr val="FFFFFF"/>
          </a:solidFill>
          <a:ln/>
        </p:spPr>
        <p:txBody>
          <a:bodyPr/>
          <a:lstStyle/>
          <a:p>
            <a:endParaRPr lang="ja-JP" altLang="en-US"/>
          </a:p>
        </p:txBody>
      </p:sp>
      <p:pic>
        <p:nvPicPr>
          <p:cNvPr id="16" name="Image 2" descr="/home/claude/shunt_slides/icon_warning.png"/>
          <p:cNvPicPr>
            <a:picLocks noChangeAspect="1"/>
          </p:cNvPicPr>
          <p:nvPr/>
        </p:nvPicPr>
        <p:blipFill>
          <a:blip r:embed="rId5"/>
          <a:stretch>
            <a:fillRect/>
          </a:stretch>
        </p:blipFill>
        <p:spPr>
          <a:xfrm>
            <a:off x="1234440" y="4572000"/>
            <a:ext cx="411480" cy="411480"/>
          </a:xfrm>
          <a:prstGeom prst="rect">
            <a:avLst/>
          </a:prstGeom>
        </p:spPr>
      </p:pic>
      <p:sp>
        <p:nvSpPr>
          <p:cNvPr id="17" name="Text 12"/>
          <p:cNvSpPr txBox="1"/>
          <p:nvPr/>
        </p:nvSpPr>
        <p:spPr>
          <a:xfrm>
            <a:off x="1965960" y="441655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身体所見で異常を推測できる</a:t>
            </a:r>
            <a:endParaRPr lang="en-US" sz="1600" dirty="0"/>
          </a:p>
        </p:txBody>
      </p:sp>
      <p:sp>
        <p:nvSpPr>
          <p:cNvPr id="18" name="Text 13"/>
          <p:cNvSpPr txBox="1"/>
          <p:nvPr/>
        </p:nvSpPr>
        <p:spPr>
          <a:xfrm>
            <a:off x="1965960" y="484632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視診・触診・聴診によって、血流の程度や病変部位をおおまかに推測できる</a:t>
            </a:r>
            <a:endParaRPr lang="en-US" sz="1250" dirty="0"/>
          </a:p>
        </p:txBody>
      </p:sp>
      <p:sp>
        <p:nvSpPr>
          <p:cNvPr id="19" name="Shape 14"/>
          <p:cNvSpPr/>
          <p:nvPr/>
        </p:nvSpPr>
        <p:spPr>
          <a:xfrm>
            <a:off x="6309360" y="4160520"/>
            <a:ext cx="5120640" cy="1783080"/>
          </a:xfrm>
          <a:prstGeom prst="roundRect">
            <a:avLst>
              <a:gd name="adj" fmla="val 5128"/>
            </a:avLst>
          </a:prstGeom>
          <a:solidFill>
            <a:srgbClr val="26333F"/>
          </a:solidFill>
          <a:ln/>
        </p:spPr>
        <p:txBody>
          <a:bodyPr/>
          <a:lstStyle/>
          <a:p>
            <a:endParaRPr lang="ja-JP" altLang="en-US"/>
          </a:p>
        </p:txBody>
      </p:sp>
      <p:sp>
        <p:nvSpPr>
          <p:cNvPr id="20" name="Shape 15"/>
          <p:cNvSpPr/>
          <p:nvPr/>
        </p:nvSpPr>
        <p:spPr>
          <a:xfrm>
            <a:off x="6583680" y="4434840"/>
            <a:ext cx="685800" cy="685800"/>
          </a:xfrm>
          <a:prstGeom prst="ellipse">
            <a:avLst/>
          </a:prstGeom>
          <a:solidFill>
            <a:srgbClr val="FFFFFF"/>
          </a:solidFill>
          <a:ln/>
        </p:spPr>
        <p:txBody>
          <a:bodyPr/>
          <a:lstStyle/>
          <a:p>
            <a:endParaRPr lang="ja-JP" altLang="en-US"/>
          </a:p>
        </p:txBody>
      </p:sp>
      <p:pic>
        <p:nvPicPr>
          <p:cNvPr id="21" name="Image 3" descr="/home/claude/shunt_slides/icon_users.png"/>
          <p:cNvPicPr>
            <a:picLocks noChangeAspect="1"/>
          </p:cNvPicPr>
          <p:nvPr/>
        </p:nvPicPr>
        <p:blipFill>
          <a:blip r:embed="rId6"/>
          <a:stretch>
            <a:fillRect/>
          </a:stretch>
        </p:blipFill>
        <p:spPr>
          <a:xfrm>
            <a:off x="6720840" y="4572000"/>
            <a:ext cx="411480" cy="411480"/>
          </a:xfrm>
          <a:prstGeom prst="rect">
            <a:avLst/>
          </a:prstGeom>
        </p:spPr>
      </p:pic>
      <p:sp>
        <p:nvSpPr>
          <p:cNvPr id="22" name="Text 16"/>
          <p:cNvSpPr txBox="1"/>
          <p:nvPr/>
        </p:nvSpPr>
        <p:spPr>
          <a:xfrm>
            <a:off x="7452360" y="4416552"/>
            <a:ext cx="374904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Yu Gothic" pitchFamily="34" charset="0"/>
                <a:ea typeface="Yu Gothic" pitchFamily="34" charset="-122"/>
                <a:cs typeface="Yu Gothic" pitchFamily="34" charset="-120"/>
              </a:rPr>
              <a:t>早期発見が次のステップへの土台</a:t>
            </a:r>
            <a:endParaRPr lang="en-US" sz="1600" dirty="0"/>
          </a:p>
        </p:txBody>
      </p:sp>
      <p:sp>
        <p:nvSpPr>
          <p:cNvPr id="23" name="Text 17"/>
          <p:cNvSpPr txBox="1"/>
          <p:nvPr/>
        </p:nvSpPr>
        <p:spPr>
          <a:xfrm>
            <a:off x="7452360" y="4846320"/>
            <a:ext cx="3749040" cy="914400"/>
          </a:xfrm>
          <a:prstGeom prst="rect">
            <a:avLst/>
          </a:prstGeom>
          <a:noFill/>
          <a:ln/>
        </p:spPr>
        <p:txBody>
          <a:bodyPr wrap="square" lIns="0" tIns="0" rIns="0" bIns="0" rtlCol="0" anchor="t"/>
          <a:lstStyle/>
          <a:p>
            <a:pPr marL="0" indent="0" algn="l">
              <a:buNone/>
            </a:pPr>
            <a:r>
              <a:rPr lang="en-US" sz="1250" dirty="0">
                <a:solidFill>
                  <a:srgbClr val="C6D0D6"/>
                </a:solidFill>
                <a:latin typeface="Yu Gothic" pitchFamily="34" charset="0"/>
                <a:ea typeface="Yu Gothic" pitchFamily="34" charset="-122"/>
                <a:cs typeface="Yu Gothic" pitchFamily="34" charset="-120"/>
              </a:rPr>
              <a:t>基礎知識の共有が、多職種連携と超音波検査による精密な評価につながる</a:t>
            </a:r>
            <a:endParaRPr lang="en-US" sz="1250" dirty="0"/>
          </a:p>
        </p:txBody>
      </p:sp>
      <p:sp>
        <p:nvSpPr>
          <p:cNvPr id="24" name="Shape 18"/>
          <p:cNvSpPr/>
          <p:nvPr/>
        </p:nvSpPr>
        <p:spPr>
          <a:xfrm>
            <a:off x="822960" y="6172200"/>
            <a:ext cx="10515600" cy="0"/>
          </a:xfrm>
          <a:prstGeom prst="line">
            <a:avLst/>
          </a:prstGeom>
          <a:noFill/>
          <a:ln w="19050">
            <a:solidFill>
              <a:srgbClr val="4FC3A1"/>
            </a:solidFill>
            <a:prstDash val="solid"/>
          </a:ln>
        </p:spPr>
        <p:txBody>
          <a:bodyPr/>
          <a:lstStyle/>
          <a:p>
            <a:endParaRPr lang="ja-JP"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965</Words>
  <Application>Microsoft Office PowerPoint</Application>
  <PresentationFormat>ワイド画面</PresentationFormat>
  <Paragraphs>322</Paragraphs>
  <Slides>21</Slides>
  <Notes>13</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21</vt:i4>
      </vt:variant>
    </vt:vector>
  </HeadingPairs>
  <TitlesOfParts>
    <vt:vector size="24"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吻合種類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裕貴 田代</cp:lastModifiedBy>
  <cp:revision>8</cp:revision>
  <dcterms:created xsi:type="dcterms:W3CDTF">2026-09-13T13:47:18Z</dcterms:created>
  <dcterms:modified xsi:type="dcterms:W3CDTF">2026-09-14T02:38:06Z</dcterms:modified>
</cp:coreProperties>
</file>