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72" r:id="rId6"/>
    <p:sldId id="271" r:id="rId7"/>
    <p:sldId id="270" r:id="rId8"/>
    <p:sldId id="273" r:id="rId9"/>
    <p:sldId id="262" r:id="rId10"/>
    <p:sldId id="264" r:id="rId11"/>
    <p:sldId id="261" r:id="rId12"/>
    <p:sldId id="265" r:id="rId13"/>
    <p:sldId id="267" r:id="rId14"/>
    <p:sldId id="268" r:id="rId15"/>
    <p:sldId id="269" r:id="rId16"/>
    <p:sldId id="274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831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0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7047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C7595-852F-706B-098D-BB0A5937D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1B768F-F419-B4F9-5D68-25D898268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10BE02-7C11-3F62-53C7-76C75CF7A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58F1C-DEDE-FED2-0D55-95917CD73E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880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409E1-A347-4EA2-47F7-93D6502AD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645B59-3B16-9C0A-E64E-65EC39BC59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B6B57-C4F3-B2CC-3DCB-2EAD8CD07D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558865-D6DC-BB4B-776E-39E11FA704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8554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3317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透析中の警報アラーム対応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37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透析未経験看護師・新人臨床工学技士のための基礎研修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3977640"/>
            <a:ext cx="2926080" cy="0"/>
          </a:xfrm>
          <a:prstGeom prst="line">
            <a:avLst/>
          </a:prstGeom>
          <a:noFill/>
          <a:ln w="38100">
            <a:solidFill>
              <a:srgbClr val="0F6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4160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原因 → 確認 → 対応 を1枚ずつ、共通フォーマットで解説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A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なぜアラーム対応を学ぶのか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0700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透析は体外循環という特性上、対応の遅れがそのまま致死的な合併症につながり得ます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111496" cy="1783080"/>
          </a:xfrm>
          <a:prstGeom prst="roundRect">
            <a:avLst>
              <a:gd name="adj" fmla="val 6154"/>
            </a:avLst>
          </a:prstGeom>
          <a:solidFill>
            <a:srgbClr val="27364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097280" y="22402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drople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2395728"/>
            <a:ext cx="457200" cy="457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7400" y="2221992"/>
            <a:ext cx="3648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大量出血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2057400" y="2679192"/>
            <a:ext cx="3648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抜針・回路離断が起きると短時間で大量出血につながる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54496" y="1965960"/>
            <a:ext cx="5111496" cy="1783080"/>
          </a:xfrm>
          <a:prstGeom prst="roundRect">
            <a:avLst>
              <a:gd name="adj" fmla="val 6154"/>
            </a:avLst>
          </a:prstGeom>
          <a:solidFill>
            <a:srgbClr val="27364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6528816" y="22402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b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4264" y="2395728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88936" y="2221992"/>
            <a:ext cx="3648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回路閉塞・凝血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7488936" y="2679192"/>
            <a:ext cx="3648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対応が遅れると生命維持(血液浄化)そのものができなくなる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22960" y="4023360"/>
            <a:ext cx="5111496" cy="1783080"/>
          </a:xfrm>
          <a:prstGeom prst="roundRect">
            <a:avLst>
              <a:gd name="adj" fmla="val 6154"/>
            </a:avLst>
          </a:prstGeom>
          <a:solidFill>
            <a:srgbClr val="27364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1"/>
          <p:cNvSpPr/>
          <p:nvPr/>
        </p:nvSpPr>
        <p:spPr>
          <a:xfrm>
            <a:off x="1097280" y="42976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2" descr="wi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728" y="445312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057400" y="4279392"/>
            <a:ext cx="3648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空気塞栓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2057400" y="4736592"/>
            <a:ext cx="3648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微量の気泡でも心臓・脳に達すれば重篤化しうる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54496" y="4023360"/>
            <a:ext cx="5111496" cy="1783080"/>
          </a:xfrm>
          <a:prstGeom prst="roundRect">
            <a:avLst>
              <a:gd name="adj" fmla="val 6154"/>
            </a:avLst>
          </a:prstGeom>
          <a:solidFill>
            <a:srgbClr val="27364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5"/>
          <p:cNvSpPr/>
          <p:nvPr/>
        </p:nvSpPr>
        <p:spPr>
          <a:xfrm>
            <a:off x="6528816" y="42976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3" descr="heartbe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4264" y="4453128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88936" y="4279392"/>
            <a:ext cx="3648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血圧低下・ショック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7488936" y="4736592"/>
            <a:ext cx="3648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除水や体外循環により循環動態が急変することがある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822960" y="5897880"/>
            <a:ext cx="10515600" cy="0"/>
          </a:xfrm>
          <a:prstGeom prst="line">
            <a:avLst/>
          </a:prstGeom>
          <a:noFill/>
          <a:ln w="19050">
            <a:solidFill>
              <a:srgbClr val="3FA79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5" name="Text 19"/>
          <p:cNvSpPr txBox="1"/>
          <p:nvPr/>
        </p:nvSpPr>
        <p:spPr>
          <a:xfrm>
            <a:off x="822960" y="60167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i="1" dirty="0">
                <a:solidFill>
                  <a:srgbClr val="3FA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アラームは、これらの致死的合併症を未然に防ぐための「最後の砦」です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透析回路の基本構造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各アラームを理解するための土台となる、回路の名称と役割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149840" y="27432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10149840" y="2743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前提知識</a:t>
            </a:r>
            <a:endParaRPr lang="en-US" sz="1200" dirty="0"/>
          </a:p>
        </p:txBody>
      </p:sp>
      <p:pic>
        <p:nvPicPr>
          <p:cNvPr id="6" name="Image 0" descr="circuit_r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70432"/>
            <a:ext cx="7315200" cy="4876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32535" y="3368802"/>
            <a:ext cx="365760" cy="365760"/>
          </a:xfrm>
          <a:prstGeom prst="ellipse">
            <a:avLst/>
          </a:prstGeom>
          <a:solidFill>
            <a:srgbClr val="0F6E6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 txBox="1"/>
          <p:nvPr/>
        </p:nvSpPr>
        <p:spPr>
          <a:xfrm>
            <a:off x="1232535" y="336880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03847" y="2035302"/>
            <a:ext cx="365760" cy="365760"/>
          </a:xfrm>
          <a:prstGeom prst="ellipse">
            <a:avLst/>
          </a:prstGeom>
          <a:solidFill>
            <a:srgbClr val="0F6E6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 txBox="1"/>
          <p:nvPr/>
        </p:nvSpPr>
        <p:spPr>
          <a:xfrm>
            <a:off x="303847" y="203530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1660" y="2082927"/>
            <a:ext cx="365760" cy="365760"/>
          </a:xfrm>
          <a:prstGeom prst="ellipse">
            <a:avLst/>
          </a:prstGeom>
          <a:solidFill>
            <a:srgbClr val="0F6E6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9"/>
          <p:cNvSpPr txBox="1"/>
          <p:nvPr/>
        </p:nvSpPr>
        <p:spPr>
          <a:xfrm>
            <a:off x="5661660" y="2082927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994660" y="4035552"/>
            <a:ext cx="365760" cy="365760"/>
          </a:xfrm>
          <a:prstGeom prst="ellipse">
            <a:avLst/>
          </a:prstGeom>
          <a:solidFill>
            <a:srgbClr val="0F6E6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 txBox="1"/>
          <p:nvPr/>
        </p:nvSpPr>
        <p:spPr>
          <a:xfrm>
            <a:off x="2994660" y="4035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818120" y="1170432"/>
            <a:ext cx="3886200" cy="1170432"/>
          </a:xfrm>
          <a:prstGeom prst="roundRect">
            <a:avLst>
              <a:gd name="adj" fmla="val 9375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3"/>
          <p:cNvSpPr/>
          <p:nvPr/>
        </p:nvSpPr>
        <p:spPr>
          <a:xfrm>
            <a:off x="8019288" y="1353312"/>
            <a:ext cx="502920" cy="502920"/>
          </a:xfrm>
          <a:prstGeom prst="ellipse">
            <a:avLst/>
          </a:prstGeom>
          <a:solidFill>
            <a:srgbClr val="0F6E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4"/>
          <p:cNvSpPr txBox="1"/>
          <p:nvPr/>
        </p:nvSpPr>
        <p:spPr>
          <a:xfrm>
            <a:off x="8019288" y="1353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8659368" y="12984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脱血側(動脈側・A)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8659368" y="160934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患者から血液を体外に引き出すライン。血液ポンプの吸引力がかかる区間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818120" y="2468880"/>
            <a:ext cx="3886200" cy="1170432"/>
          </a:xfrm>
          <a:prstGeom prst="roundRect">
            <a:avLst>
              <a:gd name="adj" fmla="val 9375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8"/>
          <p:cNvSpPr/>
          <p:nvPr/>
        </p:nvSpPr>
        <p:spPr>
          <a:xfrm>
            <a:off x="8019288" y="2651760"/>
            <a:ext cx="502920" cy="502920"/>
          </a:xfrm>
          <a:prstGeom prst="ellipse">
            <a:avLst/>
          </a:prstGeom>
          <a:solidFill>
            <a:srgbClr val="0F6E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 txBox="1"/>
          <p:nvPr/>
        </p:nvSpPr>
        <p:spPr>
          <a:xfrm>
            <a:off x="8019288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8659368" y="259689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返血側(静脈側・V)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8659368" y="290779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ダイアライザを通った血液を体内に戻すライン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818120" y="3767328"/>
            <a:ext cx="3886200" cy="1170432"/>
          </a:xfrm>
          <a:prstGeom prst="roundRect">
            <a:avLst>
              <a:gd name="adj" fmla="val 9375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3"/>
          <p:cNvSpPr/>
          <p:nvPr/>
        </p:nvSpPr>
        <p:spPr>
          <a:xfrm>
            <a:off x="8019288" y="3950208"/>
            <a:ext cx="502920" cy="502920"/>
          </a:xfrm>
          <a:prstGeom prst="ellipse">
            <a:avLst/>
          </a:prstGeom>
          <a:solidFill>
            <a:srgbClr val="0F6E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4"/>
          <p:cNvSpPr txBox="1"/>
          <p:nvPr/>
        </p:nvSpPr>
        <p:spPr>
          <a:xfrm>
            <a:off x="8019288" y="39502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8659368" y="38953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ダイアライザ(人工腎臓)</a:t>
            </a:r>
            <a:endParaRPr lang="en-US" sz="1450" dirty="0"/>
          </a:p>
        </p:txBody>
      </p:sp>
      <p:sp>
        <p:nvSpPr>
          <p:cNvPr id="29" name="Text 26"/>
          <p:cNvSpPr txBox="1"/>
          <p:nvPr/>
        </p:nvSpPr>
        <p:spPr>
          <a:xfrm>
            <a:off x="8659368" y="42062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半透膜を介して老廃物・余分な水分を除去する回路の中心部品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818120" y="5065776"/>
            <a:ext cx="3886200" cy="1170432"/>
          </a:xfrm>
          <a:prstGeom prst="roundRect">
            <a:avLst>
              <a:gd name="adj" fmla="val 9375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8"/>
          <p:cNvSpPr/>
          <p:nvPr/>
        </p:nvSpPr>
        <p:spPr>
          <a:xfrm>
            <a:off x="8019288" y="5248656"/>
            <a:ext cx="502920" cy="502920"/>
          </a:xfrm>
          <a:prstGeom prst="ellipse">
            <a:avLst/>
          </a:prstGeom>
          <a:solidFill>
            <a:srgbClr val="0F6E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2" name="Text 29"/>
          <p:cNvSpPr txBox="1"/>
          <p:nvPr/>
        </p:nvSpPr>
        <p:spPr>
          <a:xfrm>
            <a:off x="8019288" y="52486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8659368" y="51937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安全装置</a:t>
            </a:r>
            <a:endParaRPr lang="en-US" sz="1450" dirty="0"/>
          </a:p>
        </p:txBody>
      </p:sp>
      <p:sp>
        <p:nvSpPr>
          <p:cNvPr id="34" name="Text 31"/>
          <p:cNvSpPr txBox="1"/>
          <p:nvPr/>
        </p:nvSpPr>
        <p:spPr>
          <a:xfrm>
            <a:off x="8659368" y="5504688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気泡検知器・血液漏れ検知器など。異常を検知し自動でポンプを停止させる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静脈圧</a:t>
            </a:r>
            <a:r>
              <a:rPr lang="ja-JP" alt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上限</a:t>
            </a:r>
            <a:r>
              <a:rPr lang="en-US" sz="3000" b="1" dirty="0" err="1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アラーム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静脈側(返血路)のどこかで抵抗が生じている可能性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149840" y="27432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10149840" y="2743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圧力系アラーム</a:t>
            </a:r>
            <a:endParaRPr lang="en-US" sz="1200" dirty="0"/>
          </a:p>
        </p:txBody>
      </p:sp>
      <p:pic>
        <p:nvPicPr>
          <p:cNvPr id="6" name="Image 0" descr="circuit_r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70432"/>
            <a:ext cx="7315200" cy="4876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91478" y="1837182"/>
            <a:ext cx="762000" cy="3143250"/>
          </a:xfrm>
          <a:prstGeom prst="roundRect">
            <a:avLst>
              <a:gd name="adj" fmla="val 12000"/>
            </a:avLst>
          </a:prstGeom>
          <a:solidFill>
            <a:srgbClr val="C0392B">
              <a:alpha val="8000"/>
            </a:srgbClr>
          </a:solidFill>
          <a:ln w="3175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1" descr="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58" y="1544574"/>
            <a:ext cx="384048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153478" y="4027990"/>
            <a:ext cx="4703312" cy="1568815"/>
          </a:xfrm>
          <a:prstGeom prst="roundRect">
            <a:avLst>
              <a:gd name="adj" fmla="val 6621"/>
            </a:avLst>
          </a:prstGeom>
          <a:solidFill>
            <a:srgbClr val="C0392B">
              <a:alpha val="8000"/>
            </a:srgbClr>
          </a:solidFill>
          <a:ln w="3175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6"/>
          <p:cNvSpPr/>
          <p:nvPr/>
        </p:nvSpPr>
        <p:spPr>
          <a:xfrm>
            <a:off x="7818120" y="1170432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7"/>
          <p:cNvSpPr/>
          <p:nvPr/>
        </p:nvSpPr>
        <p:spPr>
          <a:xfrm>
            <a:off x="8019288" y="13533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2" descr="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72184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732520" y="131673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原因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074152" y="1737360"/>
            <a:ext cx="3374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屈曲・穿刺針の位置ずれ・凝血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818120" y="2788920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1"/>
          <p:cNvSpPr/>
          <p:nvPr/>
        </p:nvSpPr>
        <p:spPr>
          <a:xfrm>
            <a:off x="8019288" y="29718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3" descr="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309067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732520" y="293522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確認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8074152" y="3355848"/>
            <a:ext cx="3374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Vチャンバ → 気泡検知器 → クランプ → 穿刺部の順に確認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818120" y="4407408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5"/>
          <p:cNvSpPr/>
          <p:nvPr/>
        </p:nvSpPr>
        <p:spPr>
          <a:xfrm>
            <a:off x="8019288" y="45902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4" descr="ha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4709160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732520" y="455371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対応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8074152" y="4974336"/>
            <a:ext cx="3374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是正後に再開。改善なければ返血準備・報告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9875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静脈圧上限アラーム — 発生タイミング別の原因整理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「いつ鳴ったか」で、疑うべき原因の重み付けが変わる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149840" y="27432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10149840" y="2743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圧力系アラーム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70248" y="1234440"/>
            <a:ext cx="3657600" cy="502920"/>
          </a:xfrm>
          <a:prstGeom prst="roundRect">
            <a:avLst>
              <a:gd name="adj" fmla="val 50909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4270248" y="12344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静脈圧上限アラームが鳴った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48" y="1737360"/>
            <a:ext cx="0" cy="228600"/>
          </a:xfrm>
          <a:prstGeom prst="line">
            <a:avLst/>
          </a:prstGeom>
          <a:noFill/>
          <a:ln w="31750">
            <a:solidFill>
              <a:srgbClr val="1E2A38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 flipH="1">
            <a:off x="3154679" y="1965960"/>
            <a:ext cx="2935223" cy="411480"/>
          </a:xfrm>
          <a:prstGeom prst="line">
            <a:avLst/>
          </a:prstGeom>
          <a:noFill/>
          <a:ln w="31750">
            <a:solidFill>
              <a:srgbClr val="1E2A38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099048" y="1965960"/>
            <a:ext cx="2953512" cy="411480"/>
          </a:xfrm>
          <a:prstGeom prst="line">
            <a:avLst/>
          </a:prstGeom>
          <a:noFill/>
          <a:ln w="31750">
            <a:solidFill>
              <a:srgbClr val="1E2A38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5257800" cy="3246120"/>
          </a:xfrm>
          <a:prstGeom prst="roundRect">
            <a:avLst>
              <a:gd name="adj" fmla="val 3380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5257800" cy="502920"/>
          </a:xfrm>
          <a:prstGeom prst="roundRect">
            <a:avLst>
              <a:gd name="adj" fmla="val 21818"/>
            </a:avLst>
          </a:prstGeom>
          <a:solidFill>
            <a:srgbClr val="0F6E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548640" y="2752344"/>
            <a:ext cx="5257800" cy="128016"/>
          </a:xfrm>
          <a:prstGeom prst="rect">
            <a:avLst/>
          </a:prstGeom>
          <a:solidFill>
            <a:srgbClr val="0F6E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731520" y="23774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透析開始時に鳴る場合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063240"/>
            <a:ext cx="4709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回路の折れ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ラインクランプを閉めている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針先の凝固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針先が血管壁に当たっている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82512" y="2377440"/>
            <a:ext cx="5257800" cy="3246120"/>
          </a:xfrm>
          <a:prstGeom prst="roundRect">
            <a:avLst>
              <a:gd name="adj" fmla="val 3380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382512" y="2377440"/>
            <a:ext cx="5257800" cy="502920"/>
          </a:xfrm>
          <a:prstGeom prst="roundRect">
            <a:avLst>
              <a:gd name="adj" fmla="val 21818"/>
            </a:avLst>
          </a:prstGeom>
          <a:solidFill>
            <a:srgbClr val="0F6E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6382512" y="2752344"/>
            <a:ext cx="5257800" cy="128016"/>
          </a:xfrm>
          <a:prstGeom prst="rect">
            <a:avLst/>
          </a:prstGeom>
          <a:solidFill>
            <a:srgbClr val="0F6E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 txBox="1"/>
          <p:nvPr/>
        </p:nvSpPr>
        <p:spPr>
          <a:xfrm>
            <a:off x="6565392" y="23774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透析中に鳴る場合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656832" y="3063240"/>
            <a:ext cx="4709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回路の折れ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針先の凝固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針先が血管壁に当たっている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回路(チャンバ)内の凝固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腕を曲げた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5989320"/>
            <a:ext cx="11274552" cy="548640"/>
          </a:xfrm>
          <a:prstGeom prst="roundRect">
            <a:avLst>
              <a:gd name="adj" fmla="val 13333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640080" y="5989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いずれの場合も、次ページの「確認と対処の流れ」に沿って1つずつ切り分けていく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静脈圧上限アラーム — 確認と対処の流れ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上から順に1つずつ確認し、該当したらその対処を行う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49840" y="256032"/>
            <a:ext cx="1600200" cy="402336"/>
          </a:xfrm>
          <a:prstGeom prst="roundRect">
            <a:avLst>
              <a:gd name="adj" fmla="val 18182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10149840" y="25603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圧力系アラーム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950976"/>
          </a:xfrm>
          <a:prstGeom prst="roundRect">
            <a:avLst>
              <a:gd name="adj" fmla="val 9615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621792" y="1380744"/>
            <a:ext cx="475488" cy="475488"/>
          </a:xfrm>
          <a:prstGeom prst="ellipse">
            <a:avLst/>
          </a:prstGeom>
          <a:solidFill>
            <a:srgbClr val="0F6E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621792" y="1380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3990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回路の屈曲・腕の角度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330952" y="1618488"/>
            <a:ext cx="502920" cy="0"/>
          </a:xfrm>
          <a:prstGeom prst="line">
            <a:avLst/>
          </a:prstGeom>
          <a:noFill/>
          <a:ln w="31750">
            <a:solidFill>
              <a:srgbClr val="0F6E6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5943600" y="1216152"/>
            <a:ext cx="57881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F6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 txBox="1"/>
          <p:nvPr/>
        </p:nvSpPr>
        <p:spPr>
          <a:xfrm>
            <a:off x="6108192" y="1216152"/>
            <a:ext cx="5458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屈曲を解除する。腕を伸ばす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185416"/>
            <a:ext cx="11274552" cy="950976"/>
          </a:xfrm>
          <a:prstGeom prst="roundRect">
            <a:avLst>
              <a:gd name="adj" fmla="val 9615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621792" y="2423160"/>
            <a:ext cx="475488" cy="475488"/>
          </a:xfrm>
          <a:prstGeom prst="ellipse">
            <a:avLst/>
          </a:prstGeom>
          <a:solidFill>
            <a:srgbClr val="0F6E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 txBox="1"/>
          <p:nvPr/>
        </p:nvSpPr>
        <p:spPr>
          <a:xfrm>
            <a:off x="621792" y="2423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229514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Vチャンバの凝血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64261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穿刺トラブルが原因の8割ともいわれる。他に脱血不良(陰圧で気泡発生→凝固促進)・炎症反応(CRP)・過濃縮も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30952" y="2660904"/>
            <a:ext cx="502920" cy="0"/>
          </a:xfrm>
          <a:prstGeom prst="line">
            <a:avLst/>
          </a:prstGeom>
          <a:noFill/>
          <a:ln w="31750">
            <a:solidFill>
              <a:srgbClr val="0F6E6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5943600" y="2258568"/>
            <a:ext cx="57881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F6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6108192" y="2258568"/>
            <a:ext cx="5458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軽度なら生食洗浄で経過観察。完全凝固し継続困難なら、手順に従いV側回路のみ交換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227832"/>
            <a:ext cx="11274552" cy="950976"/>
          </a:xfrm>
          <a:prstGeom prst="roundRect">
            <a:avLst>
              <a:gd name="adj" fmla="val 9615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21792" y="3465576"/>
            <a:ext cx="475488" cy="475488"/>
          </a:xfrm>
          <a:prstGeom prst="ellipse">
            <a:avLst/>
          </a:prstGeom>
          <a:solidFill>
            <a:srgbClr val="0F6E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 txBox="1"/>
          <p:nvPr/>
        </p:nvSpPr>
        <p:spPr>
          <a:xfrm>
            <a:off x="621792" y="3465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48386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針先の凝血・血管壁への接触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330952" y="3703320"/>
            <a:ext cx="502920" cy="0"/>
          </a:xfrm>
          <a:prstGeom prst="line">
            <a:avLst/>
          </a:prstGeom>
          <a:noFill/>
          <a:ln w="31750">
            <a:solidFill>
              <a:srgbClr val="0F6E6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5943600" y="3300984"/>
            <a:ext cx="57881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F6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 txBox="1"/>
          <p:nvPr/>
        </p:nvSpPr>
        <p:spPr>
          <a:xfrm>
            <a:off x="6108192" y="3300984"/>
            <a:ext cx="5458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針先を生食洗浄。向きを調整。改善なければ再穿刺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270248"/>
            <a:ext cx="11274552" cy="950976"/>
          </a:xfrm>
          <a:prstGeom prst="roundRect">
            <a:avLst>
              <a:gd name="adj" fmla="val 9615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621792" y="4507992"/>
            <a:ext cx="475488" cy="475488"/>
          </a:xfrm>
          <a:prstGeom prst="ellipse">
            <a:avLst/>
          </a:prstGeom>
          <a:solidFill>
            <a:srgbClr val="0F6E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 txBox="1"/>
          <p:nvPr/>
        </p:nvSpPr>
        <p:spPr>
          <a:xfrm>
            <a:off x="621792" y="4507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280160" y="45262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穿刺部より中枢側の狭窄</a:t>
            </a:r>
            <a:endParaRPr lang="en-US" sz="1450" dirty="0"/>
          </a:p>
        </p:txBody>
      </p:sp>
      <p:sp>
        <p:nvSpPr>
          <p:cNvPr id="32" name="Shape 30"/>
          <p:cNvSpPr/>
          <p:nvPr/>
        </p:nvSpPr>
        <p:spPr>
          <a:xfrm>
            <a:off x="5330952" y="4745736"/>
            <a:ext cx="502920" cy="0"/>
          </a:xfrm>
          <a:prstGeom prst="line">
            <a:avLst/>
          </a:prstGeom>
          <a:noFill/>
          <a:ln w="31750">
            <a:solidFill>
              <a:srgbClr val="0F6E6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5943600" y="4343400"/>
            <a:ext cx="57881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F6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 txBox="1"/>
          <p:nvPr/>
        </p:nvSpPr>
        <p:spPr>
          <a:xfrm>
            <a:off x="6108192" y="4343400"/>
            <a:ext cx="5458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穿刺部の変更を検討。エコー評価のうえ、必要であればPTAを検討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" y="5312664"/>
            <a:ext cx="11274552" cy="950976"/>
          </a:xfrm>
          <a:prstGeom prst="roundRect">
            <a:avLst>
              <a:gd name="adj" fmla="val 9615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6" name="Shape 34"/>
          <p:cNvSpPr/>
          <p:nvPr/>
        </p:nvSpPr>
        <p:spPr>
          <a:xfrm>
            <a:off x="621792" y="5550408"/>
            <a:ext cx="475488" cy="475488"/>
          </a:xfrm>
          <a:prstGeom prst="ellipse">
            <a:avLst/>
          </a:prstGeom>
          <a:solidFill>
            <a:srgbClr val="0F6E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7" name="Text 35"/>
          <p:cNvSpPr txBox="1"/>
          <p:nvPr/>
        </p:nvSpPr>
        <p:spPr>
          <a:xfrm>
            <a:off x="621792" y="5550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1280160" y="556869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再循環の可能性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5330952" y="5788152"/>
            <a:ext cx="502920" cy="0"/>
          </a:xfrm>
          <a:prstGeom prst="line">
            <a:avLst/>
          </a:prstGeom>
          <a:noFill/>
          <a:ln w="31750">
            <a:solidFill>
              <a:srgbClr val="0F6E6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Shape 38"/>
          <p:cNvSpPr/>
          <p:nvPr/>
        </p:nvSpPr>
        <p:spPr>
          <a:xfrm>
            <a:off x="5943600" y="5385816"/>
            <a:ext cx="578815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0F6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Text 39"/>
          <p:cNvSpPr txBox="1"/>
          <p:nvPr/>
        </p:nvSpPr>
        <p:spPr>
          <a:xfrm>
            <a:off x="6108192" y="5385816"/>
            <a:ext cx="54589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再循環を疑う所見があれば評価する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11AB56-49F6-376D-865C-A95026643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AFE294-DA2B-F681-6C6E-817E8CDB550D}"/>
              </a:ext>
            </a:extLst>
          </p:cNvPr>
          <p:cNvSpPr txBox="1"/>
          <p:nvPr/>
        </p:nvSpPr>
        <p:spPr>
          <a:xfrm>
            <a:off x="457200" y="2286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静脈圧</a:t>
            </a:r>
            <a:r>
              <a:rPr lang="ja-JP" alt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下限</a:t>
            </a:r>
            <a:r>
              <a:rPr lang="en-US" sz="3000" b="1" dirty="0" err="1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アラーム</a:t>
            </a:r>
            <a:endParaRPr lang="en-US" sz="3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9016B48-DA08-4585-DF72-75056304EF01}"/>
              </a:ext>
            </a:extLst>
          </p:cNvPr>
          <p:cNvSpPr txBox="1"/>
          <p:nvPr/>
        </p:nvSpPr>
        <p:spPr>
          <a:xfrm>
            <a:off x="457200" y="74980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回路接続部の外れや抜針など、出血につながる異常の可能性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D707B21-1EDB-E20E-C862-92C75243D658}"/>
              </a:ext>
            </a:extLst>
          </p:cNvPr>
          <p:cNvSpPr/>
          <p:nvPr/>
        </p:nvSpPr>
        <p:spPr>
          <a:xfrm>
            <a:off x="10149840" y="27432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46EBE15-CEFE-FA54-B0F2-04639989FED4}"/>
              </a:ext>
            </a:extLst>
          </p:cNvPr>
          <p:cNvSpPr txBox="1"/>
          <p:nvPr/>
        </p:nvSpPr>
        <p:spPr>
          <a:xfrm>
            <a:off x="10149840" y="2743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圧力系アラーム</a:t>
            </a:r>
            <a:endParaRPr lang="en-US" sz="1200" dirty="0"/>
          </a:p>
        </p:txBody>
      </p:sp>
      <p:pic>
        <p:nvPicPr>
          <p:cNvPr id="6" name="Image 0" descr="circuit_ref.png">
            <a:extLst>
              <a:ext uri="{FF2B5EF4-FFF2-40B4-BE49-F238E27FC236}">
                <a16:creationId xmlns:a16="http://schemas.microsoft.com/office/drawing/2014/main" id="{E227DB41-97D1-17A4-832B-8B0EB7A33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70432"/>
            <a:ext cx="7315200" cy="4876800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1B5267A5-F02E-FBDD-7CA4-54C324380479}"/>
              </a:ext>
            </a:extLst>
          </p:cNvPr>
          <p:cNvSpPr/>
          <p:nvPr/>
        </p:nvSpPr>
        <p:spPr>
          <a:xfrm>
            <a:off x="709467" y="2404251"/>
            <a:ext cx="1012653" cy="1204581"/>
          </a:xfrm>
          <a:prstGeom prst="roundRect">
            <a:avLst>
              <a:gd name="adj" fmla="val 12000"/>
            </a:avLst>
          </a:prstGeom>
          <a:solidFill>
            <a:srgbClr val="C0392B">
              <a:alpha val="8000"/>
            </a:srgbClr>
          </a:solidFill>
          <a:ln w="3175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1" descr="warning.png">
            <a:extLst>
              <a:ext uri="{FF2B5EF4-FFF2-40B4-BE49-F238E27FC236}">
                <a16:creationId xmlns:a16="http://schemas.microsoft.com/office/drawing/2014/main" id="{19C0EAEE-F8DE-3B47-7A1D-6CA6AE654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58" y="1544574"/>
            <a:ext cx="384048" cy="384048"/>
          </a:xfrm>
          <a:prstGeom prst="rect">
            <a:avLst/>
          </a:prstGeom>
        </p:spPr>
      </p:pic>
      <p:sp>
        <p:nvSpPr>
          <p:cNvPr id="10" name="Shape 6">
            <a:extLst>
              <a:ext uri="{FF2B5EF4-FFF2-40B4-BE49-F238E27FC236}">
                <a16:creationId xmlns:a16="http://schemas.microsoft.com/office/drawing/2014/main" id="{14D29583-212D-C937-B2E9-2CCD5DDE1E3C}"/>
              </a:ext>
            </a:extLst>
          </p:cNvPr>
          <p:cNvSpPr/>
          <p:nvPr/>
        </p:nvSpPr>
        <p:spPr>
          <a:xfrm>
            <a:off x="7818120" y="1170432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076C1F7-C48A-DD53-0D58-0201323F45C0}"/>
              </a:ext>
            </a:extLst>
          </p:cNvPr>
          <p:cNvSpPr/>
          <p:nvPr/>
        </p:nvSpPr>
        <p:spPr>
          <a:xfrm>
            <a:off x="8019288" y="13533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2" descr="warning.png">
            <a:extLst>
              <a:ext uri="{FF2B5EF4-FFF2-40B4-BE49-F238E27FC236}">
                <a16:creationId xmlns:a16="http://schemas.microsoft.com/office/drawing/2014/main" id="{A6BA7BAF-16CD-5FB7-0B8C-E119E1E0C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72184"/>
            <a:ext cx="329184" cy="329184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34910001-1D8C-D992-EDF7-BEA3142E1242}"/>
              </a:ext>
            </a:extLst>
          </p:cNvPr>
          <p:cNvSpPr txBox="1"/>
          <p:nvPr/>
        </p:nvSpPr>
        <p:spPr>
          <a:xfrm>
            <a:off x="8732520" y="131673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原因</a:t>
            </a:r>
            <a:endParaRPr lang="en-US" sz="16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79A19EB9-03BC-20BA-CF22-40672A175A3D}"/>
              </a:ext>
            </a:extLst>
          </p:cNvPr>
          <p:cNvSpPr txBox="1"/>
          <p:nvPr/>
        </p:nvSpPr>
        <p:spPr>
          <a:xfrm>
            <a:off x="8108397" y="1881632"/>
            <a:ext cx="3374136" cy="70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sz="1200" dirty="0" err="1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穿刺針の抜けかけ・回路接続部の外れ、血流量設定の低下</a:t>
            </a:r>
            <a:r>
              <a:rPr lang="ja-JP" alt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、脱血不良、</a:t>
            </a:r>
            <a:r>
              <a:rPr lang="en-US" altLang="ja-JP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ja-JP" alt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チャンバまでの回路で凝固が起きている</a:t>
            </a:r>
            <a:endParaRPr lang="ja-JP" altLang="ja-JP" sz="1200" kern="100" dirty="0">
              <a:effectLst/>
              <a:latin typeface="游明朝" panose="02020400000000000000" pitchFamily="18" charset="-128"/>
              <a:ea typeface="游明朝" panose="02020400000000000000" pitchFamily="18" charset="-128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EB0C77BE-BEB8-D657-CB92-51D493C006C5}"/>
              </a:ext>
            </a:extLst>
          </p:cNvPr>
          <p:cNvSpPr/>
          <p:nvPr/>
        </p:nvSpPr>
        <p:spPr>
          <a:xfrm>
            <a:off x="7818120" y="2788920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785FEA84-A58B-364F-FA94-BBDC91F2D459}"/>
              </a:ext>
            </a:extLst>
          </p:cNvPr>
          <p:cNvSpPr/>
          <p:nvPr/>
        </p:nvSpPr>
        <p:spPr>
          <a:xfrm>
            <a:off x="8019288" y="29718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3" descr="search.png">
            <a:extLst>
              <a:ext uri="{FF2B5EF4-FFF2-40B4-BE49-F238E27FC236}">
                <a16:creationId xmlns:a16="http://schemas.microsoft.com/office/drawing/2014/main" id="{85775F98-E2CB-00DA-466E-CE1C912148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3090672"/>
            <a:ext cx="329184" cy="329184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6B92BA82-349E-05FF-949B-F7893C309E08}"/>
              </a:ext>
            </a:extLst>
          </p:cNvPr>
          <p:cNvSpPr txBox="1"/>
          <p:nvPr/>
        </p:nvSpPr>
        <p:spPr>
          <a:xfrm>
            <a:off x="8732520" y="293522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確認</a:t>
            </a:r>
            <a:endParaRPr lang="en-US" sz="1600" dirty="0"/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A5518060-237C-A860-2524-D784AAD8AD8E}"/>
              </a:ext>
            </a:extLst>
          </p:cNvPr>
          <p:cNvSpPr txBox="1"/>
          <p:nvPr/>
        </p:nvSpPr>
        <p:spPr>
          <a:xfrm>
            <a:off x="8074152" y="3355848"/>
            <a:ext cx="3374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穿刺部・接続部からの出血の有無</a:t>
            </a: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</a:t>
            </a:r>
            <a:r>
              <a:rPr lang="ja-JP" alt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凝固の有無→</a:t>
            </a: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血流量設定</a:t>
            </a: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各接続部の緩み</a:t>
            </a:r>
            <a:endParaRPr lang="en-US" sz="12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E7A1D1F3-CAB0-7300-1D68-6F3AFE116B1C}"/>
              </a:ext>
            </a:extLst>
          </p:cNvPr>
          <p:cNvSpPr/>
          <p:nvPr/>
        </p:nvSpPr>
        <p:spPr>
          <a:xfrm>
            <a:off x="7818120" y="4424342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73BFBC7E-32A1-CA3D-B0E7-A13C66DD55B9}"/>
              </a:ext>
            </a:extLst>
          </p:cNvPr>
          <p:cNvSpPr/>
          <p:nvPr/>
        </p:nvSpPr>
        <p:spPr>
          <a:xfrm>
            <a:off x="8019288" y="45902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4" descr="hand.png">
            <a:extLst>
              <a:ext uri="{FF2B5EF4-FFF2-40B4-BE49-F238E27FC236}">
                <a16:creationId xmlns:a16="http://schemas.microsoft.com/office/drawing/2014/main" id="{D1BA8D1D-90FE-867F-2EFD-BE573D235E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4709160"/>
            <a:ext cx="329184" cy="329184"/>
          </a:xfrm>
          <a:prstGeom prst="rect">
            <a:avLst/>
          </a:prstGeom>
        </p:spPr>
      </p:pic>
      <p:sp>
        <p:nvSpPr>
          <p:cNvPr id="23" name="Text 16">
            <a:extLst>
              <a:ext uri="{FF2B5EF4-FFF2-40B4-BE49-F238E27FC236}">
                <a16:creationId xmlns:a16="http://schemas.microsoft.com/office/drawing/2014/main" id="{CECCFFC1-CD29-8A33-3991-D1228DD8C87F}"/>
              </a:ext>
            </a:extLst>
          </p:cNvPr>
          <p:cNvSpPr txBox="1"/>
          <p:nvPr/>
        </p:nvSpPr>
        <p:spPr>
          <a:xfrm>
            <a:off x="8732520" y="455371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対応</a:t>
            </a:r>
            <a:endParaRPr lang="en-US" sz="16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D110F4DA-B787-E7C0-11B1-8F84AEA22998}"/>
              </a:ext>
            </a:extLst>
          </p:cNvPr>
          <p:cNvSpPr txBox="1"/>
          <p:nvPr/>
        </p:nvSpPr>
        <p:spPr>
          <a:xfrm>
            <a:off x="8074152" y="4974336"/>
            <a:ext cx="3374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出血があれば直ちに圧迫止血・ポンプ停止。接続の緩みは増し締め。改善なければ医師へ報告</a:t>
            </a:r>
            <a:endParaRPr lang="en-US" sz="1200" dirty="0"/>
          </a:p>
        </p:txBody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621E0896-0BD9-CB32-BF4D-7F118C06E1AE}"/>
              </a:ext>
            </a:extLst>
          </p:cNvPr>
          <p:cNvSpPr/>
          <p:nvPr/>
        </p:nvSpPr>
        <p:spPr>
          <a:xfrm>
            <a:off x="1905001" y="1693629"/>
            <a:ext cx="4301066" cy="1788245"/>
          </a:xfrm>
          <a:prstGeom prst="roundRect">
            <a:avLst>
              <a:gd name="adj" fmla="val 12000"/>
            </a:avLst>
          </a:prstGeom>
          <a:solidFill>
            <a:srgbClr val="C0392B">
              <a:alpha val="8000"/>
            </a:srgbClr>
          </a:solidFill>
          <a:ln w="3175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05577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静脈圧下限アラーム — 確認と対処の流れ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949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上から順に1つずつ確認し、該当したらその対処を行う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0149840" y="256032"/>
            <a:ext cx="1600200" cy="402336"/>
          </a:xfrm>
          <a:prstGeom prst="roundRect">
            <a:avLst>
              <a:gd name="adj" fmla="val 18182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10149840" y="256032"/>
            <a:ext cx="1600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圧力系アラーム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274552" cy="1211580"/>
          </a:xfrm>
          <a:prstGeom prst="roundRect">
            <a:avLst>
              <a:gd name="adj" fmla="val 7547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621792" y="1511046"/>
            <a:ext cx="475488" cy="475488"/>
          </a:xfrm>
          <a:prstGeom prst="ellipse">
            <a:avLst/>
          </a:prstGeom>
          <a:solidFill>
            <a:srgbClr val="0F6E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621792" y="151104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12527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脱血不良(穿刺トラブル・抜針)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1600200"/>
            <a:ext cx="39776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★血圧が下がる→循環血流速が落ちる→脱血不良、という経路もあるため、バイタル・患者状態もあわせて確認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330952" y="1748790"/>
            <a:ext cx="502920" cy="0"/>
          </a:xfrm>
          <a:prstGeom prst="line">
            <a:avLst/>
          </a:prstGeom>
          <a:noFill/>
          <a:ln w="31750">
            <a:solidFill>
              <a:srgbClr val="0F6E6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5943600" y="1216152"/>
            <a:ext cx="5788152" cy="1065276"/>
          </a:xfrm>
          <a:prstGeom prst="roundRect">
            <a:avLst>
              <a:gd name="adj" fmla="val 6867"/>
            </a:avLst>
          </a:prstGeom>
          <a:solidFill>
            <a:srgbClr val="FFFFFF"/>
          </a:solidFill>
          <a:ln w="12700">
            <a:solidFill>
              <a:srgbClr val="0F6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 txBox="1"/>
          <p:nvPr/>
        </p:nvSpPr>
        <p:spPr>
          <a:xfrm>
            <a:off x="6108192" y="1216152"/>
            <a:ext cx="5458968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針先を修正。必要であれば再穿刺。血流量(Qb)を落とす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2446020"/>
            <a:ext cx="11274552" cy="1211580"/>
          </a:xfrm>
          <a:prstGeom prst="roundRect">
            <a:avLst>
              <a:gd name="adj" fmla="val 7547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21792" y="2814066"/>
            <a:ext cx="475488" cy="475488"/>
          </a:xfrm>
          <a:prstGeom prst="ellipse">
            <a:avLst/>
          </a:prstGeom>
          <a:solidFill>
            <a:srgbClr val="0F6E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621792" y="281406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283235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Vチャンバまでの回路の屈曲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330952" y="3051810"/>
            <a:ext cx="502920" cy="0"/>
          </a:xfrm>
          <a:prstGeom prst="line">
            <a:avLst/>
          </a:prstGeom>
          <a:noFill/>
          <a:ln w="31750">
            <a:solidFill>
              <a:srgbClr val="0F6E6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5943600" y="2519172"/>
            <a:ext cx="5788152" cy="1065276"/>
          </a:xfrm>
          <a:prstGeom prst="roundRect">
            <a:avLst>
              <a:gd name="adj" fmla="val 6867"/>
            </a:avLst>
          </a:prstGeom>
          <a:solidFill>
            <a:srgbClr val="FFFFFF"/>
          </a:solidFill>
          <a:ln w="12700">
            <a:solidFill>
              <a:srgbClr val="0F6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6108192" y="2519172"/>
            <a:ext cx="5458968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確認して屈曲を解除する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11274552" cy="1211580"/>
          </a:xfrm>
          <a:prstGeom prst="roundRect">
            <a:avLst>
              <a:gd name="adj" fmla="val 7547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21792" y="4117086"/>
            <a:ext cx="475488" cy="475488"/>
          </a:xfrm>
          <a:prstGeom prst="ellipse">
            <a:avLst/>
          </a:prstGeom>
          <a:solidFill>
            <a:srgbClr val="0F6E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 txBox="1"/>
          <p:nvPr/>
        </p:nvSpPr>
        <p:spPr>
          <a:xfrm>
            <a:off x="621792" y="411708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280160" y="385876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Vチャンバまでの凝固(ダイアライザ内含む)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4206240"/>
            <a:ext cx="397764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毎回決まったタイミングで補液することも凝血対策になる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330952" y="4354830"/>
            <a:ext cx="502920" cy="0"/>
          </a:xfrm>
          <a:prstGeom prst="line">
            <a:avLst/>
          </a:prstGeom>
          <a:noFill/>
          <a:ln w="31750">
            <a:solidFill>
              <a:srgbClr val="0F6E6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7" name="Shape 25"/>
          <p:cNvSpPr/>
          <p:nvPr/>
        </p:nvSpPr>
        <p:spPr>
          <a:xfrm>
            <a:off x="5943600" y="3822192"/>
            <a:ext cx="5788152" cy="1065276"/>
          </a:xfrm>
          <a:prstGeom prst="roundRect">
            <a:avLst>
              <a:gd name="adj" fmla="val 6867"/>
            </a:avLst>
          </a:prstGeom>
          <a:solidFill>
            <a:srgbClr val="FFFFFF"/>
          </a:solidFill>
          <a:ln w="12700">
            <a:solidFill>
              <a:srgbClr val="0F6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8" name="Text 26"/>
          <p:cNvSpPr txBox="1"/>
          <p:nvPr/>
        </p:nvSpPr>
        <p:spPr>
          <a:xfrm>
            <a:off x="6108192" y="3822192"/>
            <a:ext cx="5458968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膜素材が合わなければ変更。ヘパリン量が少なければ見直し(炎症反応があれば一時的に増量)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5052060"/>
            <a:ext cx="11274552" cy="1211580"/>
          </a:xfrm>
          <a:prstGeom prst="roundRect">
            <a:avLst>
              <a:gd name="adj" fmla="val 7547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621792" y="5420106"/>
            <a:ext cx="475488" cy="475488"/>
          </a:xfrm>
          <a:prstGeom prst="ellipse">
            <a:avLst/>
          </a:prstGeom>
          <a:solidFill>
            <a:srgbClr val="0F6E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 txBox="1"/>
          <p:nvPr/>
        </p:nvSpPr>
        <p:spPr>
          <a:xfrm>
            <a:off x="621792" y="542010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280160" y="543839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回路接続の緩み・クランプ忘れ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5330952" y="5657850"/>
            <a:ext cx="502920" cy="0"/>
          </a:xfrm>
          <a:prstGeom prst="line">
            <a:avLst/>
          </a:prstGeom>
          <a:noFill/>
          <a:ln w="31750">
            <a:solidFill>
              <a:srgbClr val="0F6E6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Shape 32"/>
          <p:cNvSpPr/>
          <p:nvPr/>
        </p:nvSpPr>
        <p:spPr>
          <a:xfrm>
            <a:off x="5943600" y="5125212"/>
            <a:ext cx="5788152" cy="1065276"/>
          </a:xfrm>
          <a:prstGeom prst="roundRect">
            <a:avLst>
              <a:gd name="adj" fmla="val 6867"/>
            </a:avLst>
          </a:prstGeom>
          <a:solidFill>
            <a:srgbClr val="FFFFFF"/>
          </a:solidFill>
          <a:ln w="12700">
            <a:solidFill>
              <a:srgbClr val="0F6E6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Text 33"/>
          <p:cNvSpPr txBox="1"/>
          <p:nvPr/>
        </p:nvSpPr>
        <p:spPr>
          <a:xfrm>
            <a:off x="6108192" y="5125212"/>
            <a:ext cx="5458968" cy="1065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接続とクランプを確認し是正。あわせて患者状態・バイタルを確認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透析液圧低下アラーム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149840" y="27432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10149840" y="2743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透析液系アラーム</a:t>
            </a:r>
            <a:endParaRPr lang="en-US" sz="1200" dirty="0"/>
          </a:p>
        </p:txBody>
      </p:sp>
      <p:pic>
        <p:nvPicPr>
          <p:cNvPr id="6" name="Image 0" descr="circuit_r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70432"/>
            <a:ext cx="7315200" cy="4876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92165" y="2408682"/>
            <a:ext cx="1666875" cy="1666875"/>
          </a:xfrm>
          <a:prstGeom prst="roundRect">
            <a:avLst>
              <a:gd name="adj" fmla="val 5486"/>
            </a:avLst>
          </a:prstGeom>
          <a:solidFill>
            <a:srgbClr val="C0392B">
              <a:alpha val="8000"/>
            </a:srgbClr>
          </a:solidFill>
          <a:ln w="3175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1" descr="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578" y="1951482"/>
            <a:ext cx="384048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818120" y="1170432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6"/>
          <p:cNvSpPr/>
          <p:nvPr/>
        </p:nvSpPr>
        <p:spPr>
          <a:xfrm>
            <a:off x="8019288" y="13533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2" descr="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72184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32520" y="131673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原因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074152" y="1737360"/>
            <a:ext cx="3374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脱血不良、</a:t>
            </a:r>
            <a:r>
              <a:rPr lang="en-US" sz="1200" dirty="0" err="1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透析液回路のリーク、供給ポンプ故障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818120" y="2788920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0"/>
          <p:cNvSpPr/>
          <p:nvPr/>
        </p:nvSpPr>
        <p:spPr>
          <a:xfrm>
            <a:off x="8019288" y="29718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309067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732520" y="293522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確認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074152" y="3355848"/>
            <a:ext cx="3374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針先の確認→</a:t>
            </a:r>
            <a:r>
              <a:rPr lang="en-US" sz="1200" dirty="0" err="1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透析液ラインの接続・リーク</a:t>
            </a: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装置の自己診断表示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818120" y="4407408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4"/>
          <p:cNvSpPr/>
          <p:nvPr/>
        </p:nvSpPr>
        <p:spPr>
          <a:xfrm>
            <a:off x="8019288" y="45902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4" descr="ha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470916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732520" y="455371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対応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659368" y="4974336"/>
            <a:ext cx="278892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針先の修正。必要であれば再穿刺。</a:t>
            </a:r>
            <a:endParaRPr lang="en-US" altLang="ja-JP" sz="1200" dirty="0">
              <a:solidFill>
                <a:srgbClr val="1E2A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ja-JP" alt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補液速度を落とす</a:t>
            </a:r>
            <a:endParaRPr lang="en-US" altLang="ja-JP" sz="1200" dirty="0">
              <a:solidFill>
                <a:srgbClr val="1E2A3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dirty="0" err="1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機器点検・報告</a:t>
            </a:r>
            <a:endParaRPr lang="en-US" sz="1200" dirty="0"/>
          </a:p>
        </p:txBody>
      </p:sp>
      <p:sp>
        <p:nvSpPr>
          <p:cNvPr id="28" name="Shape 4">
            <a:extLst>
              <a:ext uri="{FF2B5EF4-FFF2-40B4-BE49-F238E27FC236}">
                <a16:creationId xmlns:a16="http://schemas.microsoft.com/office/drawing/2014/main" id="{642096A9-87A9-E1E8-53AE-D0E9B52C7E19}"/>
              </a:ext>
            </a:extLst>
          </p:cNvPr>
          <p:cNvSpPr/>
          <p:nvPr/>
        </p:nvSpPr>
        <p:spPr>
          <a:xfrm>
            <a:off x="1180618" y="1737360"/>
            <a:ext cx="4711547" cy="1920240"/>
          </a:xfrm>
          <a:prstGeom prst="roundRect">
            <a:avLst>
              <a:gd name="adj" fmla="val 5486"/>
            </a:avLst>
          </a:prstGeom>
          <a:solidFill>
            <a:srgbClr val="C0392B">
              <a:alpha val="8000"/>
            </a:srgbClr>
          </a:solidFill>
          <a:ln w="3175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気泡検知器作動アラーム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回路内に気泡が混入している可能性 — ただちにポンプ停止を確認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149840" y="27432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10149840" y="2743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安全装置系アラーム</a:t>
            </a:r>
            <a:endParaRPr lang="en-US" sz="1200" dirty="0"/>
          </a:p>
        </p:txBody>
      </p:sp>
      <p:pic>
        <p:nvPicPr>
          <p:cNvPr id="6" name="Image 0" descr="circuit_r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70432"/>
            <a:ext cx="7315200" cy="4876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415540" y="4432745"/>
            <a:ext cx="904875" cy="928688"/>
          </a:xfrm>
          <a:prstGeom prst="roundRect">
            <a:avLst>
              <a:gd name="adj" fmla="val 10105"/>
            </a:avLst>
          </a:prstGeom>
          <a:solidFill>
            <a:srgbClr val="C0392B">
              <a:alpha val="8000"/>
            </a:srgbClr>
          </a:solidFill>
          <a:ln w="3175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1" descr="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5954" y="3975545"/>
            <a:ext cx="384048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818120" y="1170432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6"/>
          <p:cNvSpPr/>
          <p:nvPr/>
        </p:nvSpPr>
        <p:spPr>
          <a:xfrm>
            <a:off x="8019288" y="13533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2" descr="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72184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32520" y="131673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原因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074152" y="1737360"/>
            <a:ext cx="3374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回路接続部の緩み、脱血不良による微小気泡、補液ボトルの空打ち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818120" y="2788920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0"/>
          <p:cNvSpPr/>
          <p:nvPr/>
        </p:nvSpPr>
        <p:spPr>
          <a:xfrm>
            <a:off x="8019288" y="29718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309067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732520" y="293522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確認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074152" y="3355848"/>
            <a:ext cx="3374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ポンプ自動停止 → 気泡の位置・量 → 接続部の緩み → 患者の自覚症状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818120" y="4407408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4"/>
          <p:cNvSpPr/>
          <p:nvPr/>
        </p:nvSpPr>
        <p:spPr>
          <a:xfrm>
            <a:off x="8019288" y="45902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4" descr="ha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470916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732520" y="455371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対応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074152" y="4974336"/>
            <a:ext cx="3374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気泡を安全に除去後に再開。改善なければ医師へ報告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TMP(膜間圧力差)異常上昇アラーム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ダイアライザ内で血液側・透析液側の圧較差が広がっている可能性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0149840" y="27432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10149840" y="2743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圧力系アラーム</a:t>
            </a:r>
            <a:endParaRPr lang="en-US" sz="1200" dirty="0"/>
          </a:p>
        </p:txBody>
      </p:sp>
      <p:pic>
        <p:nvPicPr>
          <p:cNvPr id="6" name="Image 0" descr="circuit_r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70432"/>
            <a:ext cx="7315200" cy="4876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20665" y="2384870"/>
            <a:ext cx="1428750" cy="1571625"/>
          </a:xfrm>
          <a:prstGeom prst="roundRect">
            <a:avLst>
              <a:gd name="adj" fmla="val 6400"/>
            </a:avLst>
          </a:prstGeom>
          <a:solidFill>
            <a:srgbClr val="C0392B">
              <a:alpha val="8000"/>
            </a:srgbClr>
          </a:solidFill>
          <a:ln w="3175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1" descr="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1927670"/>
            <a:ext cx="384048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818120" y="1170432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6"/>
          <p:cNvSpPr/>
          <p:nvPr/>
        </p:nvSpPr>
        <p:spPr>
          <a:xfrm>
            <a:off x="8019288" y="13533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2" descr="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72184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32520" y="131673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原因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074152" y="1737360"/>
            <a:ext cx="3374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ダイアライザ内凝血・除水量設定過多・フィルター目詰まり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818120" y="2788920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0"/>
          <p:cNvSpPr/>
          <p:nvPr/>
        </p:nvSpPr>
        <p:spPr>
          <a:xfrm>
            <a:off x="8019288" y="29718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309067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732520" y="293522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確認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074152" y="3355848"/>
            <a:ext cx="3374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回路内の血液の色調・凝血塊 → 抗凝固剤(ヘパリン)投与量 → 除水設定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818120" y="4407408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4"/>
          <p:cNvSpPr/>
          <p:nvPr/>
        </p:nvSpPr>
        <p:spPr>
          <a:xfrm>
            <a:off x="8019288" y="45902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4" descr="ha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470916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732520" y="455371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対応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074152" y="4974336"/>
            <a:ext cx="3374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抗凝固剤の見直し。改善なければダイアライザ交換・報告</a:t>
            </a:r>
            <a:endParaRPr lang="en-US" sz="120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B3FE3B1C-80D2-1299-FFE2-974100DF136D}"/>
              </a:ext>
            </a:extLst>
          </p:cNvPr>
          <p:cNvSpPr txBox="1"/>
          <p:nvPr/>
        </p:nvSpPr>
        <p:spPr>
          <a:xfrm>
            <a:off x="6035040" y="362035"/>
            <a:ext cx="253254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ja-JP" altLang="en-US" sz="1350" b="1" i="1" dirty="0">
                <a:solidFill>
                  <a:srgbClr val="C0392B"/>
                </a:solidFill>
                <a:latin typeface="Calibri" pitchFamily="34" charset="0"/>
                <a:cs typeface="Calibri" pitchFamily="34" charset="-120"/>
              </a:rPr>
              <a:t>透析液圧上限アラームも起こる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血液漏れ検知器作動アラーム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ダイアライザの膜破損が疑われる — 排液の性状を確認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149840" y="27432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10149840" y="2743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安全装置系アラーム</a:t>
            </a:r>
            <a:endParaRPr lang="en-US" sz="1200" dirty="0"/>
          </a:p>
        </p:txBody>
      </p:sp>
      <p:pic>
        <p:nvPicPr>
          <p:cNvPr id="6" name="Image 0" descr="circuit_r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70432"/>
            <a:ext cx="7315200" cy="4876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44540" y="2456307"/>
            <a:ext cx="1762125" cy="714375"/>
          </a:xfrm>
          <a:prstGeom prst="roundRect">
            <a:avLst>
              <a:gd name="adj" fmla="val 12800"/>
            </a:avLst>
          </a:prstGeom>
          <a:solidFill>
            <a:srgbClr val="C0392B">
              <a:alpha val="8000"/>
            </a:srgbClr>
          </a:solidFill>
          <a:ln w="3175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1" descr="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578" y="1999107"/>
            <a:ext cx="384048" cy="3840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818120" y="1170432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6"/>
          <p:cNvSpPr/>
          <p:nvPr/>
        </p:nvSpPr>
        <p:spPr>
          <a:xfrm>
            <a:off x="8019288" y="13533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2" descr="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472184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732520" y="131673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原因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8074152" y="1737360"/>
            <a:ext cx="3374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ダイアライザ内部の膜破損、気泡による誤検知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818120" y="2788920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0"/>
          <p:cNvSpPr/>
          <p:nvPr/>
        </p:nvSpPr>
        <p:spPr>
          <a:xfrm>
            <a:off x="8019288" y="29718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3" descr="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309067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732520" y="293522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確認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074152" y="3355848"/>
            <a:ext cx="3374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排液の目視で血性の有無 → 継続の有無 → ダイアライザ使用時間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818120" y="4407408"/>
            <a:ext cx="3886200" cy="1417320"/>
          </a:xfrm>
          <a:prstGeom prst="roundRect">
            <a:avLst>
              <a:gd name="adj" fmla="val 7742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4"/>
          <p:cNvSpPr/>
          <p:nvPr/>
        </p:nvSpPr>
        <p:spPr>
          <a:xfrm>
            <a:off x="8019288" y="459028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4" descr="ha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470916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732520" y="455371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対応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8074152" y="4974336"/>
            <a:ext cx="33741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陽性ならダイアライザ交換。回路内血液は返血せず廃棄を検討(医師判断)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緊急度別の初動フローチャート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アラームが鳴ったら、まず「命に関わるか」で初動を分ける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498848" y="1234440"/>
            <a:ext cx="3200400" cy="502920"/>
          </a:xfrm>
          <a:prstGeom prst="roundRect">
            <a:avLst>
              <a:gd name="adj" fmla="val 50909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4498848" y="1234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アラームが鳴った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9048" y="1737360"/>
            <a:ext cx="0" cy="228600"/>
          </a:xfrm>
          <a:prstGeom prst="line">
            <a:avLst/>
          </a:prstGeom>
          <a:noFill/>
          <a:ln w="31750">
            <a:solidFill>
              <a:srgbClr val="1E2A38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041648" y="1965960"/>
            <a:ext cx="4114800" cy="1143000"/>
          </a:xfrm>
          <a:prstGeom prst="diamond">
            <a:avLst/>
          </a:prstGeom>
          <a:solidFill>
            <a:srgbClr val="E8F3F2"/>
          </a:solidFill>
          <a:ln w="25400">
            <a:solidFill>
              <a:srgbClr val="1E2A38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4315968" y="1965960"/>
            <a:ext cx="3566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生命に関わる兆候があるか?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(出血・意識レベル低下・重度血圧低下 など)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flipH="1">
            <a:off x="3154680" y="2651760"/>
            <a:ext cx="0" cy="594360"/>
          </a:xfrm>
          <a:prstGeom prst="line">
            <a:avLst/>
          </a:prstGeom>
          <a:noFill/>
          <a:ln w="38100">
            <a:solidFill>
              <a:srgbClr val="C0392B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8156448" y="2651760"/>
            <a:ext cx="896112" cy="594360"/>
          </a:xfrm>
          <a:prstGeom prst="line">
            <a:avLst/>
          </a:prstGeom>
          <a:noFill/>
          <a:ln w="38100">
            <a:solidFill>
              <a:srgbClr val="0F6E6A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3063240" y="28346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はい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691372" y="27564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いいえ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5257800" cy="2606040"/>
          </a:xfrm>
          <a:prstGeom prst="roundRect">
            <a:avLst>
              <a:gd name="adj" fmla="val 4211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5257800" cy="457200"/>
          </a:xfrm>
          <a:prstGeom prst="roundRect">
            <a:avLst>
              <a:gd name="adj" fmla="val 24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666744"/>
            <a:ext cx="5257800" cy="12801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 txBox="1"/>
          <p:nvPr/>
        </p:nvSpPr>
        <p:spPr>
          <a:xfrm>
            <a:off x="640080" y="33375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緊急対応(ただちに)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8862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例:出血・抜針・意識レベル低下・重度血圧低下 など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20624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✦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ただちに血液ポンプを停止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✦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圧迫止血・体位保持など応急処置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✦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医師・当直CEへ緊急連絡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✦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バイタルサインを測定・記録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73952" y="3337560"/>
            <a:ext cx="5257800" cy="2606040"/>
          </a:xfrm>
          <a:prstGeom prst="roundRect">
            <a:avLst>
              <a:gd name="adj" fmla="val 4211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6473952" y="3337560"/>
            <a:ext cx="5257800" cy="457200"/>
          </a:xfrm>
          <a:prstGeom prst="roundRect">
            <a:avLst>
              <a:gd name="adj" fmla="val 24000"/>
            </a:avLst>
          </a:prstGeom>
          <a:solidFill>
            <a:srgbClr val="0F6E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6473952" y="3666744"/>
            <a:ext cx="5257800" cy="128016"/>
          </a:xfrm>
          <a:prstGeom prst="rect">
            <a:avLst/>
          </a:prstGeom>
          <a:solidFill>
            <a:srgbClr val="0F6E6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 txBox="1"/>
          <p:nvPr/>
        </p:nvSpPr>
        <p:spPr>
          <a:xfrm>
            <a:off x="6656832" y="33375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通常対応(まず確認 → 是正)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656832" y="38862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例:圧力系・透析液系アラームの多くはここから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702552" y="420624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✦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表示内容と回路を確認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✦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該当箇所を是正(屈曲直し・接続確認 等)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✦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是正後にポンプを再開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✦"/>
            </a:pPr>
            <a:r>
              <a:rPr lang="en-US" sz="12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改善しなければ医師/CEへ報告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6263640"/>
            <a:ext cx="11274552" cy="457200"/>
          </a:xfrm>
          <a:prstGeom prst="roundRect">
            <a:avLst>
              <a:gd name="adj" fmla="val 16000"/>
            </a:avLst>
          </a:prstGeom>
          <a:solidFill>
            <a:srgbClr val="1E2A38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 txBox="1"/>
          <p:nvPr/>
        </p:nvSpPr>
        <p:spPr>
          <a:xfrm>
            <a:off x="640080" y="6263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同じアラームでも状況により緊急度は変わ</a:t>
            </a:r>
            <a:r>
              <a:rPr lang="ja-JP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る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判断に迷ったら、常に「緊急対応」を優先</a:t>
            </a:r>
            <a:r>
              <a:rPr lang="ja-JP" alt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！！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よくある誤対応・ヒヤリハット事例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「よくあること」という思い込みが、対応の遅れにつながる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149840" y="27432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FBF2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10149840" y="2743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ヒヤリハット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500116" cy="2318004"/>
          </a:xfrm>
          <a:prstGeom prst="roundRect">
            <a:avLst>
              <a:gd name="adj" fmla="val 4734"/>
            </a:avLst>
          </a:prstGeom>
          <a:solidFill>
            <a:srgbClr val="FBF2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Shape 5"/>
          <p:cNvSpPr/>
          <p:nvPr/>
        </p:nvSpPr>
        <p:spPr>
          <a:xfrm>
            <a:off x="457200" y="1298448"/>
            <a:ext cx="82296" cy="2281428"/>
          </a:xfrm>
          <a:prstGeom prst="roundRect">
            <a:avLst/>
          </a:prstGeom>
          <a:solidFill>
            <a:srgbClr val="B9770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1426464"/>
            <a:ext cx="4997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事例1　抜針アラームへの対応遅れ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1810512"/>
            <a:ext cx="49971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アラーム音を「体動による誤作動だろう」と判断し、目視確認を数分後回しにした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2820924"/>
            <a:ext cx="4951476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770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 txBox="1"/>
          <p:nvPr/>
        </p:nvSpPr>
        <p:spPr>
          <a:xfrm>
            <a:off x="841248" y="2820924"/>
            <a:ext cx="47320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教訓　</a:t>
            </a: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出血の可能性がある限り、確認より先に「止める・見る」を最優先する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31636" y="1280160"/>
            <a:ext cx="5500116" cy="2318004"/>
          </a:xfrm>
          <a:prstGeom prst="roundRect">
            <a:avLst>
              <a:gd name="adj" fmla="val 4734"/>
            </a:avLst>
          </a:prstGeom>
          <a:solidFill>
            <a:srgbClr val="FBF2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6231636" y="1298448"/>
            <a:ext cx="82296" cy="2281428"/>
          </a:xfrm>
          <a:prstGeom prst="roundRect">
            <a:avLst/>
          </a:prstGeom>
          <a:solidFill>
            <a:srgbClr val="B9770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 txBox="1"/>
          <p:nvPr/>
        </p:nvSpPr>
        <p:spPr>
          <a:xfrm>
            <a:off x="6505956" y="1426464"/>
            <a:ext cx="4997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事例2　頻回の静脈圧上昇を軽視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05956" y="1810512"/>
            <a:ext cx="49971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同じ患者で毎回鳴るからと原因を確認せず、そのつどリセットを繰り返していた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05956" y="2820924"/>
            <a:ext cx="4951476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770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 txBox="1"/>
          <p:nvPr/>
        </p:nvSpPr>
        <p:spPr>
          <a:xfrm>
            <a:off x="6615684" y="2820924"/>
            <a:ext cx="47320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教訓　</a:t>
            </a: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頻回に鳴るアラームこそ、穿刺針の位置など根本原因を都度見直す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54196"/>
            <a:ext cx="5500116" cy="2318004"/>
          </a:xfrm>
          <a:prstGeom prst="roundRect">
            <a:avLst>
              <a:gd name="adj" fmla="val 4734"/>
            </a:avLst>
          </a:prstGeom>
          <a:solidFill>
            <a:srgbClr val="FBF2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3872484"/>
            <a:ext cx="82296" cy="2281428"/>
          </a:xfrm>
          <a:prstGeom prst="roundRect">
            <a:avLst/>
          </a:prstGeom>
          <a:solidFill>
            <a:srgbClr val="B9770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 txBox="1"/>
          <p:nvPr/>
        </p:nvSpPr>
        <p:spPr>
          <a:xfrm>
            <a:off x="731520" y="4000500"/>
            <a:ext cx="4997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事例3　エア検知後、クランプ確認を省略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384548"/>
            <a:ext cx="49971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ポンプの自動停止だけを確認し、クランプが閉じているかを見ずに気泡を除去しようとした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31520" y="5394960"/>
            <a:ext cx="4951476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770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 txBox="1"/>
          <p:nvPr/>
        </p:nvSpPr>
        <p:spPr>
          <a:xfrm>
            <a:off x="841248" y="5394960"/>
            <a:ext cx="47320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教訓　</a:t>
            </a: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エア検知時は「ポンプ停止」と「クランプ確認」を必ずセットで行う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31636" y="3854196"/>
            <a:ext cx="5500116" cy="2318004"/>
          </a:xfrm>
          <a:prstGeom prst="roundRect">
            <a:avLst>
              <a:gd name="adj" fmla="val 4734"/>
            </a:avLst>
          </a:prstGeom>
          <a:solidFill>
            <a:srgbClr val="FBF2E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6231636" y="3872484"/>
            <a:ext cx="82296" cy="2281428"/>
          </a:xfrm>
          <a:prstGeom prst="roundRect">
            <a:avLst/>
          </a:prstGeom>
          <a:solidFill>
            <a:srgbClr val="B9770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 txBox="1"/>
          <p:nvPr/>
        </p:nvSpPr>
        <p:spPr>
          <a:xfrm>
            <a:off x="6505956" y="4000500"/>
            <a:ext cx="49971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事例4　原因を確認せずにリセット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505956" y="4384548"/>
            <a:ext cx="49971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経験の浅さから、表示をリセットして再開することを優先し、原因を確認しなかった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05956" y="5394960"/>
            <a:ext cx="4951476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B9770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9" name="Text 27"/>
          <p:cNvSpPr txBox="1"/>
          <p:nvPr/>
        </p:nvSpPr>
        <p:spPr>
          <a:xfrm>
            <a:off x="6615684" y="5394960"/>
            <a:ext cx="47320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教訓　</a:t>
            </a: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リセットの前に「なぜ鳴ったか」を一呼吸おいて確認する習慣をつける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確認テスト:初動の振り返り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 err="1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各アラームで最初にすべきことを選んでください</a:t>
            </a:r>
            <a:r>
              <a:rPr lang="ja-JP" altLang="en-US" sz="1400" b="1" i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altLang="ja-JP" sz="1400" b="1" i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149840" y="27432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 txBox="1"/>
          <p:nvPr/>
        </p:nvSpPr>
        <p:spPr>
          <a:xfrm>
            <a:off x="10149840" y="2743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振り返り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8328" y="1243584"/>
            <a:ext cx="11274552" cy="969264"/>
          </a:xfrm>
          <a:prstGeom prst="roundRect">
            <a:avLst>
              <a:gd name="adj" fmla="val 7547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30759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Q1. 静脈圧上昇アラームが鳴った。最初に確認すべき順番は?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932688" y="16550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</a:t>
            </a:r>
            <a:r>
              <a:rPr lang="en-US" sz="1150" dirty="0" err="1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透析液の色を見る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4636008" y="16550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回路の屈曲 → 穿刺部 → クランプの順に確認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339328" y="16550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血流量をすぐ上げる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2258568"/>
            <a:ext cx="11274552" cy="969264"/>
          </a:xfrm>
          <a:prstGeom prst="roundRect">
            <a:avLst>
              <a:gd name="adj" fmla="val 7547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 txBox="1"/>
          <p:nvPr/>
        </p:nvSpPr>
        <p:spPr>
          <a:xfrm>
            <a:off x="640080" y="23317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Q2. 気泡検知器が作動した。まず何をする?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932688" y="2679192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原因を考える前にすぐリセットして再開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4636008" y="2679192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ポンプの自動停止とクランプの状態を確認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339328" y="2679192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様子を見てしばらく放置する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57200" y="3282696"/>
            <a:ext cx="11274552" cy="969264"/>
          </a:xfrm>
          <a:prstGeom prst="roundRect">
            <a:avLst>
              <a:gd name="adj" fmla="val 7547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5"/>
          <p:cNvSpPr txBox="1"/>
          <p:nvPr/>
        </p:nvSpPr>
        <p:spPr>
          <a:xfrm>
            <a:off x="640080" y="33558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Q3. 抜針検知アラームで出血を確認した。最優先の対応は?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932688" y="370332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アラーム発生時刻を記録する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4636008" y="370332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圧迫止血をただちに行う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8339328" y="370332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血流量を上げて様子を見る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457200" y="4306824"/>
            <a:ext cx="11274552" cy="969264"/>
          </a:xfrm>
          <a:prstGeom prst="roundRect">
            <a:avLst>
              <a:gd name="adj" fmla="val 7547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0"/>
          <p:cNvSpPr txBox="1"/>
          <p:nvPr/>
        </p:nvSpPr>
        <p:spPr>
          <a:xfrm>
            <a:off x="640080" y="4412149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Q4. TMPが異常に上昇している。まず疑うべき原因は?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932688" y="472744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ダイアライザ内の凝血</a:t>
            </a:r>
            <a:endParaRPr lang="en-US" sz="1150" dirty="0"/>
          </a:p>
        </p:txBody>
      </p:sp>
      <p:sp>
        <p:nvSpPr>
          <p:cNvPr id="28" name="Text 22"/>
          <p:cNvSpPr txBox="1"/>
          <p:nvPr/>
        </p:nvSpPr>
        <p:spPr>
          <a:xfrm>
            <a:off x="4636008" y="472744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穿刺針の抜けかけ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8339328" y="472744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室温の変化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457200" y="5330952"/>
            <a:ext cx="11274552" cy="969264"/>
          </a:xfrm>
          <a:prstGeom prst="roundRect">
            <a:avLst>
              <a:gd name="adj" fmla="val 7547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5"/>
          <p:cNvSpPr txBox="1"/>
          <p:nvPr/>
        </p:nvSpPr>
        <p:spPr>
          <a:xfrm>
            <a:off x="640080" y="540410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Q5. 動脈圧低下の初動確認で、優先度が低いものは?</a:t>
            </a:r>
            <a:endParaRPr lang="en-US" sz="1350" dirty="0"/>
          </a:p>
        </p:txBody>
      </p:sp>
      <p:sp>
        <p:nvSpPr>
          <p:cNvPr id="32" name="Text 26"/>
          <p:cNvSpPr txBox="1"/>
          <p:nvPr/>
        </p:nvSpPr>
        <p:spPr>
          <a:xfrm>
            <a:off x="932688" y="575157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穿刺針の角度・深さ</a:t>
            </a:r>
            <a:endParaRPr lang="en-US" sz="1150" dirty="0"/>
          </a:p>
        </p:txBody>
      </p:sp>
      <p:sp>
        <p:nvSpPr>
          <p:cNvPr id="33" name="Text 27"/>
          <p:cNvSpPr txBox="1"/>
          <p:nvPr/>
        </p:nvSpPr>
        <p:spPr>
          <a:xfrm>
            <a:off x="4636008" y="575157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シャント音・スリル</a:t>
            </a:r>
            <a:endParaRPr lang="en-US" sz="1150" dirty="0"/>
          </a:p>
        </p:txBody>
      </p:sp>
      <p:sp>
        <p:nvSpPr>
          <p:cNvPr id="35" name="Text 28"/>
          <p:cNvSpPr txBox="1"/>
          <p:nvPr/>
        </p:nvSpPr>
        <p:spPr>
          <a:xfrm>
            <a:off x="8339328" y="575157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透析液の色調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35BFB2-2F89-E1B4-B346-F1D579EAA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370AAD4-C420-38AA-FB42-B3D48CEDABFD}"/>
              </a:ext>
            </a:extLst>
          </p:cNvPr>
          <p:cNvSpPr txBox="1"/>
          <p:nvPr/>
        </p:nvSpPr>
        <p:spPr>
          <a:xfrm>
            <a:off x="457200" y="228600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確認テスト:初動の振り返り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6E6704-5A21-BA06-1D94-F478BE96E370}"/>
              </a:ext>
            </a:extLst>
          </p:cNvPr>
          <p:cNvSpPr txBox="1"/>
          <p:nvPr/>
        </p:nvSpPr>
        <p:spPr>
          <a:xfrm>
            <a:off x="457200" y="749808"/>
            <a:ext cx="8686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各アラームで最初にすべきことを選んでください(正解には✓)</a:t>
            </a:r>
            <a:endParaRPr lang="en-US" sz="1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8540E75-5057-E1FF-23DE-265A5FCF0B17}"/>
              </a:ext>
            </a:extLst>
          </p:cNvPr>
          <p:cNvSpPr/>
          <p:nvPr/>
        </p:nvSpPr>
        <p:spPr>
          <a:xfrm>
            <a:off x="10149840" y="274320"/>
            <a:ext cx="1600200" cy="420624"/>
          </a:xfrm>
          <a:prstGeom prst="roundRect">
            <a:avLst>
              <a:gd name="adj" fmla="val 17391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8048ED-2064-22EC-399F-5F9C65954CFC}"/>
              </a:ext>
            </a:extLst>
          </p:cNvPr>
          <p:cNvSpPr txBox="1"/>
          <p:nvPr/>
        </p:nvSpPr>
        <p:spPr>
          <a:xfrm>
            <a:off x="10149840" y="274320"/>
            <a:ext cx="1600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振り返り</a:t>
            </a:r>
            <a:endParaRPr lang="en-US" sz="1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A921796-0BC6-57D1-DBC6-1E81EB76EA4F}"/>
              </a:ext>
            </a:extLst>
          </p:cNvPr>
          <p:cNvSpPr/>
          <p:nvPr/>
        </p:nvSpPr>
        <p:spPr>
          <a:xfrm>
            <a:off x="457200" y="1234440"/>
            <a:ext cx="11274552" cy="969264"/>
          </a:xfrm>
          <a:prstGeom prst="roundRect">
            <a:avLst>
              <a:gd name="adj" fmla="val 7547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F073EBD-A64A-6721-E548-D6264A4AB56A}"/>
              </a:ext>
            </a:extLst>
          </p:cNvPr>
          <p:cNvSpPr txBox="1"/>
          <p:nvPr/>
        </p:nvSpPr>
        <p:spPr>
          <a:xfrm>
            <a:off x="640080" y="130759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Q1. 静脈圧上昇アラームが鳴った。最初に確認すべき順番は?</a:t>
            </a:r>
            <a:endParaRPr lang="en-US" sz="13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28A9E4F-738E-D408-3BF3-25CBFCB8E69D}"/>
              </a:ext>
            </a:extLst>
          </p:cNvPr>
          <p:cNvSpPr txBox="1"/>
          <p:nvPr/>
        </p:nvSpPr>
        <p:spPr>
          <a:xfrm>
            <a:off x="932688" y="16550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透析液の色を見る</a:t>
            </a:r>
            <a:endParaRPr lang="en-US" sz="1150" dirty="0"/>
          </a:p>
        </p:txBody>
      </p:sp>
      <p:pic>
        <p:nvPicPr>
          <p:cNvPr id="9" name="Image 0" descr="check.png">
            <a:extLst>
              <a:ext uri="{FF2B5EF4-FFF2-40B4-BE49-F238E27FC236}">
                <a16:creationId xmlns:a16="http://schemas.microsoft.com/office/drawing/2014/main" id="{B7AAE492-3E2F-F8C3-1DF7-54BB7B90E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91640"/>
            <a:ext cx="274320" cy="274320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1DF53FC1-AC78-6EC5-F6DF-97BA96866A48}"/>
              </a:ext>
            </a:extLst>
          </p:cNvPr>
          <p:cNvSpPr txBox="1"/>
          <p:nvPr/>
        </p:nvSpPr>
        <p:spPr>
          <a:xfrm>
            <a:off x="4636008" y="16550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回路の屈曲 → 穿刺部 → クランプの順に確認</a:t>
            </a:r>
            <a:endParaRPr lang="en-US" sz="11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11937FF-4925-7FCD-E5D8-AD9FBE05D81E}"/>
              </a:ext>
            </a:extLst>
          </p:cNvPr>
          <p:cNvSpPr txBox="1"/>
          <p:nvPr/>
        </p:nvSpPr>
        <p:spPr>
          <a:xfrm>
            <a:off x="8339328" y="1655064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血流量をすぐ上げる</a:t>
            </a:r>
            <a:endParaRPr lang="en-US" sz="115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82BF3814-926E-80CC-39A3-4F04CA50A108}"/>
              </a:ext>
            </a:extLst>
          </p:cNvPr>
          <p:cNvSpPr/>
          <p:nvPr/>
        </p:nvSpPr>
        <p:spPr>
          <a:xfrm>
            <a:off x="457200" y="2258568"/>
            <a:ext cx="11274552" cy="969264"/>
          </a:xfrm>
          <a:prstGeom prst="roundRect">
            <a:avLst>
              <a:gd name="adj" fmla="val 7547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AF0BA903-67C7-18A6-FCBE-0888DFA18AE1}"/>
              </a:ext>
            </a:extLst>
          </p:cNvPr>
          <p:cNvSpPr txBox="1"/>
          <p:nvPr/>
        </p:nvSpPr>
        <p:spPr>
          <a:xfrm>
            <a:off x="640080" y="2331720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Q2. 気泡検知器が作動した。まず何をする?</a:t>
            </a:r>
            <a:endParaRPr lang="en-US" sz="135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CDAB452-8BAA-70D7-6098-0862E3E4AC92}"/>
              </a:ext>
            </a:extLst>
          </p:cNvPr>
          <p:cNvSpPr txBox="1"/>
          <p:nvPr/>
        </p:nvSpPr>
        <p:spPr>
          <a:xfrm>
            <a:off x="932688" y="2679192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原因を考える前にすぐリセットして再開</a:t>
            </a:r>
            <a:endParaRPr lang="en-US" sz="1150" dirty="0"/>
          </a:p>
        </p:txBody>
      </p:sp>
      <p:pic>
        <p:nvPicPr>
          <p:cNvPr id="15" name="Image 1" descr="check.png">
            <a:extLst>
              <a:ext uri="{FF2B5EF4-FFF2-40B4-BE49-F238E27FC236}">
                <a16:creationId xmlns:a16="http://schemas.microsoft.com/office/drawing/2014/main" id="{1FEF0170-2090-CD55-23A6-7E430A7CC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715768"/>
            <a:ext cx="274320" cy="274320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24855DA4-8954-01A9-27E5-2EF6FDA2C1A2}"/>
              </a:ext>
            </a:extLst>
          </p:cNvPr>
          <p:cNvSpPr txBox="1"/>
          <p:nvPr/>
        </p:nvSpPr>
        <p:spPr>
          <a:xfrm>
            <a:off x="4636008" y="2679192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ポンプの自動停止とクランプの状態を確認</a:t>
            </a:r>
            <a:endParaRPr lang="en-US" sz="115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DC6AC761-28D6-51F8-F1E9-A73A7E0F3234}"/>
              </a:ext>
            </a:extLst>
          </p:cNvPr>
          <p:cNvSpPr txBox="1"/>
          <p:nvPr/>
        </p:nvSpPr>
        <p:spPr>
          <a:xfrm>
            <a:off x="8339328" y="2679192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様子を見てしばらく放置する</a:t>
            </a:r>
            <a:endParaRPr lang="en-US" sz="115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02AA7E54-454A-5C05-9202-210B27551616}"/>
              </a:ext>
            </a:extLst>
          </p:cNvPr>
          <p:cNvSpPr/>
          <p:nvPr/>
        </p:nvSpPr>
        <p:spPr>
          <a:xfrm>
            <a:off x="457200" y="3282696"/>
            <a:ext cx="11274552" cy="969264"/>
          </a:xfrm>
          <a:prstGeom prst="roundRect">
            <a:avLst>
              <a:gd name="adj" fmla="val 7547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65A6A728-97DA-91A9-62F8-60751A43E886}"/>
              </a:ext>
            </a:extLst>
          </p:cNvPr>
          <p:cNvSpPr txBox="1"/>
          <p:nvPr/>
        </p:nvSpPr>
        <p:spPr>
          <a:xfrm>
            <a:off x="640080" y="335584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Q3. 抜針検知アラームで出血を確認した。最優先の対応は?</a:t>
            </a:r>
            <a:endParaRPr lang="en-US" sz="135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2523FABD-43C7-80C3-525C-698BA9A81E4C}"/>
              </a:ext>
            </a:extLst>
          </p:cNvPr>
          <p:cNvSpPr txBox="1"/>
          <p:nvPr/>
        </p:nvSpPr>
        <p:spPr>
          <a:xfrm>
            <a:off x="932688" y="370332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アラーム発生時刻を記録する</a:t>
            </a:r>
            <a:endParaRPr lang="en-US" sz="1150" dirty="0"/>
          </a:p>
        </p:txBody>
      </p:sp>
      <p:pic>
        <p:nvPicPr>
          <p:cNvPr id="21" name="Image 2" descr="check.png">
            <a:extLst>
              <a:ext uri="{FF2B5EF4-FFF2-40B4-BE49-F238E27FC236}">
                <a16:creationId xmlns:a16="http://schemas.microsoft.com/office/drawing/2014/main" id="{960E7D69-733F-4692-F83E-B59C80B0D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3739896"/>
            <a:ext cx="274320" cy="274320"/>
          </a:xfrm>
          <a:prstGeom prst="rect">
            <a:avLst/>
          </a:prstGeom>
        </p:spPr>
      </p:pic>
      <p:sp>
        <p:nvSpPr>
          <p:cNvPr id="22" name="Text 17">
            <a:extLst>
              <a:ext uri="{FF2B5EF4-FFF2-40B4-BE49-F238E27FC236}">
                <a16:creationId xmlns:a16="http://schemas.microsoft.com/office/drawing/2014/main" id="{13784A52-2D0F-D708-499A-12CA6D76488E}"/>
              </a:ext>
            </a:extLst>
          </p:cNvPr>
          <p:cNvSpPr txBox="1"/>
          <p:nvPr/>
        </p:nvSpPr>
        <p:spPr>
          <a:xfrm>
            <a:off x="4636008" y="370332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圧迫止血をただちに行う</a:t>
            </a:r>
            <a:endParaRPr lang="en-US" sz="115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07AF7F1F-796E-7F02-7C9B-C05C6FC79FAF}"/>
              </a:ext>
            </a:extLst>
          </p:cNvPr>
          <p:cNvSpPr txBox="1"/>
          <p:nvPr/>
        </p:nvSpPr>
        <p:spPr>
          <a:xfrm>
            <a:off x="8339328" y="3703320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血流量を上げて様子を見る</a:t>
            </a:r>
            <a:endParaRPr lang="en-US" sz="1150" dirty="0"/>
          </a:p>
        </p:txBody>
      </p:sp>
      <p:sp>
        <p:nvSpPr>
          <p:cNvPr id="24" name="Shape 19">
            <a:extLst>
              <a:ext uri="{FF2B5EF4-FFF2-40B4-BE49-F238E27FC236}">
                <a16:creationId xmlns:a16="http://schemas.microsoft.com/office/drawing/2014/main" id="{26897CD5-601C-3565-11F2-98B1E21FE14A}"/>
              </a:ext>
            </a:extLst>
          </p:cNvPr>
          <p:cNvSpPr/>
          <p:nvPr/>
        </p:nvSpPr>
        <p:spPr>
          <a:xfrm>
            <a:off x="457200" y="4306824"/>
            <a:ext cx="11274552" cy="969264"/>
          </a:xfrm>
          <a:prstGeom prst="roundRect">
            <a:avLst>
              <a:gd name="adj" fmla="val 7547"/>
            </a:avLst>
          </a:prstGeom>
          <a:solidFill>
            <a:srgbClr val="F7FAF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FF5EF9BD-72A6-ED8A-68F4-37BCA1497109}"/>
              </a:ext>
            </a:extLst>
          </p:cNvPr>
          <p:cNvSpPr txBox="1"/>
          <p:nvPr/>
        </p:nvSpPr>
        <p:spPr>
          <a:xfrm>
            <a:off x="640080" y="437997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Q4. TMPが異常に上昇している。まず疑うべき原因は?</a:t>
            </a:r>
            <a:endParaRPr lang="en-US" sz="1350" dirty="0"/>
          </a:p>
        </p:txBody>
      </p:sp>
      <p:pic>
        <p:nvPicPr>
          <p:cNvPr id="26" name="Image 3" descr="check.png">
            <a:extLst>
              <a:ext uri="{FF2B5EF4-FFF2-40B4-BE49-F238E27FC236}">
                <a16:creationId xmlns:a16="http://schemas.microsoft.com/office/drawing/2014/main" id="{B60E243C-0F30-A8F9-D530-A245B3C05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764024"/>
            <a:ext cx="274320" cy="274320"/>
          </a:xfrm>
          <a:prstGeom prst="rect">
            <a:avLst/>
          </a:prstGeom>
        </p:spPr>
      </p:pic>
      <p:sp>
        <p:nvSpPr>
          <p:cNvPr id="27" name="Text 21">
            <a:extLst>
              <a:ext uri="{FF2B5EF4-FFF2-40B4-BE49-F238E27FC236}">
                <a16:creationId xmlns:a16="http://schemas.microsoft.com/office/drawing/2014/main" id="{86C4DC66-982D-89BE-DD8F-79432CA16D08}"/>
              </a:ext>
            </a:extLst>
          </p:cNvPr>
          <p:cNvSpPr txBox="1"/>
          <p:nvPr/>
        </p:nvSpPr>
        <p:spPr>
          <a:xfrm>
            <a:off x="932688" y="472744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ダイアライザ内の凝血</a:t>
            </a:r>
            <a:endParaRPr lang="en-US" sz="115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B0A59983-2579-A11D-2D4D-D9788D6CE42A}"/>
              </a:ext>
            </a:extLst>
          </p:cNvPr>
          <p:cNvSpPr txBox="1"/>
          <p:nvPr/>
        </p:nvSpPr>
        <p:spPr>
          <a:xfrm>
            <a:off x="4636008" y="472744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穿刺針の抜けかけ</a:t>
            </a:r>
            <a:endParaRPr lang="en-US" sz="115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AAB91CA6-EF2B-7B35-5C6D-1003308C0D98}"/>
              </a:ext>
            </a:extLst>
          </p:cNvPr>
          <p:cNvSpPr txBox="1"/>
          <p:nvPr/>
        </p:nvSpPr>
        <p:spPr>
          <a:xfrm>
            <a:off x="8339328" y="472744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室温の変化</a:t>
            </a:r>
            <a:endParaRPr lang="en-US" sz="1150" dirty="0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F8DBDE44-2A1A-5E9A-0864-FC8749796853}"/>
              </a:ext>
            </a:extLst>
          </p:cNvPr>
          <p:cNvSpPr/>
          <p:nvPr/>
        </p:nvSpPr>
        <p:spPr>
          <a:xfrm>
            <a:off x="457200" y="5330952"/>
            <a:ext cx="11274552" cy="969264"/>
          </a:xfrm>
          <a:prstGeom prst="roundRect">
            <a:avLst>
              <a:gd name="adj" fmla="val 7547"/>
            </a:avLst>
          </a:prstGeom>
          <a:solidFill>
            <a:srgbClr val="E8F3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F3398607-5FAA-9F4D-4058-AC8BA4B77A38}"/>
              </a:ext>
            </a:extLst>
          </p:cNvPr>
          <p:cNvSpPr txBox="1"/>
          <p:nvPr/>
        </p:nvSpPr>
        <p:spPr>
          <a:xfrm>
            <a:off x="640080" y="540410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Q5. 動脈圧低下の初動確認で、優先度が低いものは?</a:t>
            </a:r>
            <a:endParaRPr lang="en-US" sz="135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2A582C28-EA69-E5D0-ECD1-3DED4D328F2D}"/>
              </a:ext>
            </a:extLst>
          </p:cNvPr>
          <p:cNvSpPr txBox="1"/>
          <p:nvPr/>
        </p:nvSpPr>
        <p:spPr>
          <a:xfrm>
            <a:off x="932688" y="575157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穿刺針の角度・深さ</a:t>
            </a:r>
            <a:endParaRPr lang="en-US" sz="1150" dirty="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A31BA045-4897-057C-3C84-4A7F44663C2A}"/>
              </a:ext>
            </a:extLst>
          </p:cNvPr>
          <p:cNvSpPr txBox="1"/>
          <p:nvPr/>
        </p:nvSpPr>
        <p:spPr>
          <a:xfrm>
            <a:off x="4636008" y="575157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　シャント音・スリル</a:t>
            </a:r>
            <a:endParaRPr lang="en-US" sz="1150" dirty="0"/>
          </a:p>
        </p:txBody>
      </p:sp>
      <p:pic>
        <p:nvPicPr>
          <p:cNvPr id="34" name="Image 4" descr="check.png">
            <a:extLst>
              <a:ext uri="{FF2B5EF4-FFF2-40B4-BE49-F238E27FC236}">
                <a16:creationId xmlns:a16="http://schemas.microsoft.com/office/drawing/2014/main" id="{78FF9F84-4C79-ECB8-9490-1D0FBB3E1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5788152"/>
            <a:ext cx="274320" cy="274320"/>
          </a:xfrm>
          <a:prstGeom prst="rect">
            <a:avLst/>
          </a:prstGeom>
        </p:spPr>
      </p:pic>
      <p:sp>
        <p:nvSpPr>
          <p:cNvPr id="35" name="Text 28">
            <a:extLst>
              <a:ext uri="{FF2B5EF4-FFF2-40B4-BE49-F238E27FC236}">
                <a16:creationId xmlns:a16="http://schemas.microsoft.com/office/drawing/2014/main" id="{2B135A52-18B3-DC35-9CB4-034D436FC1B6}"/>
              </a:ext>
            </a:extLst>
          </p:cNvPr>
          <p:cNvSpPr txBox="1"/>
          <p:nvPr/>
        </p:nvSpPr>
        <p:spPr>
          <a:xfrm>
            <a:off x="8339328" y="5751576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透析液の色調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567138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759</Words>
  <Application>Microsoft Office PowerPoint</Application>
  <PresentationFormat>ワイド画面</PresentationFormat>
  <Paragraphs>236</Paragraphs>
  <Slides>16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1" baseType="lpstr">
      <vt:lpstr>游明朝</vt:lpstr>
      <vt:lpstr>Arial</vt:lpstr>
      <vt:lpstr>Calibri</vt:lpstr>
      <vt:lpstr>Cambria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裕貴 田代</cp:lastModifiedBy>
  <cp:revision>7</cp:revision>
  <dcterms:created xsi:type="dcterms:W3CDTF">2026-09-13T08:06:24Z</dcterms:created>
  <dcterms:modified xsi:type="dcterms:W3CDTF">2026-09-14T01:05:30Z</dcterms:modified>
</cp:coreProperties>
</file>